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8A5C"/>
                </a:solidFill>
                <a:latin typeface="Segoe UI Semibold" panose="020B0702040204020203"/>
              </a:rPr>
              <a:t>DADI INSTITUTE OF ENGINEERING AND TECHNOLOGY</a:t>
            </a:r>
            <a:endParaRPr sz="13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789920" cy="19050"/>
          </a:xfrm>
          <a:prstGeom prst="rect">
            <a:avLst/>
          </a:prstGeom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875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48074"/>
                </a:solidFill>
                <a:latin typeface="Segoe UI" panose="020B0502040204020203"/>
              </a:rPr>
              <a:t>MINI PROJECT  ·  CASE STUDY PRESENTATION</a:t>
            </a:r>
            <a:endParaRPr sz="1100" b="1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6400" b="1" i="0">
                <a:solidFill>
                  <a:srgbClr val="14181F"/>
                </a:solidFill>
                <a:latin typeface="Georgia" panose="02040502050405020303"/>
              </a:rPr>
              <a:t>SQL Query Linter</a:t>
            </a:r>
            <a:endParaRPr sz="6400" b="1" i="0">
              <a:solidFill>
                <a:srgbClr val="14181F"/>
              </a:solidFill>
              <a:latin typeface="Georgia" panose="02040502050405020303"/>
            </a:endParaRP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6400" b="1" i="0">
                <a:solidFill>
                  <a:srgbClr val="108A5C"/>
                </a:solidFill>
                <a:latin typeface="Georgia" panose="02040502050405020303"/>
              </a:rPr>
              <a:t>&amp; Style Fixer</a:t>
            </a:r>
            <a:endParaRPr sz="6400" b="1" i="0">
              <a:solidFill>
                <a:srgbClr val="108A5C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38862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1">
                <a:solidFill>
                  <a:srgbClr val="3A4049"/>
                </a:solidFill>
                <a:latin typeface="Georgia" panose="02040502050405020303"/>
              </a:rPr>
              <a:t>A Hybrid Local-AI Database Optimization Pipeline</a:t>
            </a:r>
            <a:endParaRPr sz="1900" b="0" i="1">
              <a:solidFill>
                <a:srgbClr val="3A4049"/>
              </a:solidFill>
              <a:latin typeface="Georgia" panose="020405020504050203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368" y="4800600"/>
            <a:ext cx="10881360" cy="254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956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08A5C"/>
                </a:solidFill>
                <a:latin typeface="Segoe UI Semibold" panose="020B0702040204020203"/>
              </a:rPr>
              <a:t>DEVELOPED BY  ·  TEAM 20</a:t>
            </a:r>
            <a:endParaRPr sz="1200" b="1" i="0">
              <a:solidFill>
                <a:srgbClr val="108A5C"/>
              </a:solidFill>
              <a:latin typeface="Segoe UI Semibold" panose="020B07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5349240"/>
            <a:ext cx="2532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81F"/>
                </a:solidFill>
                <a:latin typeface="Segoe UI Semibold" panose="020B0702040204020203"/>
              </a:rPr>
              <a:t>Penta Satwika</a:t>
            </a:r>
            <a:endParaRPr sz="14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5650992"/>
            <a:ext cx="2532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08A5C"/>
                </a:solidFill>
                <a:latin typeface="Consolas" panose="020B0609020204030204"/>
              </a:rPr>
              <a:t>23U41A4245</a:t>
            </a:r>
            <a:endParaRPr sz="1100" b="1" i="0">
              <a:solidFill>
                <a:srgbClr val="108A5C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5907024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48074"/>
                </a:solidFill>
                <a:latin typeface="Segoe UI" panose="020B0502040204020203"/>
              </a:rPr>
              <a:t>Streamlit UI &amp; Dashboard</a:t>
            </a:r>
            <a:endParaRPr sz="11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8415" y="5349240"/>
            <a:ext cx="2532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81F"/>
                </a:solidFill>
                <a:latin typeface="Segoe UI Semibold" panose="020B0702040204020203"/>
              </a:rPr>
              <a:t>Bharath Pyla</a:t>
            </a:r>
            <a:endParaRPr sz="14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28415" y="5650992"/>
            <a:ext cx="2532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08A5C"/>
                </a:solidFill>
                <a:latin typeface="Consolas" panose="020B0609020204030204"/>
              </a:rPr>
              <a:t>23U41A0536</a:t>
            </a:r>
            <a:endParaRPr sz="1100" b="1" i="0">
              <a:solidFill>
                <a:srgbClr val="108A5C"/>
              </a:solidFill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28415" y="5907024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48074"/>
                </a:solidFill>
                <a:latin typeface="Segoe UI" panose="020B0502040204020203"/>
              </a:rPr>
              <a:t>SQL Parser &amp; Spacing Engine</a:t>
            </a:r>
            <a:endParaRPr sz="11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98464" y="5349240"/>
            <a:ext cx="2532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81F"/>
                </a:solidFill>
                <a:latin typeface="Segoe UI Semibold" panose="020B0702040204020203"/>
              </a:rPr>
              <a:t>Aythi Eswar</a:t>
            </a:r>
            <a:endParaRPr sz="14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98464" y="5650992"/>
            <a:ext cx="2532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08A5C"/>
                </a:solidFill>
                <a:latin typeface="Consolas" panose="020B0609020204030204"/>
              </a:rPr>
              <a:t>23U41A0406</a:t>
            </a:r>
            <a:endParaRPr sz="1100" b="1" i="0">
              <a:solidFill>
                <a:srgbClr val="108A5C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98464" y="5907024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48074"/>
                </a:solidFill>
                <a:latin typeface="Segoe UI" panose="020B0502040204020203"/>
              </a:rPr>
              <a:t>Gemini LLM Prompt &amp; AI</a:t>
            </a:r>
            <a:endParaRPr sz="11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68512" y="5349240"/>
            <a:ext cx="2532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81F"/>
                </a:solidFill>
                <a:latin typeface="Segoe UI Semibold" panose="020B0702040204020203"/>
              </a:rPr>
              <a:t>Dadi James</a:t>
            </a:r>
            <a:endParaRPr sz="14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8512" y="5650992"/>
            <a:ext cx="2532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08A5C"/>
                </a:solidFill>
                <a:latin typeface="Consolas" panose="020B0609020204030204"/>
              </a:rPr>
              <a:t>24U45A0212</a:t>
            </a:r>
            <a:endParaRPr sz="1100" b="1" i="0">
              <a:solidFill>
                <a:srgbClr val="108A5C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68512" y="5907024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48074"/>
                </a:solidFill>
                <a:latin typeface="Segoe UI" panose="020B0502040204020203"/>
              </a:rPr>
              <a:t>AST Validation &amp; QA</a:t>
            </a:r>
            <a:endParaRPr sz="1100" b="0" i="0">
              <a:solidFill>
                <a:srgbClr val="848074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93620" y="0"/>
            <a:ext cx="38100" cy="68580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08A5C"/>
                </a:solidFill>
                <a:latin typeface="Georgia" panose="02040502050405020303"/>
              </a:rPr>
              <a:t>&lt;/&gt;</a:t>
            </a:r>
            <a:endParaRPr sz="2000" b="1" i="0">
              <a:solidFill>
                <a:srgbClr val="108A5C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4F1EA"/>
                </a:solidFill>
                <a:latin typeface="Segoe UI Semibold" panose="020B0702040204020203"/>
              </a:rPr>
              <a:t>SQL Query Linter</a:t>
            </a:r>
            <a:endParaRPr sz="1200" b="1" i="0">
              <a:solidFill>
                <a:srgbClr val="F4F1EA"/>
              </a:solidFill>
              <a:latin typeface="Segoe UI Semibold" panose="020B07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48074"/>
                </a:solidFill>
                <a:latin typeface="Segoe UI" panose="020B0502040204020203"/>
              </a:rPr>
              <a:t>&amp; Style Fixer</a:t>
            </a:r>
            <a:endParaRPr sz="12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914400" cy="254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103120"/>
            <a:ext cx="73152" cy="384048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08A5C"/>
                </a:solidFill>
                <a:latin typeface="Consolas" panose="020B0609020204030204"/>
              </a:rPr>
              <a:t>01</a:t>
            </a:r>
            <a:endParaRPr sz="1100" b="1" i="0">
              <a:solidFill>
                <a:srgbClr val="108A5C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4F1EA"/>
                </a:solidFill>
                <a:latin typeface="Segoe UI Semibold" panose="020B0702040204020203"/>
              </a:rPr>
              <a:t>Objective</a:t>
            </a:r>
            <a:endParaRPr sz="1250" b="1" i="0">
              <a:solidFill>
                <a:srgbClr val="F4F1EA"/>
              </a:solidFill>
              <a:latin typeface="Segoe UI Semibold" panose="020B07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02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26517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Problem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03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" y="31546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Tech Stack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" y="3657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04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8" y="36576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Architecture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05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" y="4160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Modules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06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" y="46634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Advantages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51663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07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" y="5166359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Conclusion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63550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48074"/>
                </a:solidFill>
                <a:latin typeface="Segoe UI" panose="020B0502040204020203"/>
              </a:rPr>
              <a:t>DIET · TEAM 20</a:t>
            </a:r>
            <a:endParaRPr sz="9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8892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08A5C"/>
                </a:solidFill>
                <a:latin typeface="Segoe UI Semibold" panose="020B0702040204020203"/>
              </a:rPr>
              <a:t>PROJECT GOAL</a:t>
            </a:r>
            <a:endParaRPr sz="1200" b="1" i="0">
              <a:solidFill>
                <a:srgbClr val="108A5C"/>
              </a:solidFill>
              <a:latin typeface="Segoe UI Semibold" panose="020B07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920" y="84124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4181F"/>
                </a:solidFill>
                <a:latin typeface="Georgia" panose="02040502050405020303"/>
              </a:rPr>
              <a:t>Objective</a:t>
            </a:r>
            <a:endParaRPr sz="36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08920" y="1572768"/>
            <a:ext cx="685800" cy="381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1920240"/>
            <a:ext cx="87782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14181F"/>
                </a:solidFill>
                <a:latin typeface="Georgia" panose="02040502050405020303"/>
              </a:rPr>
              <a:t>Automate </a:t>
            </a:r>
            <a:r>
              <a:rPr sz="2300" b="1" i="0">
                <a:solidFill>
                  <a:srgbClr val="108A5C"/>
                </a:solidFill>
                <a:latin typeface="Georgia" panose="02040502050405020303"/>
              </a:rPr>
              <a:t>layout formatting, syntax cleansing &amp; structural optimization</a:t>
            </a:r>
            <a:r>
              <a:rPr sz="2300" b="0" i="0">
                <a:solidFill>
                  <a:srgbClr val="14181F"/>
                </a:solidFill>
                <a:latin typeface="Georgia" panose="02040502050405020303"/>
              </a:rPr>
              <a:t> by merging client-side deterministic parsers with serverless Large Language Models.</a:t>
            </a:r>
            <a:endParaRPr sz="2300" b="0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88920" y="3611880"/>
            <a:ext cx="8778240" cy="15240"/>
          </a:xfrm>
          <a:prstGeom prst="rect">
            <a:avLst/>
          </a:prstGeom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384048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8A5C"/>
                </a:solidFill>
                <a:latin typeface="Georgia" panose="02040502050405020303"/>
              </a:rPr>
              <a:t>01</a:t>
            </a:r>
            <a:endParaRPr sz="3000" b="1" i="0">
              <a:solidFill>
                <a:srgbClr val="108A5C"/>
              </a:solidFill>
              <a:latin typeface="Georgia" panose="020405020504050203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66160" y="3858768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81F"/>
                </a:solidFill>
                <a:latin typeface="Segoe UI Semibold" panose="020B0702040204020203"/>
              </a:rPr>
              <a:t>Standardize casing</a:t>
            </a:r>
            <a:endParaRPr sz="14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566160" y="4187952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A4049"/>
                </a:solidFill>
                <a:latin typeface="Segoe UI" panose="020B0502040204020203"/>
              </a:rPr>
              <a:t>camelCase / PascalCase → snake_case</a:t>
            </a:r>
            <a:endParaRPr sz="11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15000" y="384048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D5D8A"/>
                </a:solidFill>
                <a:latin typeface="Georgia" panose="02040502050405020303"/>
              </a:rPr>
              <a:t>02</a:t>
            </a:r>
            <a:endParaRPr sz="3000" b="1" i="0">
              <a:solidFill>
                <a:srgbClr val="2D5D8A"/>
              </a:solidFill>
              <a:latin typeface="Georgia" panose="020405020504050203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92240" y="3858768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81F"/>
                </a:solidFill>
                <a:latin typeface="Segoe UI Semibold" panose="020B0702040204020203"/>
              </a:rPr>
              <a:t>Enforce keywords</a:t>
            </a:r>
            <a:endParaRPr sz="14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92240" y="4187952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A4049"/>
                </a:solidFill>
                <a:latin typeface="Segoe UI" panose="020B0502040204020203"/>
              </a:rPr>
              <a:t>Capitalize SQL keywords locally, zero cost</a:t>
            </a:r>
            <a:endParaRPr sz="11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641080" y="384048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7A3E6B"/>
                </a:solidFill>
                <a:latin typeface="Georgia" panose="02040502050405020303"/>
              </a:rPr>
              <a:t>03</a:t>
            </a:r>
            <a:endParaRPr sz="3000" b="1" i="0">
              <a:solidFill>
                <a:srgbClr val="7A3E6B"/>
              </a:solidFill>
              <a:latin typeface="Georgia" panose="020405020504050203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18320" y="3858768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81F"/>
                </a:solidFill>
                <a:latin typeface="Segoe UI Semibold" panose="020B0702040204020203"/>
              </a:rPr>
              <a:t>Purge artifacts</a:t>
            </a:r>
            <a:endParaRPr sz="14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418320" y="4187952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A4049"/>
                </a:solidFill>
                <a:latin typeface="Segoe UI" panose="020B0502040204020203"/>
              </a:rPr>
              <a:t>Strip markdown to protect the compiler</a:t>
            </a:r>
            <a:endParaRPr sz="11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88920" y="50749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8962E"/>
                </a:solidFill>
                <a:latin typeface="Georgia" panose="02040502050405020303"/>
              </a:rPr>
              <a:t>04</a:t>
            </a:r>
            <a:endParaRPr sz="3000" b="1" i="0">
              <a:solidFill>
                <a:srgbClr val="C8962E"/>
              </a:solidFill>
              <a:latin typeface="Georgia" panose="020405020504050203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566160" y="5093208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81F"/>
                </a:solidFill>
                <a:latin typeface="Segoe UI Semibold" panose="020B0702040204020203"/>
              </a:rPr>
              <a:t>AI refactoring</a:t>
            </a:r>
            <a:endParaRPr sz="14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566160" y="5422392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A4049"/>
                </a:solidFill>
                <a:latin typeface="Segoe UI" panose="020B0502040204020203"/>
              </a:rPr>
              <a:t>Comma-joins &amp; subqueries → joins + CTEs</a:t>
            </a:r>
            <a:endParaRPr sz="11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15000" y="50749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2563B"/>
                </a:solidFill>
                <a:latin typeface="Georgia" panose="02040502050405020303"/>
              </a:rPr>
              <a:t>05</a:t>
            </a:r>
            <a:endParaRPr sz="3000" b="1" i="0">
              <a:solidFill>
                <a:srgbClr val="E2563B"/>
              </a:solidFill>
              <a:latin typeface="Georgia" panose="020405020504050203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92240" y="5093208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81F"/>
                </a:solidFill>
                <a:latin typeface="Segoe UI Semibold" panose="020B0702040204020203"/>
              </a:rPr>
              <a:t>Validate syntax</a:t>
            </a:r>
            <a:endParaRPr sz="14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92240" y="5422392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A4049"/>
                </a:solidFill>
                <a:latin typeface="Segoe UI" panose="020B0502040204020203"/>
              </a:rPr>
              <a:t>In-memory AST validation loop</a:t>
            </a:r>
            <a:endParaRPr sz="1100" b="0" i="0">
              <a:solidFill>
                <a:srgbClr val="3A404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93620" y="0"/>
            <a:ext cx="38100" cy="6858000"/>
          </a:xfrm>
          <a:prstGeom prst="rect">
            <a:avLst/>
          </a:prstGeom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2563B"/>
                </a:solidFill>
                <a:latin typeface="Georgia" panose="02040502050405020303"/>
              </a:rPr>
              <a:t>&lt;/&gt;</a:t>
            </a:r>
            <a:endParaRPr sz="2000" b="1" i="0">
              <a:solidFill>
                <a:srgbClr val="E2563B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4F1EA"/>
                </a:solidFill>
                <a:latin typeface="Segoe UI Semibold" panose="020B0702040204020203"/>
              </a:rPr>
              <a:t>SQL Query Linter</a:t>
            </a:r>
            <a:endParaRPr sz="1200" b="1" i="0">
              <a:solidFill>
                <a:srgbClr val="F4F1EA"/>
              </a:solidFill>
              <a:latin typeface="Segoe UI Semibold" panose="020B07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48074"/>
                </a:solidFill>
                <a:latin typeface="Segoe UI" panose="020B0502040204020203"/>
              </a:rPr>
              <a:t>&amp; Style Fixer</a:t>
            </a:r>
            <a:endParaRPr sz="12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914400" cy="25400"/>
          </a:xfrm>
          <a:prstGeom prst="rect">
            <a:avLst/>
          </a:prstGeom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01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Objective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2606040"/>
            <a:ext cx="73152" cy="384048"/>
          </a:xfrm>
          <a:prstGeom prst="rect">
            <a:avLst/>
          </a:prstGeom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2563B"/>
                </a:solidFill>
                <a:latin typeface="Consolas" panose="020B0609020204030204"/>
              </a:rPr>
              <a:t>02</a:t>
            </a:r>
            <a:endParaRPr sz="1100" b="1" i="0">
              <a:solidFill>
                <a:srgbClr val="E2563B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26517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4F1EA"/>
                </a:solidFill>
                <a:latin typeface="Segoe UI Semibold" panose="020B0702040204020203"/>
              </a:rPr>
              <a:t>Problem</a:t>
            </a:r>
            <a:endParaRPr sz="1250" b="1" i="0">
              <a:solidFill>
                <a:srgbClr val="F4F1EA"/>
              </a:solidFill>
              <a:latin typeface="Segoe UI Semibold" panose="020B07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03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" y="31546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Tech Stack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" y="3657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04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8" y="36576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Architecture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05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" y="4160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Modules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06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" y="46634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Advantages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51663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07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" y="5166359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Conclusion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63550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48074"/>
                </a:solidFill>
                <a:latin typeface="Segoe UI" panose="020B0502040204020203"/>
              </a:rPr>
              <a:t>DIET · TEAM 20</a:t>
            </a:r>
            <a:endParaRPr sz="9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8892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2563B"/>
                </a:solidFill>
                <a:latin typeface="Segoe UI Semibold" panose="020B0702040204020203"/>
              </a:rPr>
              <a:t>THE CHALLENGE</a:t>
            </a:r>
            <a:endParaRPr sz="1200" b="1" i="0">
              <a:solidFill>
                <a:srgbClr val="E2563B"/>
              </a:solidFill>
              <a:latin typeface="Segoe UI Semibold" panose="020B07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920" y="84124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4181F"/>
                </a:solidFill>
                <a:latin typeface="Georgia" panose="02040502050405020303"/>
              </a:rPr>
              <a:t>Problem Statement</a:t>
            </a:r>
            <a:endParaRPr sz="36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08920" y="1572768"/>
            <a:ext cx="685800" cy="38100"/>
          </a:xfrm>
          <a:prstGeom prst="rect">
            <a:avLst/>
          </a:prstGeom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1874519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2563B"/>
                </a:solidFill>
                <a:latin typeface="Georgia" panose="02040502050405020303"/>
              </a:rPr>
              <a:t>01</a:t>
            </a:r>
            <a:endParaRPr sz="2600" b="1" i="0">
              <a:solidFill>
                <a:srgbClr val="E2563B"/>
              </a:solidFill>
              <a:latin typeface="Georgia" panose="020405020504050203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3320" y="1901951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81F"/>
                </a:solidFill>
                <a:latin typeface="Segoe UI Semibold" panose="020B0702040204020203"/>
              </a:rPr>
              <a:t>Inconsistent Casing</a:t>
            </a:r>
            <a:endParaRPr sz="16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0840" y="1911095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A4049"/>
                </a:solidFill>
                <a:latin typeface="Segoe UI" panose="020B0502040204020203"/>
              </a:rPr>
              <a:t>Mixed camelCase / PascalCase / lowercase create style violations &amp; audit complications.</a:t>
            </a:r>
            <a:endParaRPr sz="125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88920" y="2670048"/>
            <a:ext cx="8778240" cy="12700"/>
          </a:xfrm>
          <a:prstGeom prst="rect">
            <a:avLst/>
          </a:prstGeom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920" y="2724912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C8962E"/>
                </a:solidFill>
                <a:latin typeface="Georgia" panose="02040502050405020303"/>
              </a:rPr>
              <a:t>02</a:t>
            </a:r>
            <a:endParaRPr sz="2600" b="1" i="0">
              <a:solidFill>
                <a:srgbClr val="C8962E"/>
              </a:solidFill>
              <a:latin typeface="Georgia" panose="020405020504050203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03320" y="2752344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81F"/>
                </a:solidFill>
                <a:latin typeface="Segoe UI Semibold" panose="020B0702040204020203"/>
              </a:rPr>
              <a:t>Legacy Join Syntax</a:t>
            </a:r>
            <a:endParaRPr sz="16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20840" y="2761488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A4049"/>
                </a:solidFill>
                <a:latin typeface="Segoe UI" panose="020B0502040204020203"/>
              </a:rPr>
              <a:t>Implicit comma-joins obscure join pathways and inflate maintenance overhead.</a:t>
            </a:r>
            <a:endParaRPr sz="125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788920" y="3520440"/>
            <a:ext cx="8778240" cy="12700"/>
          </a:xfrm>
          <a:prstGeom prst="rect">
            <a:avLst/>
          </a:prstGeom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8920" y="3575304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A3E6B"/>
                </a:solidFill>
                <a:latin typeface="Georgia" panose="02040502050405020303"/>
              </a:rPr>
              <a:t>03</a:t>
            </a:r>
            <a:endParaRPr sz="2600" b="1" i="0">
              <a:solidFill>
                <a:srgbClr val="7A3E6B"/>
              </a:solidFill>
              <a:latin typeface="Georgia" panose="020405020504050203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703320" y="3602736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81F"/>
                </a:solidFill>
                <a:latin typeface="Segoe UI Semibold" panose="020B0702040204020203"/>
              </a:rPr>
              <a:t>Subquery Nesting</a:t>
            </a:r>
            <a:endParaRPr sz="16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20840" y="361188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A4049"/>
                </a:solidFill>
                <a:latin typeface="Segoe UI" panose="020B0502040204020203"/>
              </a:rPr>
              <a:t>Deeply nested SELECTs hurt readability and limit optimizer index lookups.</a:t>
            </a:r>
            <a:endParaRPr sz="125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88920" y="4370832"/>
            <a:ext cx="8778240" cy="12700"/>
          </a:xfrm>
          <a:prstGeom prst="rect">
            <a:avLst/>
          </a:prstGeom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4425696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D5D8A"/>
                </a:solidFill>
                <a:latin typeface="Georgia" panose="02040502050405020303"/>
              </a:rPr>
              <a:t>04</a:t>
            </a:r>
            <a:endParaRPr sz="2600" b="1" i="0">
              <a:solidFill>
                <a:srgbClr val="2D5D8A"/>
              </a:solidFill>
              <a:latin typeface="Georgia" panose="020405020504050203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03320" y="4453128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81F"/>
                </a:solidFill>
                <a:latin typeface="Segoe UI Semibold" panose="020B0702040204020203"/>
              </a:rPr>
              <a:t>Cost Inflation</a:t>
            </a:r>
            <a:endParaRPr sz="16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20840" y="4462272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A4049"/>
                </a:solidFill>
                <a:latin typeface="Segoe UI" panose="020B0502040204020203"/>
              </a:rPr>
              <a:t>Unrestricted SELECT * drives up cloud cost under pay-per-query billing.</a:t>
            </a:r>
            <a:endParaRPr sz="125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88920" y="5221224"/>
            <a:ext cx="8778240" cy="12700"/>
          </a:xfrm>
          <a:prstGeom prst="rect">
            <a:avLst/>
          </a:prstGeom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88920" y="5276088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08A5C"/>
                </a:solidFill>
                <a:latin typeface="Georgia" panose="02040502050405020303"/>
              </a:rPr>
              <a:t>05</a:t>
            </a:r>
            <a:endParaRPr sz="2600" b="1" i="0">
              <a:solidFill>
                <a:srgbClr val="108A5C"/>
              </a:solidFill>
              <a:latin typeface="Georgia" panose="020405020504050203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703320" y="530352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81F"/>
                </a:solidFill>
                <a:latin typeface="Segoe UI Semibold" panose="020B0702040204020203"/>
              </a:rPr>
              <a:t>Validation Risk</a:t>
            </a:r>
            <a:endParaRPr sz="16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720840" y="5312664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A4049"/>
                </a:solidFill>
                <a:latin typeface="Segoe UI" panose="020B0502040204020203"/>
              </a:rPr>
              <a:t>Rule linters miss logic; raw LLMs hallucinate and break SQL syntax.</a:t>
            </a:r>
            <a:endParaRPr sz="1250" b="0" i="0">
              <a:solidFill>
                <a:srgbClr val="3A404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93620" y="0"/>
            <a:ext cx="38100" cy="6858000"/>
          </a:xfrm>
          <a:prstGeom prst="rect">
            <a:avLst/>
          </a:prstGeom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2D5D8A"/>
                </a:solidFill>
                <a:latin typeface="Georgia" panose="02040502050405020303"/>
              </a:rPr>
              <a:t>&lt;/&gt;</a:t>
            </a:r>
            <a:endParaRPr sz="2000" b="1" i="0">
              <a:solidFill>
                <a:srgbClr val="2D5D8A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4F1EA"/>
                </a:solidFill>
                <a:latin typeface="Segoe UI Semibold" panose="020B0702040204020203"/>
              </a:rPr>
              <a:t>SQL Query Linter</a:t>
            </a:r>
            <a:endParaRPr sz="1200" b="1" i="0">
              <a:solidFill>
                <a:srgbClr val="F4F1EA"/>
              </a:solidFill>
              <a:latin typeface="Segoe UI Semibold" panose="020B07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48074"/>
                </a:solidFill>
                <a:latin typeface="Segoe UI" panose="020B0502040204020203"/>
              </a:rPr>
              <a:t>&amp; Style Fixer</a:t>
            </a:r>
            <a:endParaRPr sz="12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914400" cy="25400"/>
          </a:xfrm>
          <a:prstGeom prst="rect">
            <a:avLst/>
          </a:prstGeom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01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Objective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02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6517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Problem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3108960"/>
            <a:ext cx="73152" cy="384048"/>
          </a:xfrm>
          <a:prstGeom prst="rect">
            <a:avLst/>
          </a:prstGeom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5D8A"/>
                </a:solidFill>
                <a:latin typeface="Consolas" panose="020B0609020204030204"/>
              </a:rPr>
              <a:t>03</a:t>
            </a:r>
            <a:endParaRPr sz="1100" b="1" i="0">
              <a:solidFill>
                <a:srgbClr val="2D5D8A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" y="31546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4F1EA"/>
                </a:solidFill>
                <a:latin typeface="Segoe UI Semibold" panose="020B0702040204020203"/>
              </a:rPr>
              <a:t>Tech Stack</a:t>
            </a:r>
            <a:endParaRPr sz="1250" b="1" i="0">
              <a:solidFill>
                <a:srgbClr val="F4F1EA"/>
              </a:solidFill>
              <a:latin typeface="Segoe UI Semibold" panose="020B07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" y="3657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04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8" y="36576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Architecture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05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" y="4160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Modules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06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" y="46634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Advantages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51663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07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" y="5166359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Conclusion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63550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48074"/>
                </a:solidFill>
                <a:latin typeface="Segoe UI" panose="020B0502040204020203"/>
              </a:rPr>
              <a:t>DIET · TEAM 20</a:t>
            </a:r>
            <a:endParaRPr sz="9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8892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D5D8A"/>
                </a:solidFill>
                <a:latin typeface="Segoe UI Semibold" panose="020B0702040204020203"/>
              </a:rPr>
              <a:t>TECH STACK</a:t>
            </a:r>
            <a:endParaRPr sz="1200" b="1" i="0">
              <a:solidFill>
                <a:srgbClr val="2D5D8A"/>
              </a:solidFill>
              <a:latin typeface="Segoe UI Semibold" panose="020B07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920" y="84124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4181F"/>
                </a:solidFill>
                <a:latin typeface="Georgia" panose="02040502050405020303"/>
              </a:rPr>
              <a:t>Technologies Used</a:t>
            </a:r>
            <a:endParaRPr sz="36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08920" y="1572768"/>
            <a:ext cx="685800" cy="38100"/>
          </a:xfrm>
          <a:prstGeom prst="rect">
            <a:avLst/>
          </a:prstGeom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88920" y="1874519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21488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8962E"/>
                </a:solidFill>
                <a:latin typeface="Segoe UI Semibold" panose="020B0702040204020203"/>
              </a:rPr>
              <a:t>AI  ENGINE</a:t>
            </a:r>
            <a:endParaRPr sz="1200" b="1" i="0">
              <a:solidFill>
                <a:srgbClr val="C8962E"/>
              </a:solidFill>
              <a:latin typeface="Segoe UI Semibold" panose="020B07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08960" y="256032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4F1EA"/>
                </a:solidFill>
                <a:latin typeface="Georgia" panose="02040502050405020303"/>
              </a:rPr>
              <a:t>Google Gemini</a:t>
            </a:r>
            <a:endParaRPr sz="2600" b="1" i="0">
              <a:solidFill>
                <a:srgbClr val="F4F1EA"/>
              </a:solidFill>
              <a:latin typeface="Georgia" panose="020405020504050203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08960" y="3154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8962E"/>
                </a:solidFill>
                <a:latin typeface="Consolas" panose="020B0609020204030204"/>
              </a:rPr>
              <a:t>gemini-2.5-flash</a:t>
            </a:r>
            <a:endParaRPr sz="1300" b="1" i="0">
              <a:solidFill>
                <a:srgbClr val="C8962E"/>
              </a:solidFill>
              <a:latin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08960" y="361188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9CCD1"/>
                </a:solidFill>
                <a:latin typeface="Segoe UI" panose="020B0502040204020203"/>
              </a:rPr>
              <a:t>Serverless model for semantic refactoring — converting joins and subqueries into CTEs. Configured with low temperature (0.1) and few-shot examples for deterministic, reliable output.</a:t>
            </a:r>
            <a:endParaRPr sz="1300" b="0" i="0">
              <a:solidFill>
                <a:srgbClr val="C9CCD1"/>
              </a:solidFill>
              <a:latin typeface="Segoe UI" panose="020B0502040204020203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132320" y="1874519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0" y="1874519"/>
            <a:ext cx="2148840" cy="508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2148839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4181F"/>
                </a:solidFill>
                <a:latin typeface="Georgia" panose="02040502050405020303"/>
              </a:rPr>
              <a:t>Python</a:t>
            </a:r>
            <a:endParaRPr sz="18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60920" y="2651759"/>
            <a:ext cx="1691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Core regex, execution &amp; API routing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418320" y="1874519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418320" y="1874519"/>
            <a:ext cx="2148840" cy="50800"/>
          </a:xfrm>
          <a:prstGeom prst="rect">
            <a:avLst/>
          </a:prstGeom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2148839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4181F"/>
                </a:solidFill>
                <a:latin typeface="Georgia" panose="02040502050405020303"/>
              </a:rPr>
              <a:t>Streamlit</a:t>
            </a:r>
            <a:endParaRPr sz="18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46920" y="2651759"/>
            <a:ext cx="1691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Dashboard, uploader &amp; downloads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132320" y="4023359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0" y="4023359"/>
            <a:ext cx="2148840" cy="50800"/>
          </a:xfrm>
          <a:prstGeom prst="rect">
            <a:avLst/>
          </a:prstGeom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4297679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4181F"/>
                </a:solidFill>
                <a:latin typeface="Georgia" panose="02040502050405020303"/>
              </a:rPr>
              <a:t>sqlglot</a:t>
            </a:r>
            <a:endParaRPr sz="18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60920" y="4800599"/>
            <a:ext cx="1691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Dialect parser &amp; AST validation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418320" y="4023359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18320" y="4023359"/>
            <a:ext cx="2148840" cy="50800"/>
          </a:xfrm>
          <a:prstGeom prst="rect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4297679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4181F"/>
                </a:solidFill>
                <a:latin typeface="Georgia" panose="02040502050405020303"/>
              </a:rPr>
              <a:t>difflib</a:t>
            </a:r>
            <a:endParaRPr sz="18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646920" y="4800599"/>
            <a:ext cx="1691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Unified diff reports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93620" y="0"/>
            <a:ext cx="38100" cy="6858000"/>
          </a:xfrm>
          <a:prstGeom prst="rect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7A3E6B"/>
                </a:solidFill>
                <a:latin typeface="Georgia" panose="02040502050405020303"/>
              </a:rPr>
              <a:t>&lt;/&gt;</a:t>
            </a:r>
            <a:endParaRPr sz="2000" b="1" i="0">
              <a:solidFill>
                <a:srgbClr val="7A3E6B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4F1EA"/>
                </a:solidFill>
                <a:latin typeface="Segoe UI Semibold" panose="020B0702040204020203"/>
              </a:rPr>
              <a:t>SQL Query Linter</a:t>
            </a:r>
            <a:endParaRPr sz="1200" b="1" i="0">
              <a:solidFill>
                <a:srgbClr val="F4F1EA"/>
              </a:solidFill>
              <a:latin typeface="Segoe UI Semibold" panose="020B07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48074"/>
                </a:solidFill>
                <a:latin typeface="Segoe UI" panose="020B0502040204020203"/>
              </a:rPr>
              <a:t>&amp; Style Fixer</a:t>
            </a:r>
            <a:endParaRPr sz="12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914400" cy="25400"/>
          </a:xfrm>
          <a:prstGeom prst="rect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01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Objective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02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6517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Problem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03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31546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Tech Stack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3611880"/>
            <a:ext cx="73152" cy="384048"/>
          </a:xfrm>
          <a:prstGeom prst="rect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57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A3E6B"/>
                </a:solidFill>
                <a:latin typeface="Consolas" panose="020B0609020204030204"/>
              </a:rPr>
              <a:t>04</a:t>
            </a:r>
            <a:endParaRPr sz="1100" b="1" i="0">
              <a:solidFill>
                <a:srgbClr val="7A3E6B"/>
              </a:solidFill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8" y="36576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4F1EA"/>
                </a:solidFill>
                <a:latin typeface="Segoe UI Semibold" panose="020B0702040204020203"/>
              </a:rPr>
              <a:t>Architecture</a:t>
            </a:r>
            <a:endParaRPr sz="1250" b="1" i="0">
              <a:solidFill>
                <a:srgbClr val="F4F1EA"/>
              </a:solidFill>
              <a:latin typeface="Segoe UI Semibold" panose="020B07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05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" y="4160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Modules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06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" y="46634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Advantages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51663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07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" y="5166359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Conclusion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63550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48074"/>
                </a:solidFill>
                <a:latin typeface="Segoe UI" panose="020B0502040204020203"/>
              </a:rPr>
              <a:t>DIET · TEAM 20</a:t>
            </a:r>
            <a:endParaRPr sz="9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8892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A3E6B"/>
                </a:solidFill>
                <a:latin typeface="Segoe UI Semibold" panose="020B0702040204020203"/>
              </a:rPr>
              <a:t>HOW IT WORKS</a:t>
            </a:r>
            <a:endParaRPr sz="1200" b="1" i="0">
              <a:solidFill>
                <a:srgbClr val="7A3E6B"/>
              </a:solidFill>
              <a:latin typeface="Segoe UI Semibold" panose="020B07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920" y="84124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4181F"/>
                </a:solidFill>
                <a:latin typeface="Georgia" panose="02040502050405020303"/>
              </a:rPr>
              <a:t>System Architecture</a:t>
            </a:r>
            <a:endParaRPr sz="36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08920" y="1572768"/>
            <a:ext cx="685800" cy="38100"/>
          </a:xfrm>
          <a:prstGeom prst="rect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88920" y="1965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88920" y="1965960"/>
            <a:ext cx="63500" cy="178308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21671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08A5C"/>
                </a:solidFill>
                <a:latin typeface="Georgia" panose="02040502050405020303"/>
              </a:rPr>
              <a:t>01</a:t>
            </a:r>
            <a:endParaRPr sz="2600" b="1" i="0">
              <a:solidFill>
                <a:srgbClr val="108A5C"/>
              </a:solidFill>
              <a:latin typeface="Georgia" panose="020405020504050203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63240" y="271576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181F"/>
                </a:solidFill>
                <a:latin typeface="Segoe UI Semibold" panose="020B0702040204020203"/>
              </a:rPr>
              <a:t>Query Input</a:t>
            </a:r>
            <a:endParaRPr sz="145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63240" y="30632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A4049"/>
                </a:solidFill>
                <a:latin typeface="Segoe UI" panose="020B0502040204020203"/>
              </a:rPr>
              <a:t>Sandbox, uploader or CLI batch scanner reads statements.</a:t>
            </a:r>
            <a:endParaRPr sz="11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687568" y="1965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87568" y="1965960"/>
            <a:ext cx="63500" cy="1783080"/>
          </a:xfrm>
          <a:prstGeom prst="rect">
            <a:avLst/>
          </a:prstGeom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61888" y="21671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2563B"/>
                </a:solidFill>
                <a:latin typeface="Georgia" panose="02040502050405020303"/>
              </a:rPr>
              <a:t>02</a:t>
            </a:r>
            <a:endParaRPr sz="2600" b="1" i="0">
              <a:solidFill>
                <a:srgbClr val="E2563B"/>
              </a:solidFill>
              <a:latin typeface="Georgia" panose="020405020504050203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61888" y="271576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181F"/>
                </a:solidFill>
                <a:latin typeface="Segoe UI Semibold" panose="020B0702040204020203"/>
              </a:rPr>
              <a:t>Sanitization</a:t>
            </a:r>
            <a:endParaRPr sz="145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61888" y="30632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A4049"/>
                </a:solidFill>
                <a:latin typeface="Segoe UI" panose="020B0502040204020203"/>
              </a:rPr>
              <a:t>strip_markdown_artifacts() removes code blocks &amp; markers.</a:t>
            </a:r>
            <a:endParaRPr sz="11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86216" y="1965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86216" y="1965960"/>
            <a:ext cx="63500" cy="178308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0536" y="21671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C8962E"/>
                </a:solidFill>
                <a:latin typeface="Georgia" panose="02040502050405020303"/>
              </a:rPr>
              <a:t>03</a:t>
            </a:r>
            <a:endParaRPr sz="2600" b="1" i="0">
              <a:solidFill>
                <a:srgbClr val="C8962E"/>
              </a:solidFill>
              <a:latin typeface="Georgia" panose="020405020504050203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60536" y="271576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181F"/>
                </a:solidFill>
                <a:latin typeface="Segoe UI Semibold" panose="020B0702040204020203"/>
              </a:rPr>
              <a:t>Phase 1 · Linter</a:t>
            </a:r>
            <a:endParaRPr sz="145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60536" y="30632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A4049"/>
                </a:solidFill>
                <a:latin typeface="Segoe UI" panose="020B0502040204020203"/>
              </a:rPr>
              <a:t>Keyword caps, camelCase→snake_case, SELECT * checks.</a:t>
            </a:r>
            <a:endParaRPr sz="11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2788920" y="4251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88920" y="4251960"/>
            <a:ext cx="63500" cy="1783080"/>
          </a:xfrm>
          <a:prstGeom prst="rect">
            <a:avLst/>
          </a:prstGeom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63240" y="44531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D5D8A"/>
                </a:solidFill>
                <a:latin typeface="Georgia" panose="02040502050405020303"/>
              </a:rPr>
              <a:t>04</a:t>
            </a:r>
            <a:endParaRPr sz="2600" b="1" i="0">
              <a:solidFill>
                <a:srgbClr val="2D5D8A"/>
              </a:solidFill>
              <a:latin typeface="Georgia" panose="020405020504050203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063240" y="500176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181F"/>
                </a:solidFill>
                <a:latin typeface="Segoe UI Semibold" panose="020B0702040204020203"/>
              </a:rPr>
              <a:t>Phase 2 · Refactor</a:t>
            </a:r>
            <a:endParaRPr sz="145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063240" y="53492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A4049"/>
                </a:solidFill>
                <a:latin typeface="Segoe UI" panose="020B0502040204020203"/>
              </a:rPr>
              <a:t>Gemini optimizes joins &amp; nested subqueries.</a:t>
            </a:r>
            <a:endParaRPr sz="11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687568" y="4251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87568" y="4251960"/>
            <a:ext cx="63500" cy="1783080"/>
          </a:xfrm>
          <a:prstGeom prst="rect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61888" y="44531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A3E6B"/>
                </a:solidFill>
                <a:latin typeface="Georgia" panose="02040502050405020303"/>
              </a:rPr>
              <a:t>05</a:t>
            </a:r>
            <a:endParaRPr sz="2600" b="1" i="0">
              <a:solidFill>
                <a:srgbClr val="7A3E6B"/>
              </a:solidFill>
              <a:latin typeface="Georgia" panose="020405020504050203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961888" y="500176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181F"/>
                </a:solidFill>
                <a:latin typeface="Segoe UI Semibold" panose="020B0702040204020203"/>
              </a:rPr>
              <a:t>Critic Loop</a:t>
            </a:r>
            <a:endParaRPr sz="145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961888" y="53492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A4049"/>
                </a:solidFill>
                <a:latin typeface="Segoe UI" panose="020B0502040204020203"/>
              </a:rPr>
              <a:t>sqlglot validates; errors feed back so the LLM self-heals.</a:t>
            </a:r>
            <a:endParaRPr sz="11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586216" y="4251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86216" y="4251960"/>
            <a:ext cx="63500" cy="1783080"/>
          </a:xfrm>
          <a:prstGeom prst="rect">
            <a:avLst/>
          </a:prstGeom>
          <a:solidFill>
            <a:srgbClr val="0B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60536" y="44531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5E40"/>
                </a:solidFill>
                <a:latin typeface="Georgia" panose="02040502050405020303"/>
              </a:rPr>
              <a:t>06</a:t>
            </a:r>
            <a:endParaRPr sz="2600" b="1" i="0">
              <a:solidFill>
                <a:srgbClr val="0B5E40"/>
              </a:solidFill>
              <a:latin typeface="Georgia" panose="02040502050405020303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860536" y="500176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181F"/>
                </a:solidFill>
                <a:latin typeface="Segoe UI Semibold" panose="020B0702040204020203"/>
              </a:rPr>
              <a:t>Output</a:t>
            </a:r>
            <a:endParaRPr sz="145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860536" y="53492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A4049"/>
                </a:solidFill>
                <a:latin typeface="Segoe UI" panose="020B0502040204020203"/>
              </a:rPr>
              <a:t>Copyable SQL frames + colored diff blocks.</a:t>
            </a:r>
            <a:endParaRPr sz="11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57" name="Chevron 56"/>
          <p:cNvSpPr/>
          <p:nvPr/>
        </p:nvSpPr>
        <p:spPr>
          <a:xfrm>
            <a:off x="5496400" y="2679192"/>
            <a:ext cx="164592" cy="365760"/>
          </a:xfrm>
          <a:prstGeom prst="chevron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evron 57"/>
          <p:cNvSpPr/>
          <p:nvPr/>
        </p:nvSpPr>
        <p:spPr>
          <a:xfrm>
            <a:off x="8395048" y="2679192"/>
            <a:ext cx="164592" cy="365760"/>
          </a:xfrm>
          <a:prstGeom prst="chevron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evron 58"/>
          <p:cNvSpPr/>
          <p:nvPr/>
        </p:nvSpPr>
        <p:spPr>
          <a:xfrm>
            <a:off x="5496400" y="4965192"/>
            <a:ext cx="164592" cy="365760"/>
          </a:xfrm>
          <a:prstGeom prst="chevron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evron 59"/>
          <p:cNvSpPr/>
          <p:nvPr/>
        </p:nvSpPr>
        <p:spPr>
          <a:xfrm>
            <a:off x="8395048" y="4965192"/>
            <a:ext cx="164592" cy="365760"/>
          </a:xfrm>
          <a:prstGeom prst="chevron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93620" y="0"/>
            <a:ext cx="38100" cy="68580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8962E"/>
                </a:solidFill>
                <a:latin typeface="Georgia" panose="02040502050405020303"/>
              </a:rPr>
              <a:t>&lt;/&gt;</a:t>
            </a:r>
            <a:endParaRPr sz="2000" b="1" i="0">
              <a:solidFill>
                <a:srgbClr val="C8962E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4F1EA"/>
                </a:solidFill>
                <a:latin typeface="Segoe UI Semibold" panose="020B0702040204020203"/>
              </a:rPr>
              <a:t>SQL Query Linter</a:t>
            </a:r>
            <a:endParaRPr sz="1200" b="1" i="0">
              <a:solidFill>
                <a:srgbClr val="F4F1EA"/>
              </a:solidFill>
              <a:latin typeface="Segoe UI Semibold" panose="020B07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48074"/>
                </a:solidFill>
                <a:latin typeface="Segoe UI" panose="020B0502040204020203"/>
              </a:rPr>
              <a:t>&amp; Style Fixer</a:t>
            </a:r>
            <a:endParaRPr sz="12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914400" cy="254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01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Objective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02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6517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Problem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03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31546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Tech Stack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04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36576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Architecture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4114800"/>
            <a:ext cx="73152" cy="384048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962E"/>
                </a:solidFill>
                <a:latin typeface="Consolas" panose="020B0609020204030204"/>
              </a:rPr>
              <a:t>05</a:t>
            </a:r>
            <a:endParaRPr sz="1100" b="1" i="0">
              <a:solidFill>
                <a:srgbClr val="C8962E"/>
              </a:solidFill>
              <a:latin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" y="4160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4F1EA"/>
                </a:solidFill>
                <a:latin typeface="Segoe UI Semibold" panose="020B0702040204020203"/>
              </a:rPr>
              <a:t>Modules</a:t>
            </a:r>
            <a:endParaRPr sz="1250" b="1" i="0">
              <a:solidFill>
                <a:srgbClr val="F4F1EA"/>
              </a:solidFill>
              <a:latin typeface="Segoe UI Semibold" panose="020B07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06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" y="46634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Advantages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51663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07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" y="5166359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Conclusion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63550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48074"/>
                </a:solidFill>
                <a:latin typeface="Segoe UI" panose="020B0502040204020203"/>
              </a:rPr>
              <a:t>DIET · TEAM 20</a:t>
            </a:r>
            <a:endParaRPr sz="9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8892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8962E"/>
                </a:solidFill>
                <a:latin typeface="Segoe UI Semibold" panose="020B0702040204020203"/>
              </a:rPr>
              <a:t>CODE STRUCTURE</a:t>
            </a:r>
            <a:endParaRPr sz="1200" b="1" i="0">
              <a:solidFill>
                <a:srgbClr val="C8962E"/>
              </a:solidFill>
              <a:latin typeface="Segoe UI Semibold" panose="020B07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920" y="84124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4181F"/>
                </a:solidFill>
                <a:latin typeface="Georgia" panose="02040502050405020303"/>
              </a:rPr>
              <a:t>Modules Overview</a:t>
            </a:r>
            <a:endParaRPr sz="36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08920" y="1572768"/>
            <a:ext cx="685800" cy="381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88920" y="1828800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88920" y="1828800"/>
            <a:ext cx="63500" cy="658368"/>
          </a:xfrm>
          <a:prstGeom prst="rect">
            <a:avLst/>
          </a:prstGeom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1828800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2563B"/>
                </a:solidFill>
                <a:latin typeface="Segoe UI Semibold" panose="020B0702040204020203"/>
              </a:rPr>
              <a:t>CLEAN</a:t>
            </a:r>
            <a:endParaRPr sz="1400" b="1" i="0">
              <a:solidFill>
                <a:srgbClr val="E2563B"/>
              </a:solidFill>
              <a:latin typeface="Segoe UI Semibold" panose="020B07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0" y="1847088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181F"/>
                </a:solidFill>
                <a:latin typeface="Segoe UI Semibold" panose="020B0702040204020203"/>
              </a:rPr>
              <a:t>Sanitization &amp; Cleaning</a:t>
            </a:r>
            <a:endParaRPr sz="15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0" y="2176272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Lookbehind/lookahead regex strips styling artifacts without corrupting snake_case columns.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788920" y="2670048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88920" y="2670048"/>
            <a:ext cx="63500" cy="658368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2670048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8962E"/>
                </a:solidFill>
                <a:latin typeface="Segoe UI Semibold" panose="020B0702040204020203"/>
              </a:rPr>
              <a:t>LINT</a:t>
            </a:r>
            <a:endParaRPr sz="1400" b="1" i="0">
              <a:solidFill>
                <a:srgbClr val="C8962E"/>
              </a:solidFill>
              <a:latin typeface="Segoe UI Semibold" panose="020B07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0" y="2688336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181F"/>
                </a:solidFill>
                <a:latin typeface="Segoe UI Semibold" panose="020B0702040204020203"/>
              </a:rPr>
              <a:t>Phase 1 · Local Linter</a:t>
            </a:r>
            <a:endParaRPr sz="15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0" y="30175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Zero-cost deterministic casing cleaner &amp; capitalization compiler enforced locally.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788920" y="3511296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88920" y="3511296"/>
            <a:ext cx="63500" cy="658368"/>
          </a:xfrm>
          <a:prstGeom prst="rect">
            <a:avLst/>
          </a:prstGeom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3511296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D5D8A"/>
                </a:solidFill>
                <a:latin typeface="Segoe UI Semibold" panose="020B0702040204020203"/>
              </a:rPr>
              <a:t>AGENT</a:t>
            </a:r>
            <a:endParaRPr sz="1400" b="1" i="0">
              <a:solidFill>
                <a:srgbClr val="2D5D8A"/>
              </a:solidFill>
              <a:latin typeface="Segoe UI Semibold" panose="020B07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0" y="3529584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181F"/>
                </a:solidFill>
                <a:latin typeface="Segoe UI Semibold" panose="020B0702040204020203"/>
              </a:rPr>
              <a:t>Phase 2 · AI Refactoring</a:t>
            </a:r>
            <a:endParaRPr sz="15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0" y="3858768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Gemini with few-shot prompts converts comma-joins and extracts subqueries into CTEs.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2788920" y="4352544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88920" y="4352544"/>
            <a:ext cx="63500" cy="658368"/>
          </a:xfrm>
          <a:prstGeom prst="rect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88920" y="4352544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A3E6B"/>
                </a:solidFill>
                <a:latin typeface="Segoe UI Semibold" panose="020B0702040204020203"/>
              </a:rPr>
              <a:t>LOOP</a:t>
            </a:r>
            <a:endParaRPr sz="1400" b="1" i="0">
              <a:solidFill>
                <a:srgbClr val="7A3E6B"/>
              </a:solidFill>
              <a:latin typeface="Segoe UI Semibold" panose="020B07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72000" y="4370831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181F"/>
                </a:solidFill>
                <a:latin typeface="Segoe UI Semibold" panose="020B0702040204020203"/>
              </a:rPr>
              <a:t>Validation &amp; Critic</a:t>
            </a:r>
            <a:endParaRPr sz="15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72000" y="4700016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Compares LLM output to sqlglot rules and runs the self-correcting logic loop.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788920" y="5193792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88920" y="5193792"/>
            <a:ext cx="63500" cy="658368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88920" y="5193792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08A5C"/>
                </a:solidFill>
                <a:latin typeface="Segoe UI Semibold" panose="020B0702040204020203"/>
              </a:rPr>
              <a:t>DISP</a:t>
            </a:r>
            <a:endParaRPr sz="1400" b="1" i="0">
              <a:solidFill>
                <a:srgbClr val="108A5C"/>
              </a:solidFill>
              <a:latin typeface="Segoe UI Semibold" panose="020B07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72000" y="5212079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181F"/>
                </a:solidFill>
                <a:latin typeface="Segoe UI Semibold" panose="020B0702040204020203"/>
              </a:rPr>
              <a:t>Interface &amp; Download</a:t>
            </a:r>
            <a:endParaRPr sz="1500" b="1" i="0">
              <a:solidFill>
                <a:srgbClr val="14181F"/>
              </a:solidFill>
              <a:latin typeface="Segoe UI Semibold" panose="020B0702040204020203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72000" y="554126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Dual Streamlit/CLI interfaces, in-memory uploads, diff rendering &amp; downloads.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93620" y="0"/>
            <a:ext cx="38100" cy="68580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08A5C"/>
                </a:solidFill>
                <a:latin typeface="Georgia" panose="02040502050405020303"/>
              </a:rPr>
              <a:t>&lt;/&gt;</a:t>
            </a:r>
            <a:endParaRPr sz="2000" b="1" i="0">
              <a:solidFill>
                <a:srgbClr val="108A5C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4F1EA"/>
                </a:solidFill>
                <a:latin typeface="Segoe UI Semibold" panose="020B0702040204020203"/>
              </a:rPr>
              <a:t>SQL Query Linter</a:t>
            </a:r>
            <a:endParaRPr sz="1200" b="1" i="0">
              <a:solidFill>
                <a:srgbClr val="F4F1EA"/>
              </a:solidFill>
              <a:latin typeface="Segoe UI Semibold" panose="020B07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48074"/>
                </a:solidFill>
                <a:latin typeface="Segoe UI" panose="020B0502040204020203"/>
              </a:rPr>
              <a:t>&amp; Style Fixer</a:t>
            </a:r>
            <a:endParaRPr sz="12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914400" cy="254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01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Objective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02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6517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Problem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03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31546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Tech Stack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04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36576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Architecture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4160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05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" y="4160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Modules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4617720"/>
            <a:ext cx="73152" cy="384048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08A5C"/>
                </a:solidFill>
                <a:latin typeface="Consolas" panose="020B0609020204030204"/>
              </a:rPr>
              <a:t>06</a:t>
            </a:r>
            <a:endParaRPr sz="1100" b="1" i="0">
              <a:solidFill>
                <a:srgbClr val="108A5C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" y="46634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4F1EA"/>
                </a:solidFill>
                <a:latin typeface="Segoe UI Semibold" panose="020B0702040204020203"/>
              </a:rPr>
              <a:t>Advantages</a:t>
            </a:r>
            <a:endParaRPr sz="1250" b="1" i="0">
              <a:solidFill>
                <a:srgbClr val="F4F1EA"/>
              </a:solidFill>
              <a:latin typeface="Segoe UI Semibold" panose="020B07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51663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F78"/>
                </a:solidFill>
                <a:latin typeface="Consolas" panose="020B0609020204030204"/>
              </a:rPr>
              <a:t>07</a:t>
            </a:r>
            <a:endParaRPr sz="1100" b="0" i="0">
              <a:solidFill>
                <a:srgbClr val="6B6F78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" y="5166359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9DA4"/>
                </a:solidFill>
                <a:latin typeface="Segoe UI" panose="020B0502040204020203"/>
              </a:rPr>
              <a:t>Conclusion</a:t>
            </a:r>
            <a:endParaRPr sz="1250" b="0" i="0">
              <a:solidFill>
                <a:srgbClr val="9A9DA4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63550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48074"/>
                </a:solidFill>
                <a:latin typeface="Segoe UI" panose="020B0502040204020203"/>
              </a:rPr>
              <a:t>DIET · TEAM 20</a:t>
            </a:r>
            <a:endParaRPr sz="9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8892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08A5C"/>
                </a:solidFill>
                <a:latin typeface="Segoe UI Semibold" panose="020B0702040204020203"/>
              </a:rPr>
              <a:t>WHY IT MATTERS</a:t>
            </a:r>
            <a:endParaRPr sz="1200" b="1" i="0">
              <a:solidFill>
                <a:srgbClr val="108A5C"/>
              </a:solidFill>
              <a:latin typeface="Segoe UI Semibold" panose="020B07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920" y="84124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4181F"/>
                </a:solidFill>
                <a:latin typeface="Georgia" panose="02040502050405020303"/>
              </a:rPr>
              <a:t>Project Advantages</a:t>
            </a:r>
            <a:endParaRPr sz="36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08920" y="1572768"/>
            <a:ext cx="685800" cy="381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88920" y="1965960"/>
            <a:ext cx="2121408" cy="365760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88920" y="1965960"/>
            <a:ext cx="2121408" cy="635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29000" y="2331720"/>
            <a:ext cx="822960" cy="82296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08A5C"/>
                </a:solidFill>
                <a:latin typeface="Segoe UI Semibold" panose="020B0702040204020203"/>
              </a:rPr>
              <a:t>$</a:t>
            </a:r>
            <a:endParaRPr sz="2600" b="1" i="0">
              <a:solidFill>
                <a:srgbClr val="108A5C"/>
              </a:solidFill>
              <a:latin typeface="Segoe UI Semibold" panose="020B07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17520" y="3337560"/>
            <a:ext cx="16642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4181F"/>
                </a:solidFill>
                <a:latin typeface="Georgia" panose="02040502050405020303"/>
              </a:rPr>
              <a:t>Cost-Efficiency</a:t>
            </a:r>
            <a:endParaRPr sz="17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575304" y="4069080"/>
            <a:ext cx="548640" cy="254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297680"/>
            <a:ext cx="157276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Casing rules run locally at zero token cost, saving LLM bandwidth for semantic work.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0056" y="1965960"/>
            <a:ext cx="2121408" cy="365760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056" y="1965960"/>
            <a:ext cx="2121408" cy="63500"/>
          </a:xfrm>
          <a:prstGeom prst="rect">
            <a:avLst/>
          </a:prstGeom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60136" y="2331720"/>
            <a:ext cx="822960" cy="82296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0136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2563B"/>
                </a:solidFill>
                <a:latin typeface="Segoe UI Semibold" panose="020B0702040204020203"/>
              </a:rPr>
              <a:t>✓</a:t>
            </a:r>
            <a:endParaRPr sz="2600" b="1" i="0">
              <a:solidFill>
                <a:srgbClr val="E2563B"/>
              </a:solidFill>
              <a:latin typeface="Segoe UI Semibold" panose="020B07020402040202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48656" y="3337560"/>
            <a:ext cx="16642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4181F"/>
                </a:solidFill>
                <a:latin typeface="Georgia" panose="02040502050405020303"/>
              </a:rPr>
              <a:t>Syntax Security</a:t>
            </a:r>
            <a:endParaRPr sz="17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806440" y="4069080"/>
            <a:ext cx="548640" cy="25400"/>
          </a:xfrm>
          <a:prstGeom prst="rect">
            <a:avLst/>
          </a:prstGeom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94376" y="4297680"/>
            <a:ext cx="157276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A self-correcting loop guards the compiler — only valid SQL ships.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251192" y="1965960"/>
            <a:ext cx="2121408" cy="365760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51192" y="1965960"/>
            <a:ext cx="2121408" cy="63500"/>
          </a:xfrm>
          <a:prstGeom prst="rect">
            <a:avLst/>
          </a:prstGeom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91272" y="2331720"/>
            <a:ext cx="822960" cy="82296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91272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D5D8A"/>
                </a:solidFill>
                <a:latin typeface="Segoe UI Semibold" panose="020B0702040204020203"/>
              </a:rPr>
              <a:t>☁</a:t>
            </a:r>
            <a:endParaRPr sz="2600" b="1" i="0">
              <a:solidFill>
                <a:srgbClr val="2D5D8A"/>
              </a:solidFill>
              <a:latin typeface="Segoe UI Semibold" panose="020B07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79792" y="3337560"/>
            <a:ext cx="16642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4181F"/>
                </a:solidFill>
                <a:latin typeface="Georgia" panose="02040502050405020303"/>
              </a:rPr>
              <a:t>Cloud Ready</a:t>
            </a:r>
            <a:endParaRPr sz="17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037576" y="4069080"/>
            <a:ext cx="548640" cy="25400"/>
          </a:xfrm>
          <a:prstGeom prst="rect">
            <a:avLst/>
          </a:prstGeom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25512" y="4297680"/>
            <a:ext cx="157276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In-memory batch uploads run smoothly on isolated servers like Streamlit Cloud.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482328" y="1965960"/>
            <a:ext cx="2121408" cy="365760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82328" y="1965960"/>
            <a:ext cx="2121408" cy="63500"/>
          </a:xfrm>
          <a:prstGeom prst="rect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122408" y="2331720"/>
            <a:ext cx="822960" cy="82296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22408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A3E6B"/>
                </a:solidFill>
                <a:latin typeface="Segoe UI Semibold" panose="020B0702040204020203"/>
              </a:rPr>
              <a:t>⚙</a:t>
            </a:r>
            <a:endParaRPr sz="2600" b="1" i="0">
              <a:solidFill>
                <a:srgbClr val="7A3E6B"/>
              </a:solidFill>
              <a:latin typeface="Segoe UI Semibold" panose="020B07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710928" y="3337560"/>
            <a:ext cx="16642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4181F"/>
                </a:solidFill>
                <a:latin typeface="Georgia" panose="02040502050405020303"/>
              </a:rPr>
              <a:t>Pipeline Fit</a:t>
            </a:r>
            <a:endParaRPr sz="1700" b="1" i="0">
              <a:solidFill>
                <a:srgbClr val="14181F"/>
              </a:solidFill>
              <a:latin typeface="Georgia" panose="02040502050405020303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268712" y="4069080"/>
            <a:ext cx="548640" cy="25400"/>
          </a:xfrm>
          <a:prstGeom prst="rect">
            <a:avLst/>
          </a:prstGeom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4297680"/>
            <a:ext cx="157276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4049"/>
                </a:solidFill>
                <a:latin typeface="Segoe UI" panose="020B0502040204020203"/>
              </a:rPr>
              <a:t>Dual CLI + dashboard slots into debugging or Git pre-commit hooks.</a:t>
            </a:r>
            <a:endParaRPr sz="1200" b="0" i="0">
              <a:solidFill>
                <a:srgbClr val="3A404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08A5C"/>
                </a:solidFill>
                <a:latin typeface="Segoe UI Semibold" panose="020B0702040204020203"/>
              </a:rPr>
              <a:t>SUMMARY  ·  DADI INSTITUTE OF ENGINEERING AND TECHNOLOGY</a:t>
            </a:r>
            <a:endParaRPr sz="1200" b="1" i="0">
              <a:solidFill>
                <a:srgbClr val="108A5C"/>
              </a:solidFill>
              <a:latin typeface="Segoe UI Semibold" panose="020B07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4F1EA"/>
                </a:solidFill>
                <a:latin typeface="Georgia" panose="02040502050405020303"/>
              </a:rPr>
              <a:t>Conclusion</a:t>
            </a:r>
            <a:endParaRPr sz="4200" b="1" i="0">
              <a:solidFill>
                <a:srgbClr val="F4F1EA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731520" cy="38100"/>
          </a:xfrm>
          <a:prstGeom prst="rect">
            <a:avLst/>
          </a:prstGeom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F4F1EA"/>
                </a:solidFill>
                <a:latin typeface="Georgia" panose="02040502050405020303"/>
              </a:rPr>
              <a:t>The SQL Query Linter &amp; Style Fixer bridges the gap between </a:t>
            </a:r>
            <a:r>
              <a:rPr sz="2200" b="1" i="0">
                <a:solidFill>
                  <a:srgbClr val="108A5C"/>
                </a:solidFill>
                <a:latin typeface="Georgia" panose="02040502050405020303"/>
              </a:rPr>
              <a:t>rule-based cleaners</a:t>
            </a:r>
            <a:r>
              <a:rPr sz="2200" b="0" i="0">
                <a:solidFill>
                  <a:srgbClr val="F4F1EA"/>
                </a:solidFill>
                <a:latin typeface="Georgia" panose="02040502050405020303"/>
              </a:rPr>
              <a:t> and </a:t>
            </a:r>
            <a:r>
              <a:rPr sz="2200" b="1" i="0">
                <a:solidFill>
                  <a:srgbClr val="108A5C"/>
                </a:solidFill>
                <a:latin typeface="Georgia" panose="02040502050405020303"/>
              </a:rPr>
              <a:t>AI-driven refactoring</a:t>
            </a:r>
            <a:r>
              <a:rPr sz="2200" b="0" i="0">
                <a:solidFill>
                  <a:srgbClr val="F4F1EA"/>
                </a:solidFill>
                <a:latin typeface="Georgia" panose="02040502050405020303"/>
              </a:rPr>
              <a:t> — delivering clean, optimized and verifiably correct SQL.</a:t>
            </a:r>
            <a:endParaRPr sz="2200" b="0" i="0">
              <a:solidFill>
                <a:srgbClr val="F4F1EA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08A5C"/>
                </a:solidFill>
                <a:latin typeface="Segoe UI Semibold" panose="020B0702040204020203"/>
              </a:rPr>
              <a:t>✓</a:t>
            </a:r>
            <a:endParaRPr sz="2000" b="1" i="0">
              <a:solidFill>
                <a:srgbClr val="108A5C"/>
              </a:solidFill>
              <a:latin typeface="Segoe UI Semibold" panose="020B07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34440" y="422452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4F1EA"/>
                </a:solidFill>
                <a:latin typeface="Segoe UI Semibold" panose="020B0702040204020203"/>
              </a:rPr>
              <a:t>Faster workflow</a:t>
            </a:r>
            <a:endParaRPr sz="1450" b="1" i="0">
              <a:solidFill>
                <a:srgbClr val="F4F1EA"/>
              </a:solidFill>
              <a:latin typeface="Segoe UI Semibold" panose="020B07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457200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7BBC2"/>
                </a:solidFill>
                <a:latin typeface="Segoe UI" panose="020B0502040204020203"/>
              </a:rPr>
              <a:t>Speed &amp; audit readiness for legacy SQL.</a:t>
            </a:r>
            <a:endParaRPr sz="1150" b="0" i="0">
              <a:solidFill>
                <a:srgbClr val="B7BBC2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6160" y="4206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2563B"/>
                </a:solidFill>
                <a:latin typeface="Segoe UI Semibold" panose="020B0702040204020203"/>
              </a:rPr>
              <a:t>✓</a:t>
            </a:r>
            <a:endParaRPr sz="2000" b="1" i="0">
              <a:solidFill>
                <a:srgbClr val="E2563B"/>
              </a:solidFill>
              <a:latin typeface="Segoe UI Semibold" panose="020B07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77640" y="422452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4F1EA"/>
                </a:solidFill>
                <a:latin typeface="Segoe UI Semibold" panose="020B0702040204020203"/>
              </a:rPr>
              <a:t>Guaranteed integrity</a:t>
            </a:r>
            <a:endParaRPr sz="1450" b="1" i="0">
              <a:solidFill>
                <a:srgbClr val="F4F1EA"/>
              </a:solidFill>
              <a:latin typeface="Segoe UI Semibold" panose="020B07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77640" y="457200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7BBC2"/>
                </a:solidFill>
                <a:latin typeface="Segoe UI" panose="020B0502040204020203"/>
              </a:rPr>
              <a:t>AST validation loop ensures compilation.</a:t>
            </a:r>
            <a:endParaRPr sz="1150" b="0" i="0">
              <a:solidFill>
                <a:srgbClr val="B7BBC2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9360" y="4206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8962E"/>
                </a:solidFill>
                <a:latin typeface="Segoe UI Semibold" panose="020B0702040204020203"/>
              </a:rPr>
              <a:t>✓</a:t>
            </a:r>
            <a:endParaRPr sz="2000" b="1" i="0">
              <a:solidFill>
                <a:srgbClr val="C8962E"/>
              </a:solidFill>
              <a:latin typeface="Segoe UI Semibold" panose="020B07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20840" y="422452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4F1EA"/>
                </a:solidFill>
                <a:latin typeface="Segoe UI Semibold" panose="020B0702040204020203"/>
              </a:rPr>
              <a:t>Lower complexity</a:t>
            </a:r>
            <a:endParaRPr sz="1450" b="1" i="0">
              <a:solidFill>
                <a:srgbClr val="F4F1EA"/>
              </a:solidFill>
              <a:latin typeface="Segoe UI Semibold" panose="020B07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0840" y="457200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7BBC2"/>
                </a:solidFill>
                <a:latin typeface="Segoe UI" panose="020B0502040204020203"/>
              </a:rPr>
              <a:t>Subqueries→CTEs, implicit→explicit joins.</a:t>
            </a:r>
            <a:endParaRPr sz="1150" b="0" i="0">
              <a:solidFill>
                <a:srgbClr val="B7BBC2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52560" y="4206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2D5D8A"/>
                </a:solidFill>
                <a:latin typeface="Segoe UI Semibold" panose="020B0702040204020203"/>
              </a:rPr>
              <a:t>✓</a:t>
            </a:r>
            <a:endParaRPr sz="2000" b="1" i="0">
              <a:solidFill>
                <a:srgbClr val="2D5D8A"/>
              </a:solidFill>
              <a:latin typeface="Segoe UI Semibold" panose="020B07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464040" y="422452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4F1EA"/>
                </a:solidFill>
                <a:latin typeface="Segoe UI Semibold" panose="020B0702040204020203"/>
              </a:rPr>
              <a:t>Flexible integration</a:t>
            </a:r>
            <a:endParaRPr sz="1450" b="1" i="0">
              <a:solidFill>
                <a:srgbClr val="F4F1EA"/>
              </a:solidFill>
              <a:latin typeface="Segoe UI Semibold" panose="020B07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64040" y="457200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7BBC2"/>
                </a:solidFill>
                <a:latin typeface="Segoe UI" panose="020B0502040204020203"/>
              </a:rPr>
              <a:t>Cloud dashboard + automated CLI.</a:t>
            </a:r>
            <a:endParaRPr sz="1150" b="0" i="0">
              <a:solidFill>
                <a:srgbClr val="B7BBC2"/>
              </a:solidFill>
              <a:latin typeface="Segoe UI" panose="020B0502040204020203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2960" y="5760720"/>
            <a:ext cx="10515600" cy="12700"/>
          </a:xfrm>
          <a:prstGeom prst="rect">
            <a:avLst/>
          </a:prstGeom>
          <a:solidFill>
            <a:srgbClr val="333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08A5C"/>
                </a:solidFill>
                <a:latin typeface="Segoe UI Semibold" panose="020B0702040204020203"/>
              </a:rPr>
              <a:t>Team 20</a:t>
            </a:r>
            <a:r>
              <a:rPr sz="1200" b="0" i="0">
                <a:solidFill>
                  <a:srgbClr val="848074"/>
                </a:solidFill>
                <a:latin typeface="Segoe UI" panose="020B0502040204020203"/>
              </a:rPr>
              <a:t>   ·   Penta Satwika · Bharath Pyla · Aythi Eswar · Dadi James</a:t>
            </a:r>
            <a:endParaRPr sz="1200" b="0" i="0">
              <a:solidFill>
                <a:srgbClr val="848074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F4F1EA"/>
                </a:solidFill>
                <a:latin typeface="Georgia" panose="02040502050405020303"/>
              </a:rPr>
              <a:t>Thank You</a:t>
            </a:r>
            <a:endParaRPr sz="1600" b="1" i="1">
              <a:solidFill>
                <a:srgbClr val="F4F1EA"/>
              </a:solidFill>
              <a:latin typeface="Georgia" panose="020405020504050203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4360</Words>
  <Application>WPS Presentation</Application>
  <PresentationFormat>On-screen Show (4:3)</PresentationFormat>
  <Paragraphs>479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Arial</vt:lpstr>
      <vt:lpstr>Segoe UI Semibold</vt:lpstr>
      <vt:lpstr>Segoe UI</vt:lpstr>
      <vt:lpstr>Georgia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Penta Akhil</cp:lastModifiedBy>
  <cp:revision>2</cp:revision>
  <dcterms:created xsi:type="dcterms:W3CDTF">2013-01-27T09:14:00Z</dcterms:created>
  <dcterms:modified xsi:type="dcterms:W3CDTF">2026-06-16T16:42:43Z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696104F9C060461598E1E236F53BAE49_12</vt:lpwstr>
  </property>
  <property fmtid="{D5CDD505-2E9C-101B-9397-08002B2CF9AE}" pid="3" name="KSOProductBuildVer">
    <vt:lpwstr>1033-12.1.0.26880</vt:lpwstr>
  </property>
</Properties>
</file>