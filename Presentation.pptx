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17352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5000" b="1">
                <a:solidFill>
                  <a:srgbClr val="F8FAFC"/>
                </a:solidFill>
                <a:latin typeface="Segoe UI"/>
              </a:defRPr>
            </a:pPr>
            <a:r>
              <a:t>SQL Query Linter &amp; Style Fixer</a:t>
            </a:r>
          </a:p>
          <a:p>
            <a:pPr>
              <a:spcBef>
                <a:spcPts val="1200"/>
              </a:spcBef>
              <a:defRPr sz="2200" b="1">
                <a:solidFill>
                  <a:srgbClr val="22D3EE"/>
                </a:solidFill>
                <a:latin typeface="Segoe UI"/>
              </a:defRPr>
            </a:pPr>
            <a:r>
              <a:t>Hybrid Local-AI Database Optimization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657600"/>
            <a:ext cx="10817352" cy="1828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10817352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2D3EE"/>
                </a:solidFill>
                <a:latin typeface="Segoe UI"/>
              </a:defRPr>
            </a:pPr>
            <a:r>
              <a:t>DEVELOPED BY: TEAM 20</a:t>
            </a:r>
          </a:p>
          <a:p>
            <a:pPr>
              <a:spcBef>
                <a:spcPts val="300"/>
              </a:spcBef>
              <a:defRPr sz="1250">
                <a:solidFill>
                  <a:srgbClr val="CBD5E1"/>
                </a:solidFill>
                <a:latin typeface="Segoe UI"/>
              </a:defRPr>
            </a:pPr>
            <a:r>
              <a:t>Penta Satwika (23U41A4245) - Lead Streamlit UI &amp; Dashboard Developer</a:t>
            </a:r>
          </a:p>
          <a:p>
            <a:pPr>
              <a:spcBef>
                <a:spcPts val="300"/>
              </a:spcBef>
              <a:defRPr sz="1250">
                <a:solidFill>
                  <a:srgbClr val="CBD5E1"/>
                </a:solidFill>
                <a:latin typeface="Segoe UI"/>
              </a:defRPr>
            </a:pPr>
            <a:r>
              <a:t>Bharath Pyla (23U41A0536) - Core SQL Parser &amp; Spacing Engine Architect</a:t>
            </a:r>
          </a:p>
          <a:p>
            <a:pPr>
              <a:spcBef>
                <a:spcPts val="300"/>
              </a:spcBef>
              <a:defRPr sz="1250">
                <a:solidFill>
                  <a:srgbClr val="CBD5E1"/>
                </a:solidFill>
                <a:latin typeface="Segoe UI"/>
              </a:defRPr>
            </a:pPr>
            <a:r>
              <a:t>Aythi Eswar (23U41A0406) - Gemini LLM Prompt Engineer &amp; AI Architect</a:t>
            </a:r>
          </a:p>
          <a:p>
            <a:pPr>
              <a:spcBef>
                <a:spcPts val="300"/>
              </a:spcBef>
              <a:defRPr sz="1250">
                <a:solidFill>
                  <a:srgbClr val="CBD5E1"/>
                </a:solidFill>
                <a:latin typeface="Segoe UI"/>
              </a:defRPr>
            </a:pPr>
            <a:r>
              <a:t>Dadi James (24U45A0212) - AST Validation Loop &amp; QA Tester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Objective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2743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0936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0"/>
              </a:spcAft>
              <a:defRPr sz="1900">
                <a:solidFill>
                  <a:srgbClr val="CBD5E1"/>
                </a:solidFill>
                <a:latin typeface="Segoe UI"/>
              </a:defRPr>
            </a:pPr>
            <a:r>
              <a:t>To build a robust database utility that automates layout formatting, syntax cleansing, and structural optimization for database development teams by merging client-side deterministic parsers with serverless Large Language Models.</a:t>
            </a:r>
          </a:p>
          <a:p>
            <a:pPr>
              <a:spcBef>
                <a:spcPts val="8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•  Standardize mixed casings (camelCase/PascalCase) into uniform lowercase snake_case.</a:t>
            </a:r>
          </a:p>
          <a:p>
            <a:pPr>
              <a:spcBef>
                <a:spcPts val="8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•  Enforce SQL keywords capitalization rules locally at zero compute cost.</a:t>
            </a:r>
          </a:p>
          <a:p>
            <a:pPr>
              <a:spcBef>
                <a:spcPts val="8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•  Isolate and purge markdown formatting artifacts to safeguard downstream compiler integrity.</a:t>
            </a:r>
          </a:p>
          <a:p>
            <a:pPr>
              <a:spcBef>
                <a:spcPts val="8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•  Refactor implicit comma-joins and nested subqueries into explicit joins and Common Table Expressions (CTEs) via AI logic.</a:t>
            </a:r>
          </a:p>
          <a:p>
            <a:pPr>
              <a:spcBef>
                <a:spcPts val="8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•  Secure syntax correctness using an in-memory Abstract Syntax Tree validation loop.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2743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0936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550">
                <a:solidFill>
                  <a:srgbClr val="CBD5E1"/>
                </a:solidFill>
                <a:latin typeface="Segoe UI"/>
              </a:defRPr>
            </a:pPr>
            <a:r>
              <a:t>•  Inconsistent Casing: Mixed naming structures (camelCase, PascalCase, lowercase) create style violations and audit complications.</a:t>
            </a:r>
          </a:p>
          <a:p>
            <a:pPr>
              <a:spcAft>
                <a:spcPts val="1200"/>
              </a:spcAft>
              <a:defRPr sz="1550">
                <a:solidFill>
                  <a:srgbClr val="CBD5E1"/>
                </a:solidFill>
                <a:latin typeface="Segoe UI"/>
              </a:defRPr>
            </a:pPr>
            <a:r>
              <a:t>•  Legacy Join Syntax: Extensive usage of implicit comma-joins (e.g., FROM TableA, TableB WHERE A.id = B.id) obscures join pathways and increases maintenance overhead.</a:t>
            </a:r>
          </a:p>
          <a:p>
            <a:pPr>
              <a:spcAft>
                <a:spcPts val="1200"/>
              </a:spcAft>
              <a:defRPr sz="1550">
                <a:solidFill>
                  <a:srgbClr val="CBD5E1"/>
                </a:solidFill>
                <a:latin typeface="Segoe UI"/>
              </a:defRPr>
            </a:pPr>
            <a:r>
              <a:t>•  Complex Subquery Nesting: Deeply nested SELECT projections decrease readability and limit database optimizer index lookup performance.</a:t>
            </a:r>
          </a:p>
          <a:p>
            <a:pPr>
              <a:spcAft>
                <a:spcPts val="1200"/>
              </a:spcAft>
              <a:defRPr sz="1550">
                <a:solidFill>
                  <a:srgbClr val="CBD5E1"/>
                </a:solidFill>
                <a:latin typeface="Segoe UI"/>
              </a:defRPr>
            </a:pPr>
            <a:r>
              <a:t>•  Cost Inflation: Unrestricted use of SELECT * drives up cloud data processing costs under pay-per-query models.</a:t>
            </a:r>
          </a:p>
          <a:p>
            <a:pPr>
              <a:spcAft>
                <a:spcPts val="1200"/>
              </a:spcAft>
              <a:defRPr sz="1550">
                <a:solidFill>
                  <a:srgbClr val="CBD5E1"/>
                </a:solidFill>
                <a:latin typeface="Segoe UI"/>
              </a:defRPr>
            </a:pPr>
            <a:r>
              <a:t>•  Validation Vulnerability: Rule-based linters only clean basic whitespace, whereas raw LLM optimization agents can hallucinate and generate syntactically broken SQL queries.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Technologies 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2743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0936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50" b="1">
                <a:solidFill>
                  <a:srgbClr val="22D3EE"/>
                </a:solidFill>
                <a:latin typeface="Segoe UI"/>
              </a:defRPr>
            </a:pPr>
            <a:r>
              <a:t>•  Python: </a:t>
            </a:r>
            <a:r>
              <a:rPr sz="1550" b="0">
                <a:solidFill>
                  <a:srgbClr val="CBD5E1"/>
                </a:solidFill>
                <a:latin typeface="Segoe UI"/>
              </a:rPr>
              <a:t>Core language for deterministic regex compilation, script execution, and API routing.</a:t>
            </a:r>
          </a:p>
          <a:p>
            <a:pPr>
              <a:spcAft>
                <a:spcPts val="1000"/>
              </a:spcAft>
              <a:defRPr sz="1550" b="1">
                <a:solidFill>
                  <a:srgbClr val="22D3EE"/>
                </a:solidFill>
                <a:latin typeface="Segoe UI"/>
              </a:defRPr>
            </a:pPr>
            <a:r>
              <a:t>•  Streamlit Framework: </a:t>
            </a:r>
            <a:r>
              <a:rPr sz="1550" b="0">
                <a:solidFill>
                  <a:srgbClr val="CBD5E1"/>
                </a:solidFill>
                <a:latin typeface="Segoe UI"/>
              </a:rPr>
              <a:t>For designing the user interface dashboard workspace, the batch file uploader, and in-memory downloads.</a:t>
            </a:r>
          </a:p>
          <a:p>
            <a:pPr>
              <a:spcAft>
                <a:spcPts val="1000"/>
              </a:spcAft>
              <a:defRPr sz="1550" b="1">
                <a:solidFill>
                  <a:srgbClr val="22D3EE"/>
                </a:solidFill>
                <a:latin typeface="Segoe UI"/>
              </a:defRPr>
            </a:pPr>
            <a:r>
              <a:t>•  Google Gemini API (gemini-2.5-flash): </a:t>
            </a:r>
            <a:r>
              <a:rPr sz="1550" b="0">
                <a:solidFill>
                  <a:srgbClr val="CBD5E1"/>
                </a:solidFill>
                <a:latin typeface="Segoe UI"/>
              </a:rPr>
              <a:t>Serverless AI model utilized for semantic query refactoring (CTEs, Joins) configured with low temperature (0.1) and few-shot examples.</a:t>
            </a:r>
          </a:p>
          <a:p>
            <a:pPr>
              <a:spcAft>
                <a:spcPts val="1000"/>
              </a:spcAft>
              <a:defRPr sz="1550" b="1">
                <a:solidFill>
                  <a:srgbClr val="22D3EE"/>
                </a:solidFill>
                <a:latin typeface="Segoe UI"/>
              </a:defRPr>
            </a:pPr>
            <a:r>
              <a:t>•  sqlglot Parser: </a:t>
            </a:r>
            <a:r>
              <a:rPr sz="1550" b="0">
                <a:solidFill>
                  <a:srgbClr val="CBD5E1"/>
                </a:solidFill>
                <a:latin typeface="Segoe UI"/>
              </a:rPr>
              <a:t>Local dialect-aware parser used to pretty-print statements and validate AST syntax inside the correction loop.</a:t>
            </a:r>
          </a:p>
          <a:p>
            <a:pPr>
              <a:spcAft>
                <a:spcPts val="1000"/>
              </a:spcAft>
              <a:defRPr sz="1550" b="1">
                <a:solidFill>
                  <a:srgbClr val="22D3EE"/>
                </a:solidFill>
                <a:latin typeface="Segoe UI"/>
              </a:defRPr>
            </a:pPr>
            <a:r>
              <a:t>•  difflib: </a:t>
            </a:r>
            <a:r>
              <a:rPr sz="1550" b="0">
                <a:solidFill>
                  <a:srgbClr val="CBD5E1"/>
                </a:solidFill>
                <a:latin typeface="Segoe UI"/>
              </a:rPr>
              <a:t>Native engine used to compile unified diff reports between raw query inputs and optimized outputs.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System Architecture &amp;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2743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0936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22D3EE"/>
                </a:solidFill>
                <a:latin typeface="Segoe UI"/>
              </a:defRPr>
            </a:pPr>
            <a:r>
              <a:t>Sequential Processing Pipeline Layout</a:t>
            </a:r>
          </a:p>
          <a:p>
            <a:pPr>
              <a:spcAft>
                <a:spcPts val="800"/>
              </a:spcAft>
              <a:defRPr sz="1400">
                <a:solidFill>
                  <a:srgbClr val="CBD5E1"/>
                </a:solidFill>
                <a:latin typeface="Segoe UI"/>
              </a:defRPr>
            </a:pPr>
            <a:r>
              <a:t>1. Query Input -&gt; Sandbox Area, File Uploader, or CLI batch scanner reads statement.</a:t>
            </a:r>
          </a:p>
          <a:p>
            <a:pPr>
              <a:spcAft>
                <a:spcPts val="800"/>
              </a:spcAft>
              <a:defRPr sz="1400">
                <a:solidFill>
                  <a:srgbClr val="CBD5E1"/>
                </a:solidFill>
                <a:latin typeface="Segoe UI"/>
              </a:defRPr>
            </a:pPr>
            <a:r>
              <a:t>2. Input Sanitization -&gt; strip_markdown_artifacts() strips code blocks, bold asterisks, and italic underscores safely.</a:t>
            </a:r>
          </a:p>
          <a:p>
            <a:pPr>
              <a:spcAft>
                <a:spcPts val="800"/>
              </a:spcAft>
              <a:defRPr sz="1400">
                <a:solidFill>
                  <a:srgbClr val="CBD5E1"/>
                </a:solidFill>
                <a:latin typeface="Segoe UI"/>
              </a:defRPr>
            </a:pPr>
            <a:r>
              <a:t>3. Phase 1 Linter -&gt; Deterministic capitalization of standard keywords, regex-based conversion of camelCase to snake_case, and SELECT * diagnostic checks.</a:t>
            </a:r>
          </a:p>
          <a:p>
            <a:pPr>
              <a:spcAft>
                <a:spcPts val="800"/>
              </a:spcAft>
              <a:defRPr sz="1400">
                <a:solidFill>
                  <a:srgbClr val="CBD5E1"/>
                </a:solidFill>
                <a:latin typeface="Segoe UI"/>
              </a:defRPr>
            </a:pPr>
            <a:r>
              <a:t>4. Phase 2 Refactor -&gt; gemini-2.5-flash receives baseline formatting and optimizes syntax structures (implicit joins to explicit joins, subqueries to CTEs).</a:t>
            </a:r>
          </a:p>
          <a:p>
            <a:pPr>
              <a:spcAft>
                <a:spcPts val="800"/>
              </a:spcAft>
              <a:defRPr sz="1400">
                <a:solidFill>
                  <a:srgbClr val="CBD5E1"/>
                </a:solidFill>
                <a:latin typeface="Segoe UI"/>
              </a:defRPr>
            </a:pPr>
            <a:r>
              <a:t>5. Self-Correction Loop -&gt; Output SQL is evaluated by local parser. If syntax errors occur, the traceback is fed back to the LLM to self-heal (up to 3 iterations).</a:t>
            </a:r>
          </a:p>
          <a:p>
            <a:pPr>
              <a:spcAft>
                <a:spcPts val="800"/>
              </a:spcAft>
              <a:defRPr sz="1400">
                <a:solidFill>
                  <a:srgbClr val="CBD5E1"/>
                </a:solidFill>
                <a:latin typeface="Segoe UI"/>
              </a:defRPr>
            </a:pPr>
            <a:r>
              <a:t>6. Finalization -&gt; Renders refactored SQL inside copyable st.code frames and outputs colored diff blocks.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Modules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2743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0936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22D3EE"/>
                </a:solidFill>
                <a:latin typeface="Segoe UI"/>
              </a:defRPr>
            </a:pPr>
            <a:r>
              <a:t>•  Sanitization &amp; Cleaning Module: </a:t>
            </a:r>
            <a:r>
              <a:rPr sz="1500" b="0">
                <a:solidFill>
                  <a:srgbClr val="CBD5E1"/>
                </a:solidFill>
                <a:latin typeface="Segoe UI"/>
              </a:rPr>
              <a:t>Contains lookbehind/lookahead regular expressions that clean styling artifacts from incoming text without corrupting snake_case columns.</a:t>
            </a:r>
          </a:p>
          <a:p>
            <a:pPr>
              <a:spcAft>
                <a:spcPts val="1000"/>
              </a:spcAft>
              <a:defRPr sz="1500" b="1">
                <a:solidFill>
                  <a:srgbClr val="22D3EE"/>
                </a:solidFill>
                <a:latin typeface="Segoe UI"/>
              </a:defRPr>
            </a:pPr>
            <a:r>
              <a:t>•  Phase 1: Local Linter Module: </a:t>
            </a:r>
            <a:r>
              <a:rPr sz="1500" b="0">
                <a:solidFill>
                  <a:srgbClr val="CBD5E1"/>
                </a:solidFill>
                <a:latin typeface="Segoe UI"/>
              </a:rPr>
              <a:t>Zero-cost deterministic casing cleaner and capitalization compiler. Enforces standard keywords and casing conventions locally before network calls.</a:t>
            </a:r>
          </a:p>
          <a:p>
            <a:pPr>
              <a:spcAft>
                <a:spcPts val="1000"/>
              </a:spcAft>
              <a:defRPr sz="1500" b="1">
                <a:solidFill>
                  <a:srgbClr val="22D3EE"/>
                </a:solidFill>
                <a:latin typeface="Segoe UI"/>
              </a:defRPr>
            </a:pPr>
            <a:r>
              <a:t>•  Phase 2: AI Refactoring Module: </a:t>
            </a:r>
            <a:r>
              <a:rPr sz="1500" b="0">
                <a:solidFill>
                  <a:srgbClr val="CBD5E1"/>
                </a:solidFill>
                <a:latin typeface="Segoe UI"/>
              </a:rPr>
              <a:t>Leverages Gemini LLM with few-shot instructions to translate legacy comma-joins and extract subqueries into CTEs.</a:t>
            </a:r>
          </a:p>
          <a:p>
            <a:pPr>
              <a:spcAft>
                <a:spcPts val="1000"/>
              </a:spcAft>
              <a:defRPr sz="1500" b="1">
                <a:solidFill>
                  <a:srgbClr val="22D3EE"/>
                </a:solidFill>
                <a:latin typeface="Segoe UI"/>
              </a:defRPr>
            </a:pPr>
            <a:r>
              <a:t>•  Validation &amp; Critic Module: </a:t>
            </a:r>
            <a:r>
              <a:rPr sz="1500" b="0">
                <a:solidFill>
                  <a:srgbClr val="CBD5E1"/>
                </a:solidFill>
                <a:latin typeface="Segoe UI"/>
              </a:rPr>
              <a:t>Compares LLM outputs against local syntax rules using sqlglot, orchestrating the self-correcting logic loop if discrepancies are found.</a:t>
            </a:r>
          </a:p>
          <a:p>
            <a:pPr>
              <a:spcAft>
                <a:spcPts val="1000"/>
              </a:spcAft>
              <a:defRPr sz="1500" b="1">
                <a:solidFill>
                  <a:srgbClr val="22D3EE"/>
                </a:solidFill>
                <a:latin typeface="Segoe UI"/>
              </a:defRPr>
            </a:pPr>
            <a:r>
              <a:t>•  Interface &amp; Download Module: </a:t>
            </a:r>
            <a:r>
              <a:rPr sz="1500" b="0">
                <a:solidFill>
                  <a:srgbClr val="CBD5E1"/>
                </a:solidFill>
                <a:latin typeface="Segoe UI"/>
              </a:rPr>
              <a:t>Manages dual Streamlit and CLI interfaces, in-memory uploads, diff blocks rendering, and download actions.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Project Advantages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2743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0936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550" b="1">
                <a:solidFill>
                  <a:srgbClr val="22D3EE"/>
                </a:solidFill>
                <a:latin typeface="Segoe UI"/>
              </a:defRPr>
            </a:pPr>
            <a:r>
              <a:t>•  Cost-Efficiency: </a:t>
            </a:r>
            <a:r>
              <a:rPr sz="1550" b="0">
                <a:solidFill>
                  <a:srgbClr val="CBD5E1"/>
                </a:solidFill>
                <a:latin typeface="Segoe UI"/>
              </a:rPr>
              <a:t>Capitalization and casing rules run locally at zero token cost, conserving expensive LLM API bandwidth for semantic restructuring tasks.</a:t>
            </a:r>
          </a:p>
          <a:p>
            <a:pPr>
              <a:spcAft>
                <a:spcPts val="1200"/>
              </a:spcAft>
              <a:defRPr sz="1550" b="1">
                <a:solidFill>
                  <a:srgbClr val="22D3EE"/>
                </a:solidFill>
                <a:latin typeface="Segoe UI"/>
              </a:defRPr>
            </a:pPr>
            <a:r>
              <a:t>•  Syntax Security: </a:t>
            </a:r>
            <a:r>
              <a:rPr sz="1550" b="0">
                <a:solidFill>
                  <a:srgbClr val="CBD5E1"/>
                </a:solidFill>
                <a:latin typeface="Segoe UI"/>
              </a:rPr>
              <a:t>The self-correcting validation loop acts as a compiler guard, preventing code hallucinations and ensuring the user only receives valid, executable SQL.</a:t>
            </a:r>
          </a:p>
          <a:p>
            <a:pPr>
              <a:spcAft>
                <a:spcPts val="1200"/>
              </a:spcAft>
              <a:defRPr sz="1550" b="1">
                <a:solidFill>
                  <a:srgbClr val="22D3EE"/>
                </a:solidFill>
                <a:latin typeface="Segoe UI"/>
              </a:defRPr>
            </a:pPr>
            <a:r>
              <a:t>•  Cloud Deployability: </a:t>
            </a:r>
            <a:r>
              <a:rPr sz="1550" b="0">
                <a:solidFill>
                  <a:srgbClr val="CBD5E1"/>
                </a:solidFill>
                <a:latin typeface="Segoe UI"/>
              </a:rPr>
              <a:t>Supports in-memory batch file uploads, allowing the application to run smoothly on isolated cloud deployment servers like Streamlit Community Cloud.</a:t>
            </a:r>
          </a:p>
          <a:p>
            <a:pPr>
              <a:spcAft>
                <a:spcPts val="1200"/>
              </a:spcAft>
              <a:defRPr sz="1550" b="1">
                <a:solidFill>
                  <a:srgbClr val="22D3EE"/>
                </a:solidFill>
                <a:latin typeface="Segoe UI"/>
              </a:defRPr>
            </a:pPr>
            <a:r>
              <a:t>•  Pipeline Integration: </a:t>
            </a:r>
            <a:r>
              <a:rPr sz="1550" b="0">
                <a:solidFill>
                  <a:srgbClr val="CBD5E1"/>
                </a:solidFill>
                <a:latin typeface="Segoe UI"/>
              </a:rPr>
              <a:t>Dual CLI and web dashboard structure allows the tool to fit seamlessly into single-query debugging sessions or automated Git pre-commit hooks.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2743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0936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64748B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0"/>
              </a:spcAft>
              <a:defRPr sz="1900" b="1">
                <a:solidFill>
                  <a:srgbClr val="22D3EE"/>
                </a:solidFill>
                <a:latin typeface="Segoe UI"/>
              </a:defRPr>
            </a:pPr>
            <a:r>
              <a:t>The SQL Query Linter &amp; Style Fixer successfully bridges the gap between rule-based style cleaners and AI-driven semantic query model refactoring.</a:t>
            </a:r>
          </a:p>
          <a:p>
            <a:pPr>
              <a:spcBef>
                <a:spcPts val="8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•  Optimizes developer workflow speed and audit readiness for legacy SQL codebases.</a:t>
            </a:r>
          </a:p>
          <a:p>
            <a:pPr>
              <a:spcBef>
                <a:spcPts val="8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•  Guarantees compilation integrity through an AST validation loop architecture.</a:t>
            </a:r>
          </a:p>
          <a:p>
            <a:pPr>
              <a:spcBef>
                <a:spcPts val="8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•  Reduces database runtime search complexity by converting nested subqueries to CTEs and implicit comma-joins to explicit joins.</a:t>
            </a:r>
          </a:p>
          <a:p>
            <a:pPr>
              <a:spcBef>
                <a:spcPts val="8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•  Provides a cloud-deployable dashboard and automated CLI script to accommodate any integration pipeline environment.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