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10817352" cy="2103120"/>
          </a:xfrm>
          <a:prstGeom prst="roundRect">
            <a:avLst/>
          </a:prstGeom>
          <a:solidFill>
            <a:srgbClr val="141A2B"/>
          </a:solidFill>
          <a:ln w="381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37160" cy="2103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Segoe UI"/>
              </a:defRPr>
            </a:pPr>
            <a:r>
              <a:t>SQL Query Linter &amp; Style Fixer</a:t>
            </a:r>
          </a:p>
          <a:p>
            <a:pPr>
              <a:spcBef>
                <a:spcPts val="800"/>
              </a:spcBef>
              <a:defRPr sz="2200" b="1">
                <a:solidFill>
                  <a:srgbClr val="06B6D4"/>
                </a:solidFill>
                <a:latin typeface="Segoe UI"/>
              </a:defRPr>
            </a:pPr>
            <a:r>
              <a:t>Hybrid Local-AI Database Optimization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566160"/>
            <a:ext cx="10817352" cy="24688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566160"/>
            <a:ext cx="109728" cy="24688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49039"/>
            <a:ext cx="10268712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8B5CF6"/>
                </a:solidFill>
                <a:latin typeface="Segoe UI"/>
              </a:defRPr>
            </a:pPr>
            <a:r>
              <a:t>DEVELOPED BY: TEAM 20</a:t>
            </a:r>
          </a:p>
          <a:p>
            <a:pPr>
              <a:spcBef>
                <a:spcPts val="300"/>
              </a:spcBef>
              <a:defRPr sz="1300">
                <a:solidFill>
                  <a:srgbClr val="BFDBFE"/>
                </a:solidFill>
                <a:latin typeface="Segoe UI"/>
              </a:defRPr>
            </a:pPr>
            <a:r>
              <a:t>Penta Satwika (23U41A4245) - Lead Streamlit UI &amp; Dashboard Developer</a:t>
            </a:r>
          </a:p>
          <a:p>
            <a:pPr>
              <a:spcBef>
                <a:spcPts val="300"/>
              </a:spcBef>
              <a:defRPr sz="1300">
                <a:solidFill>
                  <a:srgbClr val="BFDBFE"/>
                </a:solidFill>
                <a:latin typeface="Segoe UI"/>
              </a:defRPr>
            </a:pPr>
            <a:r>
              <a:t>Bharath Pyla (23U41A0536) - Core SQL Parser &amp; Spacing Engine Architect</a:t>
            </a:r>
          </a:p>
          <a:p>
            <a:pPr>
              <a:spcBef>
                <a:spcPts val="300"/>
              </a:spcBef>
              <a:defRPr sz="1300">
                <a:solidFill>
                  <a:srgbClr val="BFDBFE"/>
                </a:solidFill>
                <a:latin typeface="Segoe UI"/>
              </a:defRPr>
            </a:pPr>
            <a:r>
              <a:t>Aythi Eswar (23U41A0406) - Gemini LLM Prompt Engineer &amp; AI Architect</a:t>
            </a:r>
          </a:p>
          <a:p>
            <a:pPr>
              <a:spcBef>
                <a:spcPts val="300"/>
              </a:spcBef>
              <a:defRPr sz="1300">
                <a:solidFill>
                  <a:srgbClr val="BFDBFE"/>
                </a:solidFill>
                <a:latin typeface="Segoe UI"/>
              </a:defRPr>
            </a:pPr>
            <a:r>
              <a:t>Dadi James (24U45A0212) - AST Validation Loop &amp; QA Tester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5A6B8C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4297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defRPr sz="1900" b="1">
                <a:solidFill>
                  <a:srgbClr val="06B6D4"/>
                </a:solidFill>
                <a:latin typeface="Segoe UI"/>
              </a:defRPr>
            </a:pPr>
            <a:r>
              <a:t>To build a robust database utility that automates layout formatting, syntax cleansing, and structural optimization for database development teams by merging client-side deterministic parsers with serverless Large Language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645920"/>
            <a:ext cx="5605272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BFDBFE"/>
                </a:solidFill>
                <a:latin typeface="Segoe UI"/>
              </a:defRPr>
            </a:pPr>
            <a:r>
              <a:t>•  Standardize mixed casings (camelCase/PascalCase) into uniform lowercase snake_case.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BFDBFE"/>
                </a:solidFill>
                <a:latin typeface="Segoe UI"/>
              </a:defRPr>
            </a:pPr>
            <a:r>
              <a:t>•  Enforce SQL keywords capitalization rules locally at zero compute cost.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BFDBFE"/>
                </a:solidFill>
                <a:latin typeface="Segoe UI"/>
              </a:defRPr>
            </a:pPr>
            <a:r>
              <a:t>•  Isolate and purge markdown formatting artifacts to safeguard downstream compiler integrity.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BFDBFE"/>
                </a:solidFill>
                <a:latin typeface="Segoe UI"/>
              </a:defRPr>
            </a:pPr>
            <a:r>
              <a:t>•  Refactor implicit comma-joins and nested subqueries into explicit joins and Common Table Expressions (CTEs) via AI logic.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BFDBFE"/>
                </a:solidFill>
                <a:latin typeface="Segoe UI"/>
              </a:defRPr>
            </a:pPr>
            <a:r>
              <a:t>•  Secure syntax correctness using an in-memory Abstract Syntax Tree validation loop.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5A6B8C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874520"/>
            <a:ext cx="777240" cy="32004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Inconsistent Casing: </a:t>
            </a:r>
            <a:r>
              <a:rPr sz="1300" b="0">
                <a:solidFill>
                  <a:srgbClr val="BFDBFE"/>
                </a:solidFill>
                <a:latin typeface="Segoe UI"/>
              </a:rPr>
              <a:t>Mixed naming structures (camelCase, PascalCase, lowercase) create style violations and audit complications.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743200"/>
            <a:ext cx="777240" cy="32004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8775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Legacy Join Syntax: </a:t>
            </a:r>
            <a:r>
              <a:rPr sz="1300" b="0">
                <a:solidFill>
                  <a:srgbClr val="BFDBFE"/>
                </a:solidFill>
                <a:latin typeface="Segoe UI"/>
              </a:rPr>
              <a:t>Extensive usage of implicit comma-joins obscures join pathways and increases maintenance overhead.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611880"/>
            <a:ext cx="777240" cy="32004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NEST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5643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Complex Subquery Nesting: </a:t>
            </a:r>
            <a:r>
              <a:rPr sz="1300" b="0">
                <a:solidFill>
                  <a:srgbClr val="BFDBFE"/>
                </a:solidFill>
                <a:latin typeface="Segoe UI"/>
              </a:rPr>
              <a:t>Deeply nested SELECT projections decrease readability and limit database optimizer index lookup performance.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480560"/>
            <a:ext cx="777240" cy="32004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32511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Cost Inflation: </a:t>
            </a:r>
            <a:r>
              <a:rPr sz="1300" b="0">
                <a:solidFill>
                  <a:srgbClr val="BFDBFE"/>
                </a:solidFill>
                <a:latin typeface="Segoe UI"/>
              </a:rPr>
              <a:t>Unrestricted use of SELECT * drives up cloud data processing costs under pay-per-query models.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840" y="5349240"/>
            <a:ext cx="777240" cy="32004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CRITIC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19379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Validation Vulnerability: </a:t>
            </a:r>
            <a:r>
              <a:rPr sz="1300" b="0">
                <a:solidFill>
                  <a:srgbClr val="BFDBFE"/>
                </a:solidFill>
                <a:latin typeface="Segoe UI"/>
              </a:rPr>
              <a:t>Rule-based linters only clean basic whitespace, whereas raw LLM optimization agents can hallucinate and generate syntactically broken SQL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Technologies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5A6B8C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87452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Python: </a:t>
            </a:r>
            <a:r>
              <a:rPr sz="1300" b="0">
                <a:solidFill>
                  <a:srgbClr val="BFDBFE"/>
                </a:solidFill>
                <a:latin typeface="Segoe UI"/>
              </a:rPr>
              <a:t>Core language for deterministic regex compilation, script execution, and API routing.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74320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8775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Streamlit Framework: </a:t>
            </a:r>
            <a:r>
              <a:rPr sz="1300" b="0">
                <a:solidFill>
                  <a:srgbClr val="BFDBFE"/>
                </a:solidFill>
                <a:latin typeface="Segoe UI"/>
              </a:rPr>
              <a:t>For designing the user interface dashboard workspace, the batch file uploader, and in-memory downloads.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61188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5643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Google Gemini API (gemini-2.5-flash): </a:t>
            </a:r>
            <a:r>
              <a:rPr sz="1300" b="0">
                <a:solidFill>
                  <a:srgbClr val="BFDBFE"/>
                </a:solidFill>
                <a:latin typeface="Segoe UI"/>
              </a:rPr>
              <a:t>Serverless AI model utilized for semantic query refactoring (CTEs, Joins) configured with low temperature (0.1) and few-shot examples.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48056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32511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sqlglot Parser: </a:t>
            </a:r>
            <a:r>
              <a:rPr sz="1300" b="0">
                <a:solidFill>
                  <a:srgbClr val="BFDBFE"/>
                </a:solidFill>
                <a:latin typeface="Segoe UI"/>
              </a:rPr>
              <a:t>Local dialect-aware parser used to pretty-print statements and validate AST syntax inside the correction loop.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840" y="534924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DIFF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19379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difflib: </a:t>
            </a:r>
            <a:r>
              <a:rPr sz="1300" b="0">
                <a:solidFill>
                  <a:srgbClr val="BFDBFE"/>
                </a:solidFill>
                <a:latin typeface="Segoe UI"/>
              </a:rPr>
              <a:t>Native engine used to compile unified diff reports between raw query inputs and optimized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System Architecture &amp;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5A6B8C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6400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80594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Query Input: </a:t>
            </a:r>
            <a:r>
              <a:rPr sz="1300" b="0">
                <a:solidFill>
                  <a:srgbClr val="BFDBFE"/>
                </a:solidFill>
                <a:latin typeface="Segoe UI"/>
              </a:rPr>
              <a:t>Sandbox Area, File Uploader, or CLI batch scanner reads statement.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77440"/>
            <a:ext cx="10817352" cy="6400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377440"/>
            <a:ext cx="109728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53746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45059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Sanitization: </a:t>
            </a:r>
            <a:r>
              <a:rPr sz="1300" b="0">
                <a:solidFill>
                  <a:srgbClr val="BFDBFE"/>
                </a:solidFill>
                <a:latin typeface="Segoe UI"/>
              </a:rPr>
              <a:t>strip_markdown_artifacts() strips code blocks, bold asterisks, and italic underscores safely.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08960"/>
            <a:ext cx="10817352" cy="6400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108960"/>
            <a:ext cx="109728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26898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18211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Phase 1 Linter: </a:t>
            </a:r>
            <a:r>
              <a:rPr sz="1300" b="0">
                <a:solidFill>
                  <a:srgbClr val="BFDBFE"/>
                </a:solidFill>
                <a:latin typeface="Segoe UI"/>
              </a:rPr>
              <a:t>Deterministic capitalization of standard keywords, regex-based conversion of camelCase to snake_case, and SELECT * checks.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40480"/>
            <a:ext cx="10817352" cy="6400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840480"/>
            <a:ext cx="109728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00050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91363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Phase 2 Refactor: </a:t>
            </a:r>
            <a:r>
              <a:rPr sz="1300" b="0">
                <a:solidFill>
                  <a:srgbClr val="BFDBFE"/>
                </a:solidFill>
                <a:latin typeface="Segoe UI"/>
              </a:rPr>
              <a:t>gemini-2.5-flash receives baseline formatting and optimizes syntax structures (implicit joins, subqueries).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72000"/>
            <a:ext cx="10817352" cy="6400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572000"/>
            <a:ext cx="109728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840" y="473202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64515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Critic Loop: </a:t>
            </a:r>
            <a:r>
              <a:rPr sz="1300" b="0">
                <a:solidFill>
                  <a:srgbClr val="BFDBFE"/>
                </a:solidFill>
                <a:latin typeface="Segoe UI"/>
              </a:rPr>
              <a:t>Output SQL is evaluated by local parser. If syntax errors occur, the traceback is fed back to the LLM to self-heal.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303520"/>
            <a:ext cx="10817352" cy="6400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109728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46354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376672"/>
            <a:ext cx="9445752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Output: </a:t>
            </a:r>
            <a:r>
              <a:rPr sz="1300" b="0">
                <a:solidFill>
                  <a:srgbClr val="BFDBFE"/>
                </a:solidFill>
                <a:latin typeface="Segoe UI"/>
              </a:rPr>
              <a:t>Renders refactored SQL inside copyable st.code frames and outputs colored diff blocks.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Modules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5A6B8C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87452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Sanitization &amp; Cleaning Module: </a:t>
            </a:r>
            <a:r>
              <a:rPr sz="1300" b="0">
                <a:solidFill>
                  <a:srgbClr val="BFDBFE"/>
                </a:solidFill>
                <a:latin typeface="Segoe UI"/>
              </a:rPr>
              <a:t>Contains lookbehind/lookahead regular expressions that clean styling artifacts from incoming text without corrupting snake_case columns.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74320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8775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Phase 1: Local Linter Module: </a:t>
            </a:r>
            <a:r>
              <a:rPr sz="1300" b="0">
                <a:solidFill>
                  <a:srgbClr val="BFDBFE"/>
                </a:solidFill>
                <a:latin typeface="Segoe UI"/>
              </a:rPr>
              <a:t>Zero-cost deterministic casing cleaner and capitalization compiler. Enforces standard keywords and casing conventions locally.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61188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5643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Phase 2: AI Refactoring Module: </a:t>
            </a:r>
            <a:r>
              <a:rPr sz="1300" b="0">
                <a:solidFill>
                  <a:srgbClr val="BFDBFE"/>
                </a:solidFill>
                <a:latin typeface="Segoe UI"/>
              </a:rPr>
              <a:t>Leverages Gemini LLM with few-shot instructions to translate legacy comma-joins and extract subqueries into CTEs.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5196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5196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48056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32511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Validation &amp; Critic Module: </a:t>
            </a:r>
            <a:r>
              <a:rPr sz="1300" b="0">
                <a:solidFill>
                  <a:srgbClr val="BFDBFE"/>
                </a:solidFill>
                <a:latin typeface="Segoe UI"/>
              </a:rPr>
              <a:t>Compares LLM outputs against local syntax rules using sqlglot, orchestrating the self-correcting logic loop if discrepancies are found.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0640"/>
            <a:ext cx="10817352" cy="77724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512064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840" y="534924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DISP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193792"/>
            <a:ext cx="9445752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Interface &amp; Download Module: </a:t>
            </a:r>
            <a:r>
              <a:rPr sz="1300" b="0">
                <a:solidFill>
                  <a:srgbClr val="BFDBFE"/>
                </a:solidFill>
                <a:latin typeface="Segoe UI"/>
              </a:rPr>
              <a:t>Manages dual Streamlit and CLI interfaces, in-memory uploads, diff blocks rendering, and download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Project Advantages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5A6B8C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5212080" cy="20116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Cost-Efficiency</a:t>
            </a:r>
          </a:p>
          <a:p>
            <a:pPr>
              <a:defRPr sz="1300">
                <a:solidFill>
                  <a:srgbClr val="BFDBFE"/>
                </a:solidFill>
                <a:latin typeface="Segoe UI"/>
              </a:defRPr>
            </a:pPr>
            <a:r>
              <a:t>Capitalization and casing rules run locally at zero token cost, conserving expensive LLM API bandwidth for semantic restructuring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645920"/>
            <a:ext cx="5212080" cy="20116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2" y="164592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182880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Syntax Security</a:t>
            </a:r>
          </a:p>
          <a:p>
            <a:pPr>
              <a:defRPr sz="1300">
                <a:solidFill>
                  <a:srgbClr val="BFDBFE"/>
                </a:solidFill>
                <a:latin typeface="Segoe UI"/>
              </a:defRPr>
            </a:pPr>
            <a:r>
              <a:t>The self-correcting validation loop acts as a compiler guard, preventing code hallucinations and ensuring the user only receives valid, executable SQL.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840480"/>
            <a:ext cx="5212080" cy="20116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84048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Cloud Deployability</a:t>
            </a:r>
          </a:p>
          <a:p>
            <a:pPr>
              <a:defRPr sz="1300">
                <a:solidFill>
                  <a:srgbClr val="BFDBFE"/>
                </a:solidFill>
                <a:latin typeface="Segoe UI"/>
              </a:defRPr>
            </a:pPr>
            <a:r>
              <a:t>Supports in-memory batch file uploads, allowing the application to run smoothly on isolated cloud deployment servers like Streamlit Community Cloud.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3840480"/>
            <a:ext cx="5212080" cy="2011680"/>
          </a:xfrm>
          <a:prstGeom prst="roundRect">
            <a:avLst/>
          </a:prstGeom>
          <a:solidFill>
            <a:srgbClr val="141A2B"/>
          </a:solidFill>
          <a:ln w="19050">
            <a:solidFill>
              <a:srgbClr val="2630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91072" y="3840480"/>
            <a:ext cx="109728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402336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Pipeline Integration</a:t>
            </a:r>
          </a:p>
          <a:p>
            <a:pPr>
              <a:defRPr sz="1300">
                <a:solidFill>
                  <a:srgbClr val="BFDBFE"/>
                </a:solidFill>
                <a:latin typeface="Segoe UI"/>
              </a:defRPr>
            </a:pPr>
            <a:r>
              <a:t>Dual CLI and web dashboard structure allows the tool to fit seamlessly into single-query debugging sessions or automated Git pre-commit 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>
                <a:solidFill>
                  <a:srgbClr val="5A6B8C"/>
                </a:solidFill>
                <a:latin typeface="Segoe UI"/>
              </a:defRPr>
            </a:pPr>
            <a:r>
              <a:t>SQL Query Linter &amp; Style Fixer  |  Developed by Team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141A2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09728" cy="4297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defRPr sz="2000" b="1">
                <a:solidFill>
                  <a:srgbClr val="10B981"/>
                </a:solidFill>
                <a:latin typeface="Segoe UI"/>
              </a:defRPr>
            </a:pPr>
            <a:r>
              <a:t>The SQL Query Linter &amp; Style Fixer successfully bridges the gap between rule-based style cleaners and AI-driven semantic query model refactoring.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645920"/>
            <a:ext cx="5605272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BFDBFE"/>
                </a:solidFill>
                <a:latin typeface="Segoe UI"/>
              </a:defRPr>
            </a:pPr>
            <a:r>
              <a:t>•  Optimizes developer workflow speed and audit readiness for legacy SQL codebases.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BFDBFE"/>
                </a:solidFill>
                <a:latin typeface="Segoe UI"/>
              </a:defRPr>
            </a:pPr>
            <a:r>
              <a:t>•  Guarantees compilation integrity through an AST validation loop architecture.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BFDBFE"/>
                </a:solidFill>
                <a:latin typeface="Segoe UI"/>
              </a:defRPr>
            </a:pPr>
            <a:r>
              <a:t>•  Reduces database runtime search complexity by converting nested subqueries to CTEs and implicit comma-joins to explicit joins.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500">
                <a:solidFill>
                  <a:srgbClr val="BFDBFE"/>
                </a:solidFill>
                <a:latin typeface="Segoe UI"/>
              </a:defRPr>
            </a:pPr>
            <a:r>
              <a:t>•  Provides a cloud-deployable dashboard and automated CLI script to accommodate any integration pipeline environment.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