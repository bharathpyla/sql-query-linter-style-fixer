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autoCompressPictures="0" saveSubsetFonts="1">
  <p:sldMasterIdLst>
    <p:sldMasterId id="2147483648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type="screen4x3" cy="6858000" cx="12191695"/>
  <p:notesSz cx="6858000" cy="9144000"/>
  <p:defaultTextStyle>
    <a:defPPr>
      <a:defRPr lang="en-US"/>
    </a:defPPr>
    <a:lvl1pPr algn="l" defTabSz="457200" eaLnBrk="1" hangingPunct="1" latinLnBrk="0" marL="0" rtl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tableStyles" Target="tableStyles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5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32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3076575" cy="512763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932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9" y="1"/>
            <a:ext cx="3076575" cy="512763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lstStyle>
            <a:lvl1pPr algn="r">
              <a:defRPr sz="1100"/>
            </a:lvl1pPr>
          </a:lstStyle>
          <a:p>
            <a:endParaRPr lang="en-US"/>
          </a:p>
        </p:txBody>
      </p:sp>
      <p:sp>
        <p:nvSpPr>
          <p:cNvPr id="1049326" name="Rectangle 4"/>
          <p:cNvSpPr>
            <a:spLocks noChangeAspect="1" noRot="1" noGrp="1" noChangeArrowheads="1" noTextEdit="1"/>
          </p:cNvSpPr>
          <p:nvPr>
            <p:ph type="sldImg" idx="2"/>
          </p:nvPr>
        </p:nvSpPr>
        <p:spPr bwMode="auto">
          <a:xfrm>
            <a:off x="990600" y="766763"/>
            <a:ext cx="5118100" cy="3838575"/>
          </a:xfrm>
          <a:prstGeom prst="rect"/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04932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4" y="4862514"/>
            <a:ext cx="5680075" cy="4605337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4932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720264"/>
            <a:ext cx="3076575" cy="512762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0" bIns="45745" compatLnSpc="1" lIns="91492" numCol="1" rIns="91492" tIns="45745" vert="horz" wrap="square">
            <a:prstTxWarp prst="textNoShape"/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932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9" y="9720264"/>
            <a:ext cx="3076575" cy="512762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0" bIns="45745" compatLnSpc="1" lIns="91492" numCol="1" rIns="91492" tIns="45745" vert="horz" wrap="square">
            <a:prstTxWarp prst="textNoShape"/>
          </a:bodyPr>
          <a:lstStyle>
            <a:lvl1pPr algn="r">
              <a:defRPr sz="1100"/>
            </a:lvl1pPr>
          </a:lstStyle>
          <a:p>
            <a:fld id="{A9A0EA98-5831-4853-B862-C702E6EB345C}" type="slidenum">
              <a:rPr lang="en-US"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notesStyle>
    <a:lvl1pPr algn="l" fontAlgn="base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algn="l" fontAlgn="base" marL="4572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algn="l" fontAlgn="base" marL="9144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algn="l" fontAlgn="base" marL="13716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algn="l" fontAlgn="base" marL="18288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algn="l" defTabSz="914400" eaLnBrk="1" hangingPunct="1" latinLnBrk="0" marL="2286000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">
  <p:cSld name="Title Slide">
    <p:spTree>
      <p:nvGrpSpPr>
        <p:cNvPr id="4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269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9270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algn="ctr" indent="0" mar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algn="ctr" indent="0" marL="457200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algn="ctr" indent="0" marL="914400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algn="ctr" indent="0" marL="1371600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algn="ctr" indent="0" marL="1828800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algn="ctr" indent="0" marL="2286000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algn="ctr" indent="0" marL="2743200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algn="ctr" indent="0" marL="3200400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algn="ctr" indent="0" marL="3657600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1049271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9272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927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4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283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9284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928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928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928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secHead">
  <p:cSld name="Section Header"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299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b="1" cap="all" sz="4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9300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indent="0" marL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indent="0" marL="45720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indent="0" marL="9144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indent="0" marL="1371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indent="0" marL="18288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indent="0" marL="22860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indent="0" marL="27432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indent="0" marL="32004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indent="0" marL="3657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9301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9302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930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>
  <p:cSld name="Two Content">
    <p:spTree>
      <p:nvGrpSpPr>
        <p:cNvPr id="4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304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9305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9306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930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9308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9309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TxTwoObj">
  <p:cSld name="Comparison">
    <p:spTree>
      <p:nvGrpSpPr>
        <p:cNvPr id="4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310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9311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9312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9313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9314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9315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9316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9317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>
  <p:cSld name="Title Only"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274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9275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9276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9277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blank">
  <p:cSld name="Blank">
    <p:spTree>
      <p:nvGrpSpPr>
        <p:cNvPr id="2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582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583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Tx">
  <p:cSld name="Content with Caption">
    <p:spTree>
      <p:nvGrpSpPr>
        <p:cNvPr id="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318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b="1" sz="2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9319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9320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indent="0" marL="0">
              <a:buNone/>
              <a:defRPr sz="1400"/>
            </a:lvl1pPr>
            <a:lvl2pPr indent="0" marL="457200">
              <a:buNone/>
              <a:defRPr sz="1200"/>
            </a:lvl2pPr>
            <a:lvl3pPr indent="0" marL="914400">
              <a:buNone/>
              <a:defRPr sz="1000"/>
            </a:lvl3pPr>
            <a:lvl4pPr indent="0" marL="1371600">
              <a:buNone/>
              <a:defRPr sz="900"/>
            </a:lvl4pPr>
            <a:lvl5pPr indent="0" marL="1828800">
              <a:buNone/>
              <a:defRPr sz="900"/>
            </a:lvl5pPr>
            <a:lvl6pPr indent="0" marL="2286000">
              <a:buNone/>
              <a:defRPr sz="900"/>
            </a:lvl6pPr>
            <a:lvl7pPr indent="0" marL="2743200">
              <a:buNone/>
              <a:defRPr sz="900"/>
            </a:lvl7pPr>
            <a:lvl8pPr indent="0" marL="3200400">
              <a:buNone/>
              <a:defRPr sz="900"/>
            </a:lvl8pPr>
            <a:lvl9pPr indent="0" marL="365760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9321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9322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9323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picTx">
  <p:cSld name="Picture with Caption">
    <p:spTree>
      <p:nvGrpSpPr>
        <p:cNvPr id="4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288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b="1" sz="2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9289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indent="0" marL="0">
              <a:buNone/>
              <a:defRPr sz="3200"/>
            </a:lvl1pPr>
            <a:lvl2pPr indent="0" marL="457200">
              <a:buNone/>
              <a:defRPr sz="2800"/>
            </a:lvl2pPr>
            <a:lvl3pPr indent="0" marL="914400">
              <a:buNone/>
              <a:defRPr sz="2400"/>
            </a:lvl3pPr>
            <a:lvl4pPr indent="0" marL="1371600">
              <a:buNone/>
              <a:defRPr sz="2000"/>
            </a:lvl4pPr>
            <a:lvl5pPr indent="0" marL="1828800">
              <a:buNone/>
              <a:defRPr sz="2000"/>
            </a:lvl5pPr>
            <a:lvl6pPr indent="0" marL="2286000">
              <a:buNone/>
              <a:defRPr sz="2000"/>
            </a:lvl6pPr>
            <a:lvl7pPr indent="0" marL="2743200">
              <a:buNone/>
              <a:defRPr sz="2000"/>
            </a:lvl7pPr>
            <a:lvl8pPr indent="0" marL="3200400">
              <a:buNone/>
              <a:defRPr sz="2000"/>
            </a:lvl8pPr>
            <a:lvl9pPr indent="0" marL="3657600">
              <a:buNone/>
              <a:defRPr sz="2000"/>
            </a:lvl9pPr>
          </a:lstStyle>
          <a:p>
            <a:endParaRPr lang="en-US"/>
          </a:p>
        </p:txBody>
      </p:sp>
      <p:sp>
        <p:nvSpPr>
          <p:cNvPr id="1049290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indent="0" marL="0">
              <a:buNone/>
              <a:defRPr sz="1400"/>
            </a:lvl1pPr>
            <a:lvl2pPr indent="0" marL="457200">
              <a:buNone/>
              <a:defRPr sz="1200"/>
            </a:lvl2pPr>
            <a:lvl3pPr indent="0" marL="914400">
              <a:buNone/>
              <a:defRPr sz="1000"/>
            </a:lvl3pPr>
            <a:lvl4pPr indent="0" marL="1371600">
              <a:buNone/>
              <a:defRPr sz="900"/>
            </a:lvl4pPr>
            <a:lvl5pPr indent="0" marL="1828800">
              <a:buNone/>
              <a:defRPr sz="900"/>
            </a:lvl5pPr>
            <a:lvl6pPr indent="0" marL="2286000">
              <a:buNone/>
              <a:defRPr sz="900"/>
            </a:lvl6pPr>
            <a:lvl7pPr indent="0" marL="2743200">
              <a:buNone/>
              <a:defRPr sz="900"/>
            </a:lvl7pPr>
            <a:lvl8pPr indent="0" marL="3200400">
              <a:buNone/>
              <a:defRPr sz="900"/>
            </a:lvl8pPr>
            <a:lvl9pPr indent="0" marL="365760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9291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9292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9293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x">
  <p:cSld name="Title and Vertical Text">
    <p:spTree>
      <p:nvGrpSpPr>
        <p:cNvPr id="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294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9295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929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929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929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itleAndTx">
  <p:cSld name="Vertical Title and Text">
    <p:spTree>
      <p:nvGrpSpPr>
        <p:cNvPr id="4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278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9279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928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9281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928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/>
        </p:spPr>
        <p:txBody>
          <a:bodyPr anchor="ctr" bIns="45720" lIns="91440" rIns="91440" rtlCol="0" tIns="45720" vert="horz">
            <a:normAutofit/>
          </a:bodyPr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577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/>
        </p:spPr>
        <p:txBody>
          <a:bodyPr bIns="45720" lIns="91440" rIns="91440" rtlCol="0" tIns="45720" vert="horz">
            <a:normAutofit/>
          </a:bodyPr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578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/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57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/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04858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/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eaLnBrk="1" hangingPunct="1" latinLnBrk="0" rtl="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457200" eaLnBrk="1" hangingPunct="1" indent="-342900" latinLnBrk="0" marL="342900" rtl="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457200" eaLnBrk="1" hangingPunct="1" indent="-285750" latinLnBrk="0" marL="742950" rtl="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457200" eaLnBrk="1" hangingPunct="1" indent="-228600" latinLnBrk="0" marL="1143000" rtl="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457200" eaLnBrk="1" hangingPunct="1" indent="-228600" latinLnBrk="0" marL="1600200" rtl="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457200" eaLnBrk="1" hangingPunct="1" indent="-228600" latinLnBrk="0" marL="2057400" rtl="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457200" eaLnBrk="1" hangingPunct="1" indent="-228600" latinLnBrk="0" marL="2514600" rtl="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457200" eaLnBrk="1" hangingPunct="1" indent="-228600" latinLnBrk="0" marL="2971800" rtl="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457200" eaLnBrk="1" hangingPunct="1" indent="-228600" latinLnBrk="0" marL="3429000" rtl="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457200" eaLnBrk="1" hangingPunct="1" indent="-228600" latinLnBrk="0" marL="3886200" rtl="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457200" eaLnBrk="1" hangingPunct="1" latinLnBrk="0" marL="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457200" eaLnBrk="1" hangingPunct="1" latinLnBrk="0" marL="457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457200" eaLnBrk="1" hangingPunct="1" latinLnBrk="0" marL="914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457200" eaLnBrk="1" hangingPunct="1" latinLnBrk="0" marL="1371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457200" eaLnBrk="1" hangingPunct="1" latinLnBrk="0" marL="18288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457200" eaLnBrk="1" hangingPunct="1" latinLnBrk="0" marL="22860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457200" eaLnBrk="1" hangingPunct="1" latinLnBrk="0" marL="2743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457200" eaLnBrk="1" hangingPunct="1" latinLnBrk="0" marL="3200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457200" eaLnBrk="1" hangingPunct="1" latinLnBrk="0" marL="3657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4" name=""/>
        <p:cNvGrpSpPr/>
        <p:nvPr/>
      </p:nvGrpSpPr>
      <p:grpSpPr>
        <a:xfrm/>
      </p:grpSpPr>
      <p:sp>
        <p:nvSpPr>
          <p:cNvPr id="1048584" name="Rectangle 1"/>
          <p:cNvSpPr/>
          <p:nvPr/>
        </p:nvSpPr>
        <p:spPr>
          <a:xfrm>
            <a:off x="0" y="0"/>
            <a:ext cx="12191695" cy="6858000"/>
          </a:xfrm>
          <a:prstGeom prst="rect"/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585" name="Rectangle 2"/>
          <p:cNvSpPr/>
          <p:nvPr/>
        </p:nvSpPr>
        <p:spPr>
          <a:xfrm>
            <a:off x="0" y="0"/>
            <a:ext cx="320040" cy="6858000"/>
          </a:xfrm>
          <a:prstGeom prst="rect"/>
          <a:solidFill>
            <a:srgbClr val="108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586" name="TextBox 3"/>
          <p:cNvSpPr txBox="1"/>
          <p:nvPr/>
        </p:nvSpPr>
        <p:spPr>
          <a:xfrm>
            <a:off x="685800" y="457200"/>
            <a:ext cx="10058400" cy="1905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1" sz="1300" i="0">
                <a:solidFill>
                  <a:srgbClr val="108A5C"/>
                </a:solidFill>
                <a:latin typeface="Segoe UI Semibold"/>
              </a:rPr>
              <a:t>DADI INSTITUTE OF ENGINEERING AND TECHNOLOGY</a:t>
            </a:r>
            <a:r>
              <a:rPr b="0" sz="1300" i="0">
                <a:solidFill>
                  <a:srgbClr val="848074"/>
                </a:solidFill>
                <a:latin typeface="Segoe UI"/>
              </a:rPr>
              <a:t>    ·    DEPT. OF CSE</a:t>
            </a:r>
          </a:p>
        </p:txBody>
      </p:sp>
      <p:sp>
        <p:nvSpPr>
          <p:cNvPr id="1048587" name="Rectangle 4"/>
          <p:cNvSpPr/>
          <p:nvPr/>
        </p:nvSpPr>
        <p:spPr>
          <a:xfrm>
            <a:off x="685800" y="868680"/>
            <a:ext cx="10789920" cy="19050"/>
          </a:xfrm>
          <a:prstGeom prst="rect"/>
          <a:solidFill>
            <a:srgbClr val="D3CD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588" name="TextBox 5"/>
          <p:cNvSpPr txBox="1"/>
          <p:nvPr/>
        </p:nvSpPr>
        <p:spPr>
          <a:xfrm>
            <a:off x="685800" y="987552"/>
            <a:ext cx="10058400" cy="165101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1" sz="1100" i="0">
                <a:solidFill>
                  <a:srgbClr val="848074"/>
                </a:solidFill>
                <a:latin typeface="Segoe UI"/>
              </a:rPr>
              <a:t>MINI PROJECT  ·  CASE STUDY PRESENTATION</a:t>
            </a:r>
          </a:p>
        </p:txBody>
      </p:sp>
      <p:sp>
        <p:nvSpPr>
          <p:cNvPr id="1048589" name="TextBox 6"/>
          <p:cNvSpPr txBox="1"/>
          <p:nvPr/>
        </p:nvSpPr>
        <p:spPr>
          <a:xfrm>
            <a:off x="658368" y="1783080"/>
            <a:ext cx="10515600" cy="1917701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98000"/>
              </a:lnSpc>
              <a:spcBef>
                <a:spcPts val="0"/>
              </a:spcBef>
              <a:spcAft>
                <a:spcPts val="400"/>
              </a:spcAft>
            </a:pPr>
            <a:r>
              <a:rPr b="1" sz="6400" i="0">
                <a:solidFill>
                  <a:srgbClr val="14181F"/>
                </a:solidFill>
                <a:latin typeface="Georgia"/>
              </a:rPr>
              <a:t>SQL Query Linter</a:t>
            </a: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400"/>
              </a:spcAft>
            </a:pPr>
            <a:r>
              <a:rPr b="1" sz="6400" i="0">
                <a:solidFill>
                  <a:srgbClr val="108A5C"/>
                </a:solidFill>
                <a:latin typeface="Georgia"/>
              </a:rPr>
              <a:t>&amp; Style Fixer</a:t>
            </a:r>
          </a:p>
        </p:txBody>
      </p:sp>
      <p:sp>
        <p:nvSpPr>
          <p:cNvPr id="1048590" name="TextBox 7"/>
          <p:cNvSpPr txBox="1"/>
          <p:nvPr/>
        </p:nvSpPr>
        <p:spPr>
          <a:xfrm>
            <a:off x="713232" y="3886200"/>
            <a:ext cx="9144000" cy="2921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0" sz="1900" i="1">
                <a:solidFill>
                  <a:srgbClr val="3A4049"/>
                </a:solidFill>
                <a:latin typeface="Georgia"/>
              </a:rPr>
              <a:t>A Hybrid Local-AI Database Optimization Pipeline</a:t>
            </a:r>
          </a:p>
        </p:txBody>
      </p:sp>
      <p:sp>
        <p:nvSpPr>
          <p:cNvPr id="1048591" name="Rectangle 8"/>
          <p:cNvSpPr/>
          <p:nvPr/>
        </p:nvSpPr>
        <p:spPr>
          <a:xfrm>
            <a:off x="658368" y="4800600"/>
            <a:ext cx="10881360" cy="25400"/>
          </a:xfrm>
          <a:prstGeom prst="rect"/>
          <a:solidFill>
            <a:srgbClr val="108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592" name="TextBox 9"/>
          <p:cNvSpPr txBox="1"/>
          <p:nvPr/>
        </p:nvSpPr>
        <p:spPr>
          <a:xfrm>
            <a:off x="658368" y="4956048"/>
            <a:ext cx="10058400" cy="1778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1" sz="1200" i="0">
                <a:solidFill>
                  <a:srgbClr val="108A5C"/>
                </a:solidFill>
                <a:latin typeface="Segoe UI Semibold"/>
              </a:rPr>
              <a:t>DEVELOPED BY  ·  TEAM 20</a:t>
            </a:r>
          </a:p>
        </p:txBody>
      </p:sp>
      <p:sp>
        <p:nvSpPr>
          <p:cNvPr id="1048593" name="TextBox 10"/>
          <p:cNvSpPr txBox="1"/>
          <p:nvPr/>
        </p:nvSpPr>
        <p:spPr>
          <a:xfrm>
            <a:off x="658368" y="5349240"/>
            <a:ext cx="2532888" cy="203201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1" sz="1400" i="0" lang="en-US">
                <a:solidFill>
                  <a:srgbClr val="14181F"/>
                </a:solidFill>
                <a:latin typeface="Segoe UI Semibold"/>
              </a:rPr>
              <a:t>B</a:t>
            </a:r>
            <a:r>
              <a:rPr b="1" sz="1400" i="0" lang="en-US">
                <a:solidFill>
                  <a:srgbClr val="14181F"/>
                </a:solidFill>
                <a:latin typeface="Segoe UI Semibold"/>
              </a:rPr>
              <a:t>h</a:t>
            </a:r>
            <a:r>
              <a:rPr b="1" sz="1400" i="0" lang="en-US">
                <a:solidFill>
                  <a:srgbClr val="14181F"/>
                </a:solidFill>
                <a:latin typeface="Segoe UI Semibold"/>
              </a:rPr>
              <a:t>a</a:t>
            </a:r>
            <a:r>
              <a:rPr b="1" sz="1400" i="0" lang="en-US">
                <a:solidFill>
                  <a:srgbClr val="14181F"/>
                </a:solidFill>
                <a:latin typeface="Segoe UI Semibold"/>
              </a:rPr>
              <a:t>r</a:t>
            </a:r>
            <a:r>
              <a:rPr b="1" sz="1400" i="0" lang="en-US">
                <a:solidFill>
                  <a:srgbClr val="14181F"/>
                </a:solidFill>
                <a:latin typeface="Segoe UI Semibold"/>
              </a:rPr>
              <a:t>a</a:t>
            </a:r>
            <a:r>
              <a:rPr b="1" sz="1400" i="0" lang="en-US">
                <a:solidFill>
                  <a:srgbClr val="14181F"/>
                </a:solidFill>
                <a:latin typeface="Segoe UI Semibold"/>
              </a:rPr>
              <a:t>t</a:t>
            </a:r>
            <a:r>
              <a:rPr b="1" sz="1400" i="0" lang="en-US">
                <a:solidFill>
                  <a:srgbClr val="14181F"/>
                </a:solidFill>
                <a:latin typeface="Segoe UI Semibold"/>
              </a:rPr>
              <a:t>h</a:t>
            </a:r>
            <a:r>
              <a:rPr b="1" sz="1400" i="0" lang="en-US">
                <a:solidFill>
                  <a:srgbClr val="14181F"/>
                </a:solidFill>
                <a:latin typeface="Segoe UI Semibold"/>
              </a:rPr>
              <a:t> </a:t>
            </a:r>
            <a:r>
              <a:rPr b="1" sz="1400" i="0" lang="en-US">
                <a:solidFill>
                  <a:srgbClr val="14181F"/>
                </a:solidFill>
                <a:latin typeface="Segoe UI Semibold"/>
              </a:rPr>
              <a:t>p</a:t>
            </a:r>
            <a:r>
              <a:rPr b="1" sz="1400" i="0" lang="en-US">
                <a:solidFill>
                  <a:srgbClr val="14181F"/>
                </a:solidFill>
                <a:latin typeface="Segoe UI Semibold"/>
              </a:rPr>
              <a:t>y</a:t>
            </a:r>
            <a:r>
              <a:rPr b="1" sz="1400" i="0" lang="en-US">
                <a:solidFill>
                  <a:srgbClr val="14181F"/>
                </a:solidFill>
                <a:latin typeface="Segoe UI Semibold"/>
              </a:rPr>
              <a:t>l</a:t>
            </a:r>
            <a:r>
              <a:rPr b="1" sz="1400" i="0" lang="en-US">
                <a:solidFill>
                  <a:srgbClr val="14181F"/>
                </a:solidFill>
                <a:latin typeface="Segoe UI Semibold"/>
              </a:rPr>
              <a:t>a</a:t>
            </a:r>
            <a:endParaRPr altLang="en-US" lang="zh-CN"/>
          </a:p>
        </p:txBody>
      </p:sp>
      <p:sp>
        <p:nvSpPr>
          <p:cNvPr id="1048594" name="TextBox 11"/>
          <p:cNvSpPr txBox="1"/>
          <p:nvPr/>
        </p:nvSpPr>
        <p:spPr>
          <a:xfrm>
            <a:off x="658368" y="5650992"/>
            <a:ext cx="2532888" cy="1651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1" sz="1100" i="0">
                <a:solidFill>
                  <a:srgbClr val="108A5C"/>
                </a:solidFill>
                <a:latin typeface="Consolas"/>
              </a:rPr>
              <a:t>23</a:t>
            </a:r>
            <a:r>
              <a:rPr b="1" sz="1100" i="0" lang="en-US">
                <a:solidFill>
                  <a:srgbClr val="108A5C"/>
                </a:solidFill>
                <a:latin typeface="Consolas"/>
              </a:rPr>
              <a:t>U</a:t>
            </a:r>
            <a:r>
              <a:rPr b="1" sz="1100" i="0">
                <a:solidFill>
                  <a:srgbClr val="108A5C"/>
                </a:solidFill>
                <a:latin typeface="Consolas"/>
              </a:rPr>
              <a:t>41A</a:t>
            </a:r>
            <a:r>
              <a:rPr b="1" sz="1100" i="0" lang="en-US">
                <a:solidFill>
                  <a:srgbClr val="108A5C"/>
                </a:solidFill>
                <a:latin typeface="Consolas"/>
              </a:rPr>
              <a:t>0</a:t>
            </a:r>
            <a:r>
              <a:rPr b="1" sz="1100" i="0" lang="en-US">
                <a:solidFill>
                  <a:srgbClr val="108A5C"/>
                </a:solidFill>
                <a:latin typeface="Consolas"/>
              </a:rPr>
              <a:t>5</a:t>
            </a:r>
            <a:r>
              <a:rPr b="1" sz="1100" i="0" lang="en-US">
                <a:solidFill>
                  <a:srgbClr val="108A5C"/>
                </a:solidFill>
                <a:latin typeface="Consolas"/>
              </a:rPr>
              <a:t>3</a:t>
            </a:r>
            <a:r>
              <a:rPr b="1" sz="1100" i="0" lang="en-US">
                <a:solidFill>
                  <a:srgbClr val="108A5C"/>
                </a:solidFill>
                <a:latin typeface="Consolas"/>
              </a:rPr>
              <a:t>6</a:t>
            </a:r>
            <a:endParaRPr altLang="en-US" lang="zh-CN"/>
          </a:p>
        </p:txBody>
      </p:sp>
      <p:sp>
        <p:nvSpPr>
          <p:cNvPr id="1048595" name="TextBox 12"/>
          <p:cNvSpPr txBox="1"/>
          <p:nvPr/>
        </p:nvSpPr>
        <p:spPr>
          <a:xfrm>
            <a:off x="658368" y="5907024"/>
            <a:ext cx="2532888" cy="173355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b="0" sz="1100" i="0">
                <a:solidFill>
                  <a:srgbClr val="848074"/>
                </a:solidFill>
                <a:latin typeface="Segoe UI"/>
              </a:rPr>
              <a:t>Streamlit UI &amp; Dashboard</a:t>
            </a:r>
          </a:p>
        </p:txBody>
      </p:sp>
      <p:sp>
        <p:nvSpPr>
          <p:cNvPr id="1048596" name="TextBox 13"/>
          <p:cNvSpPr txBox="1"/>
          <p:nvPr/>
        </p:nvSpPr>
        <p:spPr>
          <a:xfrm>
            <a:off x="3328415" y="5349240"/>
            <a:ext cx="2532888" cy="2032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1" sz="1400" i="0" lang="en-US">
                <a:solidFill>
                  <a:srgbClr val="14181F"/>
                </a:solidFill>
                <a:latin typeface="Segoe UI Semibold"/>
              </a:rPr>
              <a:t>P</a:t>
            </a:r>
            <a:r>
              <a:rPr b="1" sz="1400" i="0" lang="en-US">
                <a:solidFill>
                  <a:srgbClr val="14181F"/>
                </a:solidFill>
                <a:latin typeface="Segoe UI Semibold"/>
              </a:rPr>
              <a:t>e</a:t>
            </a:r>
            <a:r>
              <a:rPr b="1" sz="1400" i="0" lang="en-US">
                <a:solidFill>
                  <a:srgbClr val="14181F"/>
                </a:solidFill>
                <a:latin typeface="Segoe UI Semibold"/>
              </a:rPr>
              <a:t>n</a:t>
            </a:r>
            <a:r>
              <a:rPr b="1" sz="1400" i="0" lang="en-US">
                <a:solidFill>
                  <a:srgbClr val="14181F"/>
                </a:solidFill>
                <a:latin typeface="Segoe UI Semibold"/>
              </a:rPr>
              <a:t>t</a:t>
            </a:r>
            <a:r>
              <a:rPr b="1" sz="1400" i="0" lang="en-US">
                <a:solidFill>
                  <a:srgbClr val="14181F"/>
                </a:solidFill>
                <a:latin typeface="Segoe UI Semibold"/>
              </a:rPr>
              <a:t>a</a:t>
            </a:r>
            <a:r>
              <a:rPr b="1" sz="1400" i="0" lang="en-US">
                <a:solidFill>
                  <a:srgbClr val="14181F"/>
                </a:solidFill>
                <a:latin typeface="Segoe UI Semibold"/>
              </a:rPr>
              <a:t> </a:t>
            </a:r>
            <a:r>
              <a:rPr b="1" sz="1400" i="0" lang="en-US">
                <a:solidFill>
                  <a:srgbClr val="14181F"/>
                </a:solidFill>
                <a:latin typeface="Segoe UI Semibold"/>
              </a:rPr>
              <a:t>s</a:t>
            </a:r>
            <a:r>
              <a:rPr b="1" sz="1400" i="0" lang="en-US">
                <a:solidFill>
                  <a:srgbClr val="14181F"/>
                </a:solidFill>
                <a:latin typeface="Segoe UI Semibold"/>
              </a:rPr>
              <a:t>a</a:t>
            </a:r>
            <a:r>
              <a:rPr b="1" sz="1400" i="0" lang="en-US">
                <a:solidFill>
                  <a:srgbClr val="14181F"/>
                </a:solidFill>
                <a:latin typeface="Segoe UI Semibold"/>
              </a:rPr>
              <a:t>t</a:t>
            </a:r>
            <a:r>
              <a:rPr b="1" sz="1400" i="0" lang="en-US">
                <a:solidFill>
                  <a:srgbClr val="14181F"/>
                </a:solidFill>
                <a:latin typeface="Segoe UI Semibold"/>
              </a:rPr>
              <a:t>w</a:t>
            </a:r>
            <a:r>
              <a:rPr b="1" sz="1400" i="0" lang="en-US">
                <a:solidFill>
                  <a:srgbClr val="14181F"/>
                </a:solidFill>
                <a:latin typeface="Segoe UI Semibold"/>
              </a:rPr>
              <a:t>i</a:t>
            </a:r>
            <a:r>
              <a:rPr b="1" sz="1400" i="0" lang="en-US">
                <a:solidFill>
                  <a:srgbClr val="14181F"/>
                </a:solidFill>
                <a:latin typeface="Segoe UI Semibold"/>
              </a:rPr>
              <a:t>k</a:t>
            </a:r>
            <a:r>
              <a:rPr b="1" sz="1400" i="0" lang="en-US">
                <a:solidFill>
                  <a:srgbClr val="14181F"/>
                </a:solidFill>
                <a:latin typeface="Segoe UI Semibold"/>
              </a:rPr>
              <a:t>a</a:t>
            </a:r>
            <a:endParaRPr altLang="en-US" lang="zh-CN"/>
          </a:p>
        </p:txBody>
      </p:sp>
      <p:sp>
        <p:nvSpPr>
          <p:cNvPr id="1048597" name="TextBox 14"/>
          <p:cNvSpPr txBox="1"/>
          <p:nvPr/>
        </p:nvSpPr>
        <p:spPr>
          <a:xfrm>
            <a:off x="3328415" y="5650992"/>
            <a:ext cx="2532888" cy="1651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1" sz="1100" i="0">
                <a:solidFill>
                  <a:srgbClr val="108A5C"/>
                </a:solidFill>
                <a:latin typeface="Consolas"/>
              </a:rPr>
              <a:t>23U41A</a:t>
            </a:r>
            <a:r>
              <a:rPr b="1" sz="1100" i="0" lang="en-US">
                <a:solidFill>
                  <a:srgbClr val="108A5C"/>
                </a:solidFill>
                <a:latin typeface="Consolas"/>
              </a:rPr>
              <a:t>4</a:t>
            </a:r>
            <a:r>
              <a:rPr b="1" sz="1100" i="0" lang="en-US">
                <a:solidFill>
                  <a:srgbClr val="108A5C"/>
                </a:solidFill>
                <a:latin typeface="Consolas"/>
              </a:rPr>
              <a:t>2</a:t>
            </a:r>
            <a:r>
              <a:rPr b="1" sz="1100" i="0" lang="en-US">
                <a:solidFill>
                  <a:srgbClr val="108A5C"/>
                </a:solidFill>
                <a:latin typeface="Consolas"/>
              </a:rPr>
              <a:t>4</a:t>
            </a:r>
            <a:r>
              <a:rPr b="1" sz="1100" i="0" lang="en-US">
                <a:solidFill>
                  <a:srgbClr val="108A5C"/>
                </a:solidFill>
                <a:latin typeface="Consolas"/>
              </a:rPr>
              <a:t>5</a:t>
            </a:r>
            <a:endParaRPr altLang="en-US" lang="zh-CN"/>
          </a:p>
        </p:txBody>
      </p:sp>
      <p:sp>
        <p:nvSpPr>
          <p:cNvPr id="1048598" name="TextBox 15"/>
          <p:cNvSpPr txBox="1"/>
          <p:nvPr/>
        </p:nvSpPr>
        <p:spPr>
          <a:xfrm>
            <a:off x="3328415" y="5907024"/>
            <a:ext cx="2532888" cy="173355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b="0" sz="1100" i="0">
                <a:solidFill>
                  <a:srgbClr val="848074"/>
                </a:solidFill>
                <a:latin typeface="Segoe UI"/>
              </a:rPr>
              <a:t>SQL Parser &amp; Spacing Engine</a:t>
            </a:r>
          </a:p>
        </p:txBody>
      </p:sp>
      <p:sp>
        <p:nvSpPr>
          <p:cNvPr id="1048599" name="TextBox 16"/>
          <p:cNvSpPr txBox="1"/>
          <p:nvPr/>
        </p:nvSpPr>
        <p:spPr>
          <a:xfrm>
            <a:off x="5998464" y="5349240"/>
            <a:ext cx="2532888" cy="203201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1" sz="1400" i="0">
                <a:solidFill>
                  <a:srgbClr val="14181F"/>
                </a:solidFill>
                <a:latin typeface="Segoe UI Semibold"/>
              </a:rPr>
              <a:t>Aythi Eswar</a:t>
            </a:r>
          </a:p>
        </p:txBody>
      </p:sp>
      <p:sp>
        <p:nvSpPr>
          <p:cNvPr id="1048600" name="TextBox 17"/>
          <p:cNvSpPr txBox="1"/>
          <p:nvPr/>
        </p:nvSpPr>
        <p:spPr>
          <a:xfrm>
            <a:off x="5998464" y="5650992"/>
            <a:ext cx="2532888" cy="1651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1" sz="1100" i="0">
                <a:solidFill>
                  <a:srgbClr val="108A5C"/>
                </a:solidFill>
                <a:latin typeface="Consolas"/>
              </a:rPr>
              <a:t>23U41A0406</a:t>
            </a:r>
          </a:p>
        </p:txBody>
      </p:sp>
      <p:sp>
        <p:nvSpPr>
          <p:cNvPr id="1048601" name="TextBox 18"/>
          <p:cNvSpPr txBox="1"/>
          <p:nvPr/>
        </p:nvSpPr>
        <p:spPr>
          <a:xfrm>
            <a:off x="5998464" y="5907024"/>
            <a:ext cx="2532888" cy="173355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b="0" sz="1100" i="0">
                <a:solidFill>
                  <a:srgbClr val="848074"/>
                </a:solidFill>
                <a:latin typeface="Segoe UI"/>
              </a:rPr>
              <a:t>Gemini LLM Prompt &amp; AI</a:t>
            </a:r>
          </a:p>
        </p:txBody>
      </p:sp>
      <p:sp>
        <p:nvSpPr>
          <p:cNvPr id="1048602" name="TextBox 19"/>
          <p:cNvSpPr txBox="1"/>
          <p:nvPr/>
        </p:nvSpPr>
        <p:spPr>
          <a:xfrm>
            <a:off x="8668512" y="5349240"/>
            <a:ext cx="2532888" cy="203201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1" sz="1400" i="0">
                <a:solidFill>
                  <a:srgbClr val="14181F"/>
                </a:solidFill>
                <a:latin typeface="Segoe UI Semibold"/>
              </a:rPr>
              <a:t>Dadi James</a:t>
            </a:r>
          </a:p>
        </p:txBody>
      </p:sp>
      <p:sp>
        <p:nvSpPr>
          <p:cNvPr id="1048603" name="TextBox 20"/>
          <p:cNvSpPr txBox="1"/>
          <p:nvPr/>
        </p:nvSpPr>
        <p:spPr>
          <a:xfrm>
            <a:off x="8668512" y="5650992"/>
            <a:ext cx="2532888" cy="1651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1" sz="1100" i="0">
                <a:solidFill>
                  <a:srgbClr val="108A5C"/>
                </a:solidFill>
                <a:latin typeface="Consolas"/>
              </a:rPr>
              <a:t>24U45A0212</a:t>
            </a:r>
          </a:p>
        </p:txBody>
      </p:sp>
      <p:sp>
        <p:nvSpPr>
          <p:cNvPr id="1048604" name="TextBox 21"/>
          <p:cNvSpPr txBox="1"/>
          <p:nvPr/>
        </p:nvSpPr>
        <p:spPr>
          <a:xfrm>
            <a:off x="8668512" y="5907024"/>
            <a:ext cx="2532888" cy="173355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b="0" sz="1100" i="0">
                <a:solidFill>
                  <a:srgbClr val="848074"/>
                </a:solidFill>
                <a:latin typeface="Segoe UI"/>
              </a:rPr>
              <a:t>AST Validation &amp; QA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8" name=""/>
        <p:cNvGrpSpPr/>
        <p:nvPr/>
      </p:nvGrpSpPr>
      <p:grpSpPr>
        <a:xfrm/>
      </p:grpSpPr>
      <p:sp>
        <p:nvSpPr>
          <p:cNvPr id="1048605" name="Rectangle 1"/>
          <p:cNvSpPr/>
          <p:nvPr/>
        </p:nvSpPr>
        <p:spPr>
          <a:xfrm>
            <a:off x="0" y="0"/>
            <a:ext cx="12191695" cy="6858000"/>
          </a:xfrm>
          <a:prstGeom prst="rect"/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06" name="Rectangle 2"/>
          <p:cNvSpPr/>
          <p:nvPr/>
        </p:nvSpPr>
        <p:spPr>
          <a:xfrm>
            <a:off x="0" y="0"/>
            <a:ext cx="2331720" cy="6858000"/>
          </a:xfrm>
          <a:prstGeom prst="rect"/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07" name="Rectangle 3"/>
          <p:cNvSpPr/>
          <p:nvPr/>
        </p:nvSpPr>
        <p:spPr>
          <a:xfrm>
            <a:off x="2293620" y="0"/>
            <a:ext cx="38100" cy="6858000"/>
          </a:xfrm>
          <a:prstGeom prst="rect"/>
          <a:solidFill>
            <a:srgbClr val="108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08" name="TextBox 4"/>
          <p:cNvSpPr txBox="1"/>
          <p:nvPr/>
        </p:nvSpPr>
        <p:spPr>
          <a:xfrm>
            <a:off x="365760" y="365760"/>
            <a:ext cx="1828800" cy="3048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1" sz="2000" i="0">
                <a:solidFill>
                  <a:srgbClr val="108A5C"/>
                </a:solidFill>
                <a:latin typeface="Georgia"/>
              </a:rPr>
              <a:t>&lt;/&gt;</a:t>
            </a:r>
          </a:p>
        </p:txBody>
      </p:sp>
      <p:sp>
        <p:nvSpPr>
          <p:cNvPr id="1048609" name="TextBox 5"/>
          <p:cNvSpPr txBox="1"/>
          <p:nvPr/>
        </p:nvSpPr>
        <p:spPr>
          <a:xfrm>
            <a:off x="365760" y="804672"/>
            <a:ext cx="1828800" cy="44196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b="1" sz="1200" i="0">
                <a:solidFill>
                  <a:srgbClr val="F4F1EA"/>
                </a:solidFill>
                <a:latin typeface="Segoe UI Semibold"/>
              </a:rPr>
              <a:t>SQL Query Linter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b="0" sz="1200" i="0">
                <a:solidFill>
                  <a:srgbClr val="848074"/>
                </a:solidFill>
                <a:latin typeface="Segoe UI"/>
              </a:rPr>
              <a:t>&amp; Style Fixer</a:t>
            </a:r>
          </a:p>
        </p:txBody>
      </p:sp>
      <p:sp>
        <p:nvSpPr>
          <p:cNvPr id="1048610" name="Rectangle 6"/>
          <p:cNvSpPr/>
          <p:nvPr/>
        </p:nvSpPr>
        <p:spPr>
          <a:xfrm>
            <a:off x="365760" y="1664208"/>
            <a:ext cx="914400" cy="25400"/>
          </a:xfrm>
          <a:prstGeom prst="rect"/>
          <a:solidFill>
            <a:srgbClr val="108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11" name="Rectangle 7"/>
          <p:cNvSpPr/>
          <p:nvPr/>
        </p:nvSpPr>
        <p:spPr>
          <a:xfrm>
            <a:off x="0" y="1892808"/>
            <a:ext cx="73152" cy="310896"/>
          </a:xfrm>
          <a:prstGeom prst="rect"/>
          <a:solidFill>
            <a:srgbClr val="108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12" name="TextBox 8"/>
          <p:cNvSpPr txBox="1"/>
          <p:nvPr/>
        </p:nvSpPr>
        <p:spPr>
          <a:xfrm>
            <a:off x="365760" y="1920240"/>
            <a:ext cx="365760" cy="1397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1" sz="1000" i="0">
                <a:solidFill>
                  <a:srgbClr val="108A5C"/>
                </a:solidFill>
                <a:latin typeface="Consolas"/>
              </a:rPr>
              <a:t>01</a:t>
            </a:r>
          </a:p>
        </p:txBody>
      </p:sp>
      <p:sp>
        <p:nvSpPr>
          <p:cNvPr id="1048613" name="TextBox 9"/>
          <p:cNvSpPr txBox="1"/>
          <p:nvPr/>
        </p:nvSpPr>
        <p:spPr>
          <a:xfrm>
            <a:off x="804672" y="1920240"/>
            <a:ext cx="1481328" cy="1651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1" sz="1100" i="0">
                <a:solidFill>
                  <a:srgbClr val="F4F1EA"/>
                </a:solidFill>
                <a:latin typeface="Segoe UI Semibold"/>
              </a:rPr>
              <a:t>Objective</a:t>
            </a:r>
          </a:p>
        </p:txBody>
      </p:sp>
      <p:sp>
        <p:nvSpPr>
          <p:cNvPr id="1048614" name="TextBox 10"/>
          <p:cNvSpPr txBox="1"/>
          <p:nvPr/>
        </p:nvSpPr>
        <p:spPr>
          <a:xfrm>
            <a:off x="365760" y="2272284"/>
            <a:ext cx="365760" cy="1397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0" sz="1000" i="0">
                <a:solidFill>
                  <a:srgbClr val="6B6F78"/>
                </a:solidFill>
                <a:latin typeface="Consolas"/>
              </a:rPr>
              <a:t>02</a:t>
            </a:r>
          </a:p>
        </p:txBody>
      </p:sp>
      <p:sp>
        <p:nvSpPr>
          <p:cNvPr id="1048615" name="TextBox 11"/>
          <p:cNvSpPr txBox="1"/>
          <p:nvPr/>
        </p:nvSpPr>
        <p:spPr>
          <a:xfrm>
            <a:off x="804672" y="2272284"/>
            <a:ext cx="1481328" cy="1651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0" sz="1100" i="0">
                <a:solidFill>
                  <a:srgbClr val="9A9DA4"/>
                </a:solidFill>
                <a:latin typeface="Segoe UI"/>
              </a:rPr>
              <a:t>Problem</a:t>
            </a:r>
          </a:p>
        </p:txBody>
      </p:sp>
      <p:sp>
        <p:nvSpPr>
          <p:cNvPr id="1048616" name="TextBox 12"/>
          <p:cNvSpPr txBox="1"/>
          <p:nvPr/>
        </p:nvSpPr>
        <p:spPr>
          <a:xfrm>
            <a:off x="365760" y="2624328"/>
            <a:ext cx="365760" cy="1397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0" sz="1000" i="0">
                <a:solidFill>
                  <a:srgbClr val="6B6F78"/>
                </a:solidFill>
                <a:latin typeface="Consolas"/>
              </a:rPr>
              <a:t>03</a:t>
            </a:r>
          </a:p>
        </p:txBody>
      </p:sp>
      <p:sp>
        <p:nvSpPr>
          <p:cNvPr id="1048617" name="TextBox 13"/>
          <p:cNvSpPr txBox="1"/>
          <p:nvPr/>
        </p:nvSpPr>
        <p:spPr>
          <a:xfrm>
            <a:off x="804672" y="2624328"/>
            <a:ext cx="1481328" cy="1651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0" sz="1100" i="0">
                <a:solidFill>
                  <a:srgbClr val="9A9DA4"/>
                </a:solidFill>
                <a:latin typeface="Segoe UI"/>
              </a:rPr>
              <a:t>Approach</a:t>
            </a:r>
          </a:p>
        </p:txBody>
      </p:sp>
      <p:sp>
        <p:nvSpPr>
          <p:cNvPr id="1048618" name="TextBox 14"/>
          <p:cNvSpPr txBox="1"/>
          <p:nvPr/>
        </p:nvSpPr>
        <p:spPr>
          <a:xfrm>
            <a:off x="365760" y="2976372"/>
            <a:ext cx="365760" cy="1397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0" sz="1000" i="0">
                <a:solidFill>
                  <a:srgbClr val="6B6F78"/>
                </a:solidFill>
                <a:latin typeface="Consolas"/>
              </a:rPr>
              <a:t>04</a:t>
            </a:r>
          </a:p>
        </p:txBody>
      </p:sp>
      <p:sp>
        <p:nvSpPr>
          <p:cNvPr id="1048619" name="TextBox 15"/>
          <p:cNvSpPr txBox="1"/>
          <p:nvPr/>
        </p:nvSpPr>
        <p:spPr>
          <a:xfrm>
            <a:off x="804672" y="2976372"/>
            <a:ext cx="1481328" cy="1651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0" sz="1100" i="0">
                <a:solidFill>
                  <a:srgbClr val="9A9DA4"/>
                </a:solidFill>
                <a:latin typeface="Segoe UI"/>
              </a:rPr>
              <a:t>Tech Stack</a:t>
            </a:r>
          </a:p>
        </p:txBody>
      </p:sp>
      <p:sp>
        <p:nvSpPr>
          <p:cNvPr id="1048620" name="TextBox 16"/>
          <p:cNvSpPr txBox="1"/>
          <p:nvPr/>
        </p:nvSpPr>
        <p:spPr>
          <a:xfrm>
            <a:off x="365760" y="3328415"/>
            <a:ext cx="365760" cy="1397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0" sz="1000" i="0">
                <a:solidFill>
                  <a:srgbClr val="6B6F78"/>
                </a:solidFill>
                <a:latin typeface="Consolas"/>
              </a:rPr>
              <a:t>05</a:t>
            </a:r>
          </a:p>
        </p:txBody>
      </p:sp>
      <p:sp>
        <p:nvSpPr>
          <p:cNvPr id="1048621" name="TextBox 17"/>
          <p:cNvSpPr txBox="1"/>
          <p:nvPr/>
        </p:nvSpPr>
        <p:spPr>
          <a:xfrm>
            <a:off x="804672" y="3328415"/>
            <a:ext cx="1481328" cy="1651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0" sz="1100" i="0">
                <a:solidFill>
                  <a:srgbClr val="9A9DA4"/>
                </a:solidFill>
                <a:latin typeface="Segoe UI"/>
              </a:rPr>
              <a:t>Architecture</a:t>
            </a:r>
          </a:p>
        </p:txBody>
      </p:sp>
      <p:sp>
        <p:nvSpPr>
          <p:cNvPr id="1048622" name="TextBox 18"/>
          <p:cNvSpPr txBox="1"/>
          <p:nvPr/>
        </p:nvSpPr>
        <p:spPr>
          <a:xfrm>
            <a:off x="365760" y="3680459"/>
            <a:ext cx="365760" cy="1397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0" sz="1000" i="0">
                <a:solidFill>
                  <a:srgbClr val="6B6F78"/>
                </a:solidFill>
                <a:latin typeface="Consolas"/>
              </a:rPr>
              <a:t>06</a:t>
            </a:r>
          </a:p>
        </p:txBody>
      </p:sp>
      <p:sp>
        <p:nvSpPr>
          <p:cNvPr id="1048623" name="TextBox 19"/>
          <p:cNvSpPr txBox="1"/>
          <p:nvPr/>
        </p:nvSpPr>
        <p:spPr>
          <a:xfrm>
            <a:off x="804672" y="3680459"/>
            <a:ext cx="1481328" cy="1651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0" sz="1100" i="0">
                <a:solidFill>
                  <a:srgbClr val="9A9DA4"/>
                </a:solidFill>
                <a:latin typeface="Segoe UI"/>
              </a:rPr>
              <a:t>Modules</a:t>
            </a:r>
          </a:p>
        </p:txBody>
      </p:sp>
      <p:sp>
        <p:nvSpPr>
          <p:cNvPr id="1048624" name="TextBox 20"/>
          <p:cNvSpPr txBox="1"/>
          <p:nvPr/>
        </p:nvSpPr>
        <p:spPr>
          <a:xfrm>
            <a:off x="365760" y="4032503"/>
            <a:ext cx="365760" cy="1397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0" sz="1000" i="0">
                <a:solidFill>
                  <a:srgbClr val="6B6F78"/>
                </a:solidFill>
                <a:latin typeface="Consolas"/>
              </a:rPr>
              <a:t>07</a:t>
            </a:r>
          </a:p>
        </p:txBody>
      </p:sp>
      <p:sp>
        <p:nvSpPr>
          <p:cNvPr id="1048625" name="TextBox 21"/>
          <p:cNvSpPr txBox="1"/>
          <p:nvPr/>
        </p:nvSpPr>
        <p:spPr>
          <a:xfrm>
            <a:off x="804672" y="4032503"/>
            <a:ext cx="1481328" cy="1651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0" sz="1100" i="0">
                <a:solidFill>
                  <a:srgbClr val="9A9DA4"/>
                </a:solidFill>
                <a:latin typeface="Segoe UI"/>
              </a:rPr>
              <a:t>Before / After</a:t>
            </a:r>
          </a:p>
        </p:txBody>
      </p:sp>
      <p:sp>
        <p:nvSpPr>
          <p:cNvPr id="1048626" name="TextBox 22"/>
          <p:cNvSpPr txBox="1"/>
          <p:nvPr/>
        </p:nvSpPr>
        <p:spPr>
          <a:xfrm>
            <a:off x="365760" y="4384547"/>
            <a:ext cx="365760" cy="1397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0" sz="1000" i="0">
                <a:solidFill>
                  <a:srgbClr val="6B6F78"/>
                </a:solidFill>
                <a:latin typeface="Consolas"/>
              </a:rPr>
              <a:t>08</a:t>
            </a:r>
          </a:p>
        </p:txBody>
      </p:sp>
      <p:sp>
        <p:nvSpPr>
          <p:cNvPr id="1048627" name="TextBox 23"/>
          <p:cNvSpPr txBox="1"/>
          <p:nvPr/>
        </p:nvSpPr>
        <p:spPr>
          <a:xfrm>
            <a:off x="804672" y="4384547"/>
            <a:ext cx="1481328" cy="1651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0" sz="1100" i="0">
                <a:solidFill>
                  <a:srgbClr val="9A9DA4"/>
                </a:solidFill>
                <a:latin typeface="Segoe UI"/>
              </a:rPr>
              <a:t>Validation</a:t>
            </a:r>
          </a:p>
        </p:txBody>
      </p:sp>
      <p:sp>
        <p:nvSpPr>
          <p:cNvPr id="1048628" name="TextBox 24"/>
          <p:cNvSpPr txBox="1"/>
          <p:nvPr/>
        </p:nvSpPr>
        <p:spPr>
          <a:xfrm>
            <a:off x="365760" y="4736591"/>
            <a:ext cx="365760" cy="139701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0" sz="1000" i="0">
                <a:solidFill>
                  <a:srgbClr val="6B6F78"/>
                </a:solidFill>
                <a:latin typeface="Consolas"/>
              </a:rPr>
              <a:t>09</a:t>
            </a:r>
          </a:p>
        </p:txBody>
      </p:sp>
      <p:sp>
        <p:nvSpPr>
          <p:cNvPr id="1048629" name="TextBox 25"/>
          <p:cNvSpPr txBox="1"/>
          <p:nvPr/>
        </p:nvSpPr>
        <p:spPr>
          <a:xfrm>
            <a:off x="804672" y="4736591"/>
            <a:ext cx="1481328" cy="165101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0" sz="1100" i="0">
                <a:solidFill>
                  <a:srgbClr val="9A9DA4"/>
                </a:solidFill>
                <a:latin typeface="Segoe UI"/>
              </a:rPr>
              <a:t>Advantages</a:t>
            </a:r>
          </a:p>
        </p:txBody>
      </p:sp>
      <p:sp>
        <p:nvSpPr>
          <p:cNvPr id="1048630" name="TextBox 26"/>
          <p:cNvSpPr txBox="1"/>
          <p:nvPr/>
        </p:nvSpPr>
        <p:spPr>
          <a:xfrm>
            <a:off x="365760" y="5088635"/>
            <a:ext cx="365760" cy="139701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0" sz="1000" i="0">
                <a:solidFill>
                  <a:srgbClr val="6B6F78"/>
                </a:solidFill>
                <a:latin typeface="Consolas"/>
              </a:rPr>
              <a:t>10</a:t>
            </a:r>
          </a:p>
        </p:txBody>
      </p:sp>
      <p:sp>
        <p:nvSpPr>
          <p:cNvPr id="1048631" name="TextBox 27"/>
          <p:cNvSpPr txBox="1"/>
          <p:nvPr/>
        </p:nvSpPr>
        <p:spPr>
          <a:xfrm>
            <a:off x="804672" y="5088635"/>
            <a:ext cx="1481328" cy="165101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0" sz="1100" i="0">
                <a:solidFill>
                  <a:srgbClr val="9A9DA4"/>
                </a:solidFill>
                <a:latin typeface="Segoe UI"/>
              </a:rPr>
              <a:t>Results</a:t>
            </a:r>
          </a:p>
        </p:txBody>
      </p:sp>
      <p:sp>
        <p:nvSpPr>
          <p:cNvPr id="1048632" name="TextBox 28"/>
          <p:cNvSpPr txBox="1"/>
          <p:nvPr/>
        </p:nvSpPr>
        <p:spPr>
          <a:xfrm>
            <a:off x="365760" y="5440679"/>
            <a:ext cx="365760" cy="139701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0" sz="1000" i="0">
                <a:solidFill>
                  <a:srgbClr val="6B6F78"/>
                </a:solidFill>
                <a:latin typeface="Consolas"/>
              </a:rPr>
              <a:t>11</a:t>
            </a:r>
          </a:p>
        </p:txBody>
      </p:sp>
      <p:sp>
        <p:nvSpPr>
          <p:cNvPr id="1048633" name="TextBox 29"/>
          <p:cNvSpPr txBox="1"/>
          <p:nvPr/>
        </p:nvSpPr>
        <p:spPr>
          <a:xfrm>
            <a:off x="804672" y="5440679"/>
            <a:ext cx="1481328" cy="165101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0" sz="1100" i="0">
                <a:solidFill>
                  <a:srgbClr val="9A9DA4"/>
                </a:solidFill>
                <a:latin typeface="Segoe UI"/>
              </a:rPr>
              <a:t>Future Scope</a:t>
            </a:r>
          </a:p>
        </p:txBody>
      </p:sp>
      <p:sp>
        <p:nvSpPr>
          <p:cNvPr id="1048634" name="TextBox 30"/>
          <p:cNvSpPr txBox="1"/>
          <p:nvPr/>
        </p:nvSpPr>
        <p:spPr>
          <a:xfrm>
            <a:off x="365760" y="5792723"/>
            <a:ext cx="365760" cy="139701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0" sz="1000" i="0">
                <a:solidFill>
                  <a:srgbClr val="6B6F78"/>
                </a:solidFill>
                <a:latin typeface="Consolas"/>
              </a:rPr>
              <a:t>12</a:t>
            </a:r>
          </a:p>
        </p:txBody>
      </p:sp>
      <p:sp>
        <p:nvSpPr>
          <p:cNvPr id="1048635" name="TextBox 31"/>
          <p:cNvSpPr txBox="1"/>
          <p:nvPr/>
        </p:nvSpPr>
        <p:spPr>
          <a:xfrm>
            <a:off x="804672" y="5792723"/>
            <a:ext cx="1481328" cy="165101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0" sz="1100" i="0">
                <a:solidFill>
                  <a:srgbClr val="9A9DA4"/>
                </a:solidFill>
                <a:latin typeface="Segoe UI"/>
              </a:rPr>
              <a:t>Conclusion</a:t>
            </a:r>
          </a:p>
        </p:txBody>
      </p:sp>
      <p:sp>
        <p:nvSpPr>
          <p:cNvPr id="1048636" name="TextBox 32"/>
          <p:cNvSpPr txBox="1"/>
          <p:nvPr/>
        </p:nvSpPr>
        <p:spPr>
          <a:xfrm>
            <a:off x="365760" y="6400800"/>
            <a:ext cx="1920240" cy="114301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0" sz="850" i="0">
                <a:solidFill>
                  <a:srgbClr val="848074"/>
                </a:solidFill>
                <a:latin typeface="Segoe UI"/>
              </a:rPr>
              <a:t>DIET · TEAM 20</a:t>
            </a:r>
          </a:p>
        </p:txBody>
      </p:sp>
      <p:sp>
        <p:nvSpPr>
          <p:cNvPr id="1048637" name="TextBox 33"/>
          <p:cNvSpPr txBox="1"/>
          <p:nvPr/>
        </p:nvSpPr>
        <p:spPr>
          <a:xfrm>
            <a:off x="2788920" y="502920"/>
            <a:ext cx="8229600" cy="1778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1" sz="1200" i="0">
                <a:solidFill>
                  <a:srgbClr val="108A5C"/>
                </a:solidFill>
                <a:latin typeface="Segoe UI Semibold"/>
              </a:rPr>
              <a:t>PROJECT GOAL</a:t>
            </a:r>
          </a:p>
        </p:txBody>
      </p:sp>
      <p:sp>
        <p:nvSpPr>
          <p:cNvPr id="1048638" name="TextBox 34"/>
          <p:cNvSpPr txBox="1"/>
          <p:nvPr/>
        </p:nvSpPr>
        <p:spPr>
          <a:xfrm>
            <a:off x="2788920" y="841248"/>
            <a:ext cx="8961120" cy="5080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1" sz="3400" i="0">
                <a:solidFill>
                  <a:srgbClr val="14181F"/>
                </a:solidFill>
                <a:latin typeface="Georgia"/>
              </a:rPr>
              <a:t>Objective</a:t>
            </a:r>
          </a:p>
        </p:txBody>
      </p:sp>
      <p:sp>
        <p:nvSpPr>
          <p:cNvPr id="1048639" name="Rectangle 35"/>
          <p:cNvSpPr/>
          <p:nvPr/>
        </p:nvSpPr>
        <p:spPr>
          <a:xfrm>
            <a:off x="2808920" y="1536192"/>
            <a:ext cx="685800" cy="38100"/>
          </a:xfrm>
          <a:prstGeom prst="rect"/>
          <a:solidFill>
            <a:srgbClr val="108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40" name="TextBox 36"/>
          <p:cNvSpPr txBox="1"/>
          <p:nvPr/>
        </p:nvSpPr>
        <p:spPr>
          <a:xfrm>
            <a:off x="2788920" y="1920240"/>
            <a:ext cx="8778240" cy="123444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b="0" sz="2300" i="0">
                <a:solidFill>
                  <a:srgbClr val="14181F"/>
                </a:solidFill>
                <a:latin typeface="Georgia"/>
              </a:rPr>
              <a:t>Automate </a:t>
            </a:r>
            <a:r>
              <a:rPr b="1" sz="2300" i="0">
                <a:solidFill>
                  <a:srgbClr val="108A5C"/>
                </a:solidFill>
                <a:latin typeface="Georgia"/>
              </a:rPr>
              <a:t>layout formatting, syntax cleansing &amp; structural optimization</a:t>
            </a:r>
            <a:r>
              <a:rPr b="0" sz="2300" i="0">
                <a:solidFill>
                  <a:srgbClr val="14181F"/>
                </a:solidFill>
                <a:latin typeface="Georgia"/>
              </a:rPr>
              <a:t> by merging client-side deterministic parsers with serverless Large Language Models.</a:t>
            </a:r>
          </a:p>
        </p:txBody>
      </p:sp>
      <p:sp>
        <p:nvSpPr>
          <p:cNvPr id="1048641" name="Rectangle 37"/>
          <p:cNvSpPr/>
          <p:nvPr/>
        </p:nvSpPr>
        <p:spPr>
          <a:xfrm>
            <a:off x="2788920" y="3611880"/>
            <a:ext cx="8778240" cy="15240"/>
          </a:xfrm>
          <a:prstGeom prst="rect"/>
          <a:solidFill>
            <a:srgbClr val="D3CD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42" name="TextBox 38"/>
          <p:cNvSpPr txBox="1"/>
          <p:nvPr/>
        </p:nvSpPr>
        <p:spPr>
          <a:xfrm>
            <a:off x="2788920" y="3840480"/>
            <a:ext cx="914400" cy="4445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1" sz="3000" i="0">
                <a:solidFill>
                  <a:srgbClr val="108A5C"/>
                </a:solidFill>
                <a:latin typeface="Georgia"/>
              </a:rPr>
              <a:t>01</a:t>
            </a:r>
          </a:p>
        </p:txBody>
      </p:sp>
      <p:sp>
        <p:nvSpPr>
          <p:cNvPr id="1048643" name="TextBox 39"/>
          <p:cNvSpPr txBox="1"/>
          <p:nvPr/>
        </p:nvSpPr>
        <p:spPr>
          <a:xfrm>
            <a:off x="3566160" y="3858768"/>
            <a:ext cx="2057400" cy="2032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1" sz="1400" i="0">
                <a:solidFill>
                  <a:srgbClr val="14181F"/>
                </a:solidFill>
                <a:latin typeface="Segoe UI Semibold"/>
              </a:rPr>
              <a:t>Standardize casing</a:t>
            </a:r>
          </a:p>
        </p:txBody>
      </p:sp>
      <p:sp>
        <p:nvSpPr>
          <p:cNvPr id="1048644" name="TextBox 40"/>
          <p:cNvSpPr txBox="1"/>
          <p:nvPr/>
        </p:nvSpPr>
        <p:spPr>
          <a:xfrm>
            <a:off x="3566160" y="4187952"/>
            <a:ext cx="2057400" cy="346711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b="0" sz="1100" i="0">
                <a:solidFill>
                  <a:srgbClr val="3A4049"/>
                </a:solidFill>
                <a:latin typeface="Segoe UI"/>
              </a:rPr>
              <a:t>camelCase / PascalCase → snake_case</a:t>
            </a:r>
          </a:p>
        </p:txBody>
      </p:sp>
      <p:sp>
        <p:nvSpPr>
          <p:cNvPr id="1048645" name="TextBox 41"/>
          <p:cNvSpPr txBox="1"/>
          <p:nvPr/>
        </p:nvSpPr>
        <p:spPr>
          <a:xfrm>
            <a:off x="5715000" y="3840480"/>
            <a:ext cx="914400" cy="4445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1" sz="3000" i="0">
                <a:solidFill>
                  <a:srgbClr val="2D5D8A"/>
                </a:solidFill>
                <a:latin typeface="Georgia"/>
              </a:rPr>
              <a:t>02</a:t>
            </a:r>
          </a:p>
        </p:txBody>
      </p:sp>
      <p:sp>
        <p:nvSpPr>
          <p:cNvPr id="1048646" name="TextBox 42"/>
          <p:cNvSpPr txBox="1"/>
          <p:nvPr/>
        </p:nvSpPr>
        <p:spPr>
          <a:xfrm>
            <a:off x="6492240" y="3858768"/>
            <a:ext cx="2057400" cy="2032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1" sz="1400" i="0">
                <a:solidFill>
                  <a:srgbClr val="14181F"/>
                </a:solidFill>
                <a:latin typeface="Segoe UI Semibold"/>
              </a:rPr>
              <a:t>Enforce keywords</a:t>
            </a:r>
          </a:p>
        </p:txBody>
      </p:sp>
      <p:sp>
        <p:nvSpPr>
          <p:cNvPr id="1048647" name="TextBox 43"/>
          <p:cNvSpPr txBox="1"/>
          <p:nvPr/>
        </p:nvSpPr>
        <p:spPr>
          <a:xfrm>
            <a:off x="6492240" y="4187952"/>
            <a:ext cx="2057400" cy="346711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b="0" sz="1100" i="0">
                <a:solidFill>
                  <a:srgbClr val="3A4049"/>
                </a:solidFill>
                <a:latin typeface="Segoe UI"/>
              </a:rPr>
              <a:t>Capitalize SQL keywords locally, zero cost</a:t>
            </a:r>
          </a:p>
        </p:txBody>
      </p:sp>
      <p:sp>
        <p:nvSpPr>
          <p:cNvPr id="1048648" name="TextBox 44"/>
          <p:cNvSpPr txBox="1"/>
          <p:nvPr/>
        </p:nvSpPr>
        <p:spPr>
          <a:xfrm>
            <a:off x="8641080" y="3840480"/>
            <a:ext cx="914400" cy="4445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1" sz="3000" i="0">
                <a:solidFill>
                  <a:srgbClr val="7A3E6B"/>
                </a:solidFill>
                <a:latin typeface="Georgia"/>
              </a:rPr>
              <a:t>03</a:t>
            </a:r>
          </a:p>
        </p:txBody>
      </p:sp>
      <p:sp>
        <p:nvSpPr>
          <p:cNvPr id="1048649" name="TextBox 45"/>
          <p:cNvSpPr txBox="1"/>
          <p:nvPr/>
        </p:nvSpPr>
        <p:spPr>
          <a:xfrm>
            <a:off x="9418320" y="3858768"/>
            <a:ext cx="2057400" cy="2032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1" sz="1400" i="0">
                <a:solidFill>
                  <a:srgbClr val="14181F"/>
                </a:solidFill>
                <a:latin typeface="Segoe UI Semibold"/>
              </a:rPr>
              <a:t>Purge artifacts</a:t>
            </a:r>
          </a:p>
        </p:txBody>
      </p:sp>
      <p:sp>
        <p:nvSpPr>
          <p:cNvPr id="1048650" name="TextBox 46"/>
          <p:cNvSpPr txBox="1"/>
          <p:nvPr/>
        </p:nvSpPr>
        <p:spPr>
          <a:xfrm>
            <a:off x="9418320" y="4187952"/>
            <a:ext cx="2057400" cy="346711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b="0" sz="1100" i="0">
                <a:solidFill>
                  <a:srgbClr val="3A4049"/>
                </a:solidFill>
                <a:latin typeface="Segoe UI"/>
              </a:rPr>
              <a:t>Strip markdown to protect the compiler</a:t>
            </a:r>
          </a:p>
        </p:txBody>
      </p:sp>
      <p:sp>
        <p:nvSpPr>
          <p:cNvPr id="1048651" name="TextBox 47"/>
          <p:cNvSpPr txBox="1"/>
          <p:nvPr/>
        </p:nvSpPr>
        <p:spPr>
          <a:xfrm>
            <a:off x="2788920" y="5074920"/>
            <a:ext cx="914400" cy="444501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1" sz="3000" i="0">
                <a:solidFill>
                  <a:srgbClr val="C8962E"/>
                </a:solidFill>
                <a:latin typeface="Georgia"/>
              </a:rPr>
              <a:t>04</a:t>
            </a:r>
          </a:p>
        </p:txBody>
      </p:sp>
      <p:sp>
        <p:nvSpPr>
          <p:cNvPr id="1048652" name="TextBox 48"/>
          <p:cNvSpPr txBox="1"/>
          <p:nvPr/>
        </p:nvSpPr>
        <p:spPr>
          <a:xfrm>
            <a:off x="3566160" y="5093208"/>
            <a:ext cx="2057400" cy="203201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1" sz="1400" i="0">
                <a:solidFill>
                  <a:srgbClr val="14181F"/>
                </a:solidFill>
                <a:latin typeface="Segoe UI Semibold"/>
              </a:rPr>
              <a:t>AI refactoring</a:t>
            </a:r>
          </a:p>
        </p:txBody>
      </p:sp>
      <p:sp>
        <p:nvSpPr>
          <p:cNvPr id="1048653" name="TextBox 49"/>
          <p:cNvSpPr txBox="1"/>
          <p:nvPr/>
        </p:nvSpPr>
        <p:spPr>
          <a:xfrm>
            <a:off x="3566160" y="5422392"/>
            <a:ext cx="2057400" cy="346711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b="0" sz="1100" i="0">
                <a:solidFill>
                  <a:srgbClr val="3A4049"/>
                </a:solidFill>
                <a:latin typeface="Segoe UI"/>
              </a:rPr>
              <a:t>Comma-joins &amp; subqueries → joins + CTEs</a:t>
            </a:r>
          </a:p>
        </p:txBody>
      </p:sp>
      <p:sp>
        <p:nvSpPr>
          <p:cNvPr id="1048654" name="TextBox 50"/>
          <p:cNvSpPr txBox="1"/>
          <p:nvPr/>
        </p:nvSpPr>
        <p:spPr>
          <a:xfrm>
            <a:off x="5715000" y="5074920"/>
            <a:ext cx="914400" cy="444501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1" sz="3000" i="0">
                <a:solidFill>
                  <a:srgbClr val="E2563B"/>
                </a:solidFill>
                <a:latin typeface="Georgia"/>
              </a:rPr>
              <a:t>05</a:t>
            </a:r>
          </a:p>
        </p:txBody>
      </p:sp>
      <p:sp>
        <p:nvSpPr>
          <p:cNvPr id="1048655" name="TextBox 51"/>
          <p:cNvSpPr txBox="1"/>
          <p:nvPr/>
        </p:nvSpPr>
        <p:spPr>
          <a:xfrm>
            <a:off x="6492240" y="5093208"/>
            <a:ext cx="2057400" cy="203201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1" sz="1400" i="0">
                <a:solidFill>
                  <a:srgbClr val="14181F"/>
                </a:solidFill>
                <a:latin typeface="Segoe UI Semibold"/>
              </a:rPr>
              <a:t>Validate syntax</a:t>
            </a:r>
          </a:p>
        </p:txBody>
      </p:sp>
      <p:sp>
        <p:nvSpPr>
          <p:cNvPr id="1048656" name="TextBox 52"/>
          <p:cNvSpPr txBox="1"/>
          <p:nvPr/>
        </p:nvSpPr>
        <p:spPr>
          <a:xfrm>
            <a:off x="6492240" y="5422392"/>
            <a:ext cx="2057400" cy="173356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b="0" sz="1100" i="0">
                <a:solidFill>
                  <a:srgbClr val="3A4049"/>
                </a:solidFill>
                <a:latin typeface="Segoe UI"/>
              </a:rPr>
              <a:t>In-memory AST validation loop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9" name=""/>
        <p:cNvGrpSpPr/>
        <p:nvPr/>
      </p:nvGrpSpPr>
      <p:grpSpPr>
        <a:xfrm/>
      </p:grpSpPr>
      <p:sp>
        <p:nvSpPr>
          <p:cNvPr id="1048657" name="Rectangle 1"/>
          <p:cNvSpPr/>
          <p:nvPr/>
        </p:nvSpPr>
        <p:spPr>
          <a:xfrm>
            <a:off x="0" y="0"/>
            <a:ext cx="12191695" cy="6858000"/>
          </a:xfrm>
          <a:prstGeom prst="rect"/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58" name="Rectangle 2"/>
          <p:cNvSpPr/>
          <p:nvPr/>
        </p:nvSpPr>
        <p:spPr>
          <a:xfrm>
            <a:off x="0" y="0"/>
            <a:ext cx="2331720" cy="6858000"/>
          </a:xfrm>
          <a:prstGeom prst="rect"/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59" name="Rectangle 3"/>
          <p:cNvSpPr/>
          <p:nvPr/>
        </p:nvSpPr>
        <p:spPr>
          <a:xfrm>
            <a:off x="2293620" y="0"/>
            <a:ext cx="38100" cy="6858000"/>
          </a:xfrm>
          <a:prstGeom prst="rect"/>
          <a:solidFill>
            <a:srgbClr val="E25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60" name="TextBox 4"/>
          <p:cNvSpPr txBox="1"/>
          <p:nvPr/>
        </p:nvSpPr>
        <p:spPr>
          <a:xfrm>
            <a:off x="365760" y="365760"/>
            <a:ext cx="1828800" cy="3048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1" sz="2000" i="0">
                <a:solidFill>
                  <a:srgbClr val="E2563B"/>
                </a:solidFill>
                <a:latin typeface="Georgia"/>
              </a:rPr>
              <a:t>&lt;/&gt;</a:t>
            </a:r>
          </a:p>
        </p:txBody>
      </p:sp>
      <p:sp>
        <p:nvSpPr>
          <p:cNvPr id="1048661" name="TextBox 5"/>
          <p:cNvSpPr txBox="1"/>
          <p:nvPr/>
        </p:nvSpPr>
        <p:spPr>
          <a:xfrm>
            <a:off x="365760" y="804672"/>
            <a:ext cx="1828800" cy="44196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b="1" sz="1200" i="0">
                <a:solidFill>
                  <a:srgbClr val="F4F1EA"/>
                </a:solidFill>
                <a:latin typeface="Segoe UI Semibold"/>
              </a:rPr>
              <a:t>SQL Query Linter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b="0" sz="1200" i="0">
                <a:solidFill>
                  <a:srgbClr val="848074"/>
                </a:solidFill>
                <a:latin typeface="Segoe UI"/>
              </a:rPr>
              <a:t>&amp; Style Fixer</a:t>
            </a:r>
          </a:p>
        </p:txBody>
      </p:sp>
      <p:sp>
        <p:nvSpPr>
          <p:cNvPr id="1048662" name="Rectangle 6"/>
          <p:cNvSpPr/>
          <p:nvPr/>
        </p:nvSpPr>
        <p:spPr>
          <a:xfrm>
            <a:off x="365760" y="1664208"/>
            <a:ext cx="914400" cy="25400"/>
          </a:xfrm>
          <a:prstGeom prst="rect"/>
          <a:solidFill>
            <a:srgbClr val="E25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63" name="TextBox 7"/>
          <p:cNvSpPr txBox="1"/>
          <p:nvPr/>
        </p:nvSpPr>
        <p:spPr>
          <a:xfrm>
            <a:off x="365760" y="1920240"/>
            <a:ext cx="365760" cy="1397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0" sz="1000" i="0">
                <a:solidFill>
                  <a:srgbClr val="6B6F78"/>
                </a:solidFill>
                <a:latin typeface="Consolas"/>
              </a:rPr>
              <a:t>01</a:t>
            </a:r>
          </a:p>
        </p:txBody>
      </p:sp>
      <p:sp>
        <p:nvSpPr>
          <p:cNvPr id="1048664" name="TextBox 8"/>
          <p:cNvSpPr txBox="1"/>
          <p:nvPr/>
        </p:nvSpPr>
        <p:spPr>
          <a:xfrm>
            <a:off x="804672" y="1920240"/>
            <a:ext cx="1481328" cy="1651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0" sz="1100" i="0">
                <a:solidFill>
                  <a:srgbClr val="9A9DA4"/>
                </a:solidFill>
                <a:latin typeface="Segoe UI"/>
              </a:rPr>
              <a:t>Objective</a:t>
            </a:r>
          </a:p>
        </p:txBody>
      </p:sp>
      <p:sp>
        <p:nvSpPr>
          <p:cNvPr id="1048665" name="Rectangle 9"/>
          <p:cNvSpPr/>
          <p:nvPr/>
        </p:nvSpPr>
        <p:spPr>
          <a:xfrm>
            <a:off x="0" y="2244852"/>
            <a:ext cx="73152" cy="310896"/>
          </a:xfrm>
          <a:prstGeom prst="rect"/>
          <a:solidFill>
            <a:srgbClr val="E25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66" name="TextBox 10"/>
          <p:cNvSpPr txBox="1"/>
          <p:nvPr/>
        </p:nvSpPr>
        <p:spPr>
          <a:xfrm>
            <a:off x="365760" y="2272284"/>
            <a:ext cx="365760" cy="1397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1" sz="1000" i="0">
                <a:solidFill>
                  <a:srgbClr val="E2563B"/>
                </a:solidFill>
                <a:latin typeface="Consolas"/>
              </a:rPr>
              <a:t>02</a:t>
            </a:r>
          </a:p>
        </p:txBody>
      </p:sp>
      <p:sp>
        <p:nvSpPr>
          <p:cNvPr id="1048667" name="TextBox 11"/>
          <p:cNvSpPr txBox="1"/>
          <p:nvPr/>
        </p:nvSpPr>
        <p:spPr>
          <a:xfrm>
            <a:off x="804672" y="2272284"/>
            <a:ext cx="1481328" cy="1651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1" sz="1100" i="0">
                <a:solidFill>
                  <a:srgbClr val="F4F1EA"/>
                </a:solidFill>
                <a:latin typeface="Segoe UI Semibold"/>
              </a:rPr>
              <a:t>Problem</a:t>
            </a:r>
          </a:p>
        </p:txBody>
      </p:sp>
      <p:sp>
        <p:nvSpPr>
          <p:cNvPr id="1048668" name="TextBox 12"/>
          <p:cNvSpPr txBox="1"/>
          <p:nvPr/>
        </p:nvSpPr>
        <p:spPr>
          <a:xfrm>
            <a:off x="365760" y="2624328"/>
            <a:ext cx="365760" cy="1397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0" sz="1000" i="0">
                <a:solidFill>
                  <a:srgbClr val="6B6F78"/>
                </a:solidFill>
                <a:latin typeface="Consolas"/>
              </a:rPr>
              <a:t>03</a:t>
            </a:r>
          </a:p>
        </p:txBody>
      </p:sp>
      <p:sp>
        <p:nvSpPr>
          <p:cNvPr id="1048669" name="TextBox 13"/>
          <p:cNvSpPr txBox="1"/>
          <p:nvPr/>
        </p:nvSpPr>
        <p:spPr>
          <a:xfrm>
            <a:off x="804672" y="2624328"/>
            <a:ext cx="1481328" cy="1651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0" sz="1100" i="0">
                <a:solidFill>
                  <a:srgbClr val="9A9DA4"/>
                </a:solidFill>
                <a:latin typeface="Segoe UI"/>
              </a:rPr>
              <a:t>Approach</a:t>
            </a:r>
          </a:p>
        </p:txBody>
      </p:sp>
      <p:sp>
        <p:nvSpPr>
          <p:cNvPr id="1048670" name="TextBox 14"/>
          <p:cNvSpPr txBox="1"/>
          <p:nvPr/>
        </p:nvSpPr>
        <p:spPr>
          <a:xfrm>
            <a:off x="365760" y="2976372"/>
            <a:ext cx="365760" cy="1397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0" sz="1000" i="0">
                <a:solidFill>
                  <a:srgbClr val="6B6F78"/>
                </a:solidFill>
                <a:latin typeface="Consolas"/>
              </a:rPr>
              <a:t>04</a:t>
            </a:r>
          </a:p>
        </p:txBody>
      </p:sp>
      <p:sp>
        <p:nvSpPr>
          <p:cNvPr id="1048671" name="TextBox 15"/>
          <p:cNvSpPr txBox="1"/>
          <p:nvPr/>
        </p:nvSpPr>
        <p:spPr>
          <a:xfrm>
            <a:off x="804672" y="2976372"/>
            <a:ext cx="1481328" cy="1651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0" sz="1100" i="0">
                <a:solidFill>
                  <a:srgbClr val="9A9DA4"/>
                </a:solidFill>
                <a:latin typeface="Segoe UI"/>
              </a:rPr>
              <a:t>Tech Stack</a:t>
            </a:r>
          </a:p>
        </p:txBody>
      </p:sp>
      <p:sp>
        <p:nvSpPr>
          <p:cNvPr id="1048672" name="TextBox 16"/>
          <p:cNvSpPr txBox="1"/>
          <p:nvPr/>
        </p:nvSpPr>
        <p:spPr>
          <a:xfrm>
            <a:off x="365760" y="3328415"/>
            <a:ext cx="365760" cy="1397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0" sz="1000" i="0">
                <a:solidFill>
                  <a:srgbClr val="6B6F78"/>
                </a:solidFill>
                <a:latin typeface="Consolas"/>
              </a:rPr>
              <a:t>05</a:t>
            </a:r>
          </a:p>
        </p:txBody>
      </p:sp>
      <p:sp>
        <p:nvSpPr>
          <p:cNvPr id="1048673" name="TextBox 17"/>
          <p:cNvSpPr txBox="1"/>
          <p:nvPr/>
        </p:nvSpPr>
        <p:spPr>
          <a:xfrm>
            <a:off x="804672" y="3328415"/>
            <a:ext cx="1481328" cy="1651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0" sz="1100" i="0">
                <a:solidFill>
                  <a:srgbClr val="9A9DA4"/>
                </a:solidFill>
                <a:latin typeface="Segoe UI"/>
              </a:rPr>
              <a:t>Architecture</a:t>
            </a:r>
          </a:p>
        </p:txBody>
      </p:sp>
      <p:sp>
        <p:nvSpPr>
          <p:cNvPr id="1048674" name="TextBox 18"/>
          <p:cNvSpPr txBox="1"/>
          <p:nvPr/>
        </p:nvSpPr>
        <p:spPr>
          <a:xfrm>
            <a:off x="365760" y="3680459"/>
            <a:ext cx="365760" cy="1397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0" sz="1000" i="0">
                <a:solidFill>
                  <a:srgbClr val="6B6F78"/>
                </a:solidFill>
                <a:latin typeface="Consolas"/>
              </a:rPr>
              <a:t>06</a:t>
            </a:r>
          </a:p>
        </p:txBody>
      </p:sp>
      <p:sp>
        <p:nvSpPr>
          <p:cNvPr id="1048675" name="TextBox 19"/>
          <p:cNvSpPr txBox="1"/>
          <p:nvPr/>
        </p:nvSpPr>
        <p:spPr>
          <a:xfrm>
            <a:off x="804672" y="3680459"/>
            <a:ext cx="1481328" cy="1651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0" sz="1100" i="0">
                <a:solidFill>
                  <a:srgbClr val="9A9DA4"/>
                </a:solidFill>
                <a:latin typeface="Segoe UI"/>
              </a:rPr>
              <a:t>Modules</a:t>
            </a:r>
          </a:p>
        </p:txBody>
      </p:sp>
      <p:sp>
        <p:nvSpPr>
          <p:cNvPr id="1048676" name="TextBox 20"/>
          <p:cNvSpPr txBox="1"/>
          <p:nvPr/>
        </p:nvSpPr>
        <p:spPr>
          <a:xfrm>
            <a:off x="365760" y="4032503"/>
            <a:ext cx="365760" cy="1397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0" sz="1000" i="0">
                <a:solidFill>
                  <a:srgbClr val="6B6F78"/>
                </a:solidFill>
                <a:latin typeface="Consolas"/>
              </a:rPr>
              <a:t>07</a:t>
            </a:r>
          </a:p>
        </p:txBody>
      </p:sp>
      <p:sp>
        <p:nvSpPr>
          <p:cNvPr id="1048677" name="TextBox 21"/>
          <p:cNvSpPr txBox="1"/>
          <p:nvPr/>
        </p:nvSpPr>
        <p:spPr>
          <a:xfrm>
            <a:off x="804672" y="4032503"/>
            <a:ext cx="1481328" cy="1651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0" sz="1100" i="0">
                <a:solidFill>
                  <a:srgbClr val="9A9DA4"/>
                </a:solidFill>
                <a:latin typeface="Segoe UI"/>
              </a:rPr>
              <a:t>Before / After</a:t>
            </a:r>
          </a:p>
        </p:txBody>
      </p:sp>
      <p:sp>
        <p:nvSpPr>
          <p:cNvPr id="1048678" name="TextBox 22"/>
          <p:cNvSpPr txBox="1"/>
          <p:nvPr/>
        </p:nvSpPr>
        <p:spPr>
          <a:xfrm>
            <a:off x="365760" y="4384547"/>
            <a:ext cx="365760" cy="1397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0" sz="1000" i="0">
                <a:solidFill>
                  <a:srgbClr val="6B6F78"/>
                </a:solidFill>
                <a:latin typeface="Consolas"/>
              </a:rPr>
              <a:t>08</a:t>
            </a:r>
          </a:p>
        </p:txBody>
      </p:sp>
      <p:sp>
        <p:nvSpPr>
          <p:cNvPr id="1048679" name="TextBox 23"/>
          <p:cNvSpPr txBox="1"/>
          <p:nvPr/>
        </p:nvSpPr>
        <p:spPr>
          <a:xfrm>
            <a:off x="804672" y="4384547"/>
            <a:ext cx="1481328" cy="1651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0" sz="1100" i="0">
                <a:solidFill>
                  <a:srgbClr val="9A9DA4"/>
                </a:solidFill>
                <a:latin typeface="Segoe UI"/>
              </a:rPr>
              <a:t>Validation</a:t>
            </a:r>
          </a:p>
        </p:txBody>
      </p:sp>
      <p:sp>
        <p:nvSpPr>
          <p:cNvPr id="1048680" name="TextBox 24"/>
          <p:cNvSpPr txBox="1"/>
          <p:nvPr/>
        </p:nvSpPr>
        <p:spPr>
          <a:xfrm>
            <a:off x="365760" y="4736591"/>
            <a:ext cx="365760" cy="139701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0" sz="1000" i="0">
                <a:solidFill>
                  <a:srgbClr val="6B6F78"/>
                </a:solidFill>
                <a:latin typeface="Consolas"/>
              </a:rPr>
              <a:t>09</a:t>
            </a:r>
          </a:p>
        </p:txBody>
      </p:sp>
      <p:sp>
        <p:nvSpPr>
          <p:cNvPr id="1048681" name="TextBox 25"/>
          <p:cNvSpPr txBox="1"/>
          <p:nvPr/>
        </p:nvSpPr>
        <p:spPr>
          <a:xfrm>
            <a:off x="804672" y="4736591"/>
            <a:ext cx="1481328" cy="165101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0" sz="1100" i="0">
                <a:solidFill>
                  <a:srgbClr val="9A9DA4"/>
                </a:solidFill>
                <a:latin typeface="Segoe UI"/>
              </a:rPr>
              <a:t>Advantages</a:t>
            </a:r>
          </a:p>
        </p:txBody>
      </p:sp>
      <p:sp>
        <p:nvSpPr>
          <p:cNvPr id="1048682" name="TextBox 26"/>
          <p:cNvSpPr txBox="1"/>
          <p:nvPr/>
        </p:nvSpPr>
        <p:spPr>
          <a:xfrm>
            <a:off x="365760" y="5088635"/>
            <a:ext cx="365760" cy="139701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0" sz="1000" i="0">
                <a:solidFill>
                  <a:srgbClr val="6B6F78"/>
                </a:solidFill>
                <a:latin typeface="Consolas"/>
              </a:rPr>
              <a:t>10</a:t>
            </a:r>
          </a:p>
        </p:txBody>
      </p:sp>
      <p:sp>
        <p:nvSpPr>
          <p:cNvPr id="1048683" name="TextBox 27"/>
          <p:cNvSpPr txBox="1"/>
          <p:nvPr/>
        </p:nvSpPr>
        <p:spPr>
          <a:xfrm>
            <a:off x="804672" y="5088635"/>
            <a:ext cx="1481328" cy="165101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0" sz="1100" i="0">
                <a:solidFill>
                  <a:srgbClr val="9A9DA4"/>
                </a:solidFill>
                <a:latin typeface="Segoe UI"/>
              </a:rPr>
              <a:t>Results</a:t>
            </a:r>
          </a:p>
        </p:txBody>
      </p:sp>
      <p:sp>
        <p:nvSpPr>
          <p:cNvPr id="1048684" name="TextBox 28"/>
          <p:cNvSpPr txBox="1"/>
          <p:nvPr/>
        </p:nvSpPr>
        <p:spPr>
          <a:xfrm>
            <a:off x="365760" y="5440679"/>
            <a:ext cx="365760" cy="139701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0" sz="1000" i="0">
                <a:solidFill>
                  <a:srgbClr val="6B6F78"/>
                </a:solidFill>
                <a:latin typeface="Consolas"/>
              </a:rPr>
              <a:t>11</a:t>
            </a:r>
          </a:p>
        </p:txBody>
      </p:sp>
      <p:sp>
        <p:nvSpPr>
          <p:cNvPr id="1048685" name="TextBox 29"/>
          <p:cNvSpPr txBox="1"/>
          <p:nvPr/>
        </p:nvSpPr>
        <p:spPr>
          <a:xfrm>
            <a:off x="804672" y="5440679"/>
            <a:ext cx="1481328" cy="165101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0" sz="1100" i="0">
                <a:solidFill>
                  <a:srgbClr val="9A9DA4"/>
                </a:solidFill>
                <a:latin typeface="Segoe UI"/>
              </a:rPr>
              <a:t>Future Scope</a:t>
            </a:r>
          </a:p>
        </p:txBody>
      </p:sp>
      <p:sp>
        <p:nvSpPr>
          <p:cNvPr id="1048686" name="TextBox 30"/>
          <p:cNvSpPr txBox="1"/>
          <p:nvPr/>
        </p:nvSpPr>
        <p:spPr>
          <a:xfrm>
            <a:off x="365760" y="5792723"/>
            <a:ext cx="365760" cy="139701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0" sz="1000" i="0">
                <a:solidFill>
                  <a:srgbClr val="6B6F78"/>
                </a:solidFill>
                <a:latin typeface="Consolas"/>
              </a:rPr>
              <a:t>12</a:t>
            </a:r>
          </a:p>
        </p:txBody>
      </p:sp>
      <p:sp>
        <p:nvSpPr>
          <p:cNvPr id="1048687" name="TextBox 31"/>
          <p:cNvSpPr txBox="1"/>
          <p:nvPr/>
        </p:nvSpPr>
        <p:spPr>
          <a:xfrm>
            <a:off x="804672" y="5792723"/>
            <a:ext cx="1481328" cy="165101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0" sz="1100" i="0">
                <a:solidFill>
                  <a:srgbClr val="9A9DA4"/>
                </a:solidFill>
                <a:latin typeface="Segoe UI"/>
              </a:rPr>
              <a:t>Conclusion</a:t>
            </a:r>
          </a:p>
        </p:txBody>
      </p:sp>
      <p:sp>
        <p:nvSpPr>
          <p:cNvPr id="1048688" name="TextBox 32"/>
          <p:cNvSpPr txBox="1"/>
          <p:nvPr/>
        </p:nvSpPr>
        <p:spPr>
          <a:xfrm>
            <a:off x="365760" y="6400800"/>
            <a:ext cx="1920240" cy="114301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0" sz="850" i="0">
                <a:solidFill>
                  <a:srgbClr val="848074"/>
                </a:solidFill>
                <a:latin typeface="Segoe UI"/>
              </a:rPr>
              <a:t>DIET · TEAM 20</a:t>
            </a:r>
          </a:p>
        </p:txBody>
      </p:sp>
      <p:sp>
        <p:nvSpPr>
          <p:cNvPr id="1048689" name="TextBox 33"/>
          <p:cNvSpPr txBox="1"/>
          <p:nvPr/>
        </p:nvSpPr>
        <p:spPr>
          <a:xfrm>
            <a:off x="2788920" y="502920"/>
            <a:ext cx="8229600" cy="1778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1" sz="1200" i="0">
                <a:solidFill>
                  <a:srgbClr val="E2563B"/>
                </a:solidFill>
                <a:latin typeface="Segoe UI Semibold"/>
              </a:rPr>
              <a:t>THE CHALLENGE</a:t>
            </a:r>
          </a:p>
        </p:txBody>
      </p:sp>
      <p:sp>
        <p:nvSpPr>
          <p:cNvPr id="1048690" name="TextBox 34"/>
          <p:cNvSpPr txBox="1"/>
          <p:nvPr/>
        </p:nvSpPr>
        <p:spPr>
          <a:xfrm>
            <a:off x="2788920" y="841248"/>
            <a:ext cx="8961120" cy="5080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1" sz="3400" i="0">
                <a:solidFill>
                  <a:srgbClr val="14181F"/>
                </a:solidFill>
                <a:latin typeface="Georgia"/>
              </a:rPr>
              <a:t>Problem Statement</a:t>
            </a:r>
          </a:p>
        </p:txBody>
      </p:sp>
      <p:sp>
        <p:nvSpPr>
          <p:cNvPr id="1048691" name="Rectangle 35"/>
          <p:cNvSpPr/>
          <p:nvPr/>
        </p:nvSpPr>
        <p:spPr>
          <a:xfrm>
            <a:off x="2808920" y="1536192"/>
            <a:ext cx="685800" cy="38100"/>
          </a:xfrm>
          <a:prstGeom prst="rect"/>
          <a:solidFill>
            <a:srgbClr val="E25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92" name="TextBox 36"/>
          <p:cNvSpPr txBox="1"/>
          <p:nvPr/>
        </p:nvSpPr>
        <p:spPr>
          <a:xfrm>
            <a:off x="2788920" y="1874519"/>
            <a:ext cx="822960" cy="3810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1" sz="2600" i="0">
                <a:solidFill>
                  <a:srgbClr val="E2563B"/>
                </a:solidFill>
                <a:latin typeface="Georgia"/>
              </a:rPr>
              <a:t>01</a:t>
            </a:r>
          </a:p>
        </p:txBody>
      </p:sp>
      <p:sp>
        <p:nvSpPr>
          <p:cNvPr id="1048693" name="TextBox 37"/>
          <p:cNvSpPr txBox="1"/>
          <p:nvPr/>
        </p:nvSpPr>
        <p:spPr>
          <a:xfrm>
            <a:off x="3703320" y="1901951"/>
            <a:ext cx="2926080" cy="2413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1" sz="1600" i="0">
                <a:solidFill>
                  <a:srgbClr val="14181F"/>
                </a:solidFill>
                <a:latin typeface="Segoe UI Semibold"/>
              </a:rPr>
              <a:t>Inconsistent Casing</a:t>
            </a:r>
          </a:p>
        </p:txBody>
      </p:sp>
      <p:sp>
        <p:nvSpPr>
          <p:cNvPr id="1048694" name="TextBox 38"/>
          <p:cNvSpPr txBox="1"/>
          <p:nvPr/>
        </p:nvSpPr>
        <p:spPr>
          <a:xfrm>
            <a:off x="6720840" y="1911095"/>
            <a:ext cx="4846320" cy="398272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b="0" sz="1250" i="0">
                <a:solidFill>
                  <a:srgbClr val="3A4049"/>
                </a:solidFill>
                <a:latin typeface="Segoe UI"/>
              </a:rPr>
              <a:t>Mixed camelCase / PascalCase / lowercase create style violations &amp; audit complications.</a:t>
            </a:r>
          </a:p>
        </p:txBody>
      </p:sp>
      <p:sp>
        <p:nvSpPr>
          <p:cNvPr id="1048695" name="Rectangle 39"/>
          <p:cNvSpPr/>
          <p:nvPr/>
        </p:nvSpPr>
        <p:spPr>
          <a:xfrm>
            <a:off x="2788920" y="2670048"/>
            <a:ext cx="8778240" cy="12700"/>
          </a:xfrm>
          <a:prstGeom prst="rect"/>
          <a:solidFill>
            <a:srgbClr val="D3CD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96" name="TextBox 40"/>
          <p:cNvSpPr txBox="1"/>
          <p:nvPr/>
        </p:nvSpPr>
        <p:spPr>
          <a:xfrm>
            <a:off x="2788920" y="2724912"/>
            <a:ext cx="822960" cy="3810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1" sz="2600" i="0">
                <a:solidFill>
                  <a:srgbClr val="C8962E"/>
                </a:solidFill>
                <a:latin typeface="Georgia"/>
              </a:rPr>
              <a:t>02</a:t>
            </a:r>
          </a:p>
        </p:txBody>
      </p:sp>
      <p:sp>
        <p:nvSpPr>
          <p:cNvPr id="1048697" name="TextBox 41"/>
          <p:cNvSpPr txBox="1"/>
          <p:nvPr/>
        </p:nvSpPr>
        <p:spPr>
          <a:xfrm>
            <a:off x="3703320" y="2752344"/>
            <a:ext cx="2926080" cy="241301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1" sz="1600" i="0">
                <a:solidFill>
                  <a:srgbClr val="14181F"/>
                </a:solidFill>
                <a:latin typeface="Segoe UI Semibold"/>
              </a:rPr>
              <a:t>Legacy Join Syntax</a:t>
            </a:r>
          </a:p>
        </p:txBody>
      </p:sp>
      <p:sp>
        <p:nvSpPr>
          <p:cNvPr id="1048698" name="TextBox 42"/>
          <p:cNvSpPr txBox="1"/>
          <p:nvPr/>
        </p:nvSpPr>
        <p:spPr>
          <a:xfrm>
            <a:off x="6720840" y="2761488"/>
            <a:ext cx="4846320" cy="398272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b="0" sz="1250" i="0">
                <a:solidFill>
                  <a:srgbClr val="3A4049"/>
                </a:solidFill>
                <a:latin typeface="Segoe UI"/>
              </a:rPr>
              <a:t>Implicit comma-joins obscure join pathways and inflate maintenance overhead.</a:t>
            </a:r>
          </a:p>
        </p:txBody>
      </p:sp>
      <p:sp>
        <p:nvSpPr>
          <p:cNvPr id="1048699" name="Rectangle 43"/>
          <p:cNvSpPr/>
          <p:nvPr/>
        </p:nvSpPr>
        <p:spPr>
          <a:xfrm>
            <a:off x="2788920" y="3520440"/>
            <a:ext cx="8778240" cy="12700"/>
          </a:xfrm>
          <a:prstGeom prst="rect"/>
          <a:solidFill>
            <a:srgbClr val="D3CD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00" name="TextBox 44"/>
          <p:cNvSpPr txBox="1"/>
          <p:nvPr/>
        </p:nvSpPr>
        <p:spPr>
          <a:xfrm>
            <a:off x="2788920" y="3575304"/>
            <a:ext cx="822960" cy="3810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1" sz="2600" i="0">
                <a:solidFill>
                  <a:srgbClr val="7A3E6B"/>
                </a:solidFill>
                <a:latin typeface="Georgia"/>
              </a:rPr>
              <a:t>03</a:t>
            </a:r>
          </a:p>
        </p:txBody>
      </p:sp>
      <p:sp>
        <p:nvSpPr>
          <p:cNvPr id="1048701" name="TextBox 45"/>
          <p:cNvSpPr txBox="1"/>
          <p:nvPr/>
        </p:nvSpPr>
        <p:spPr>
          <a:xfrm>
            <a:off x="3703320" y="3602736"/>
            <a:ext cx="2926080" cy="241301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1" sz="1600" i="0">
                <a:solidFill>
                  <a:srgbClr val="14181F"/>
                </a:solidFill>
                <a:latin typeface="Segoe UI Semibold"/>
              </a:rPr>
              <a:t>Subquery Nesting</a:t>
            </a:r>
          </a:p>
        </p:txBody>
      </p:sp>
      <p:sp>
        <p:nvSpPr>
          <p:cNvPr id="1048702" name="TextBox 46"/>
          <p:cNvSpPr txBox="1"/>
          <p:nvPr/>
        </p:nvSpPr>
        <p:spPr>
          <a:xfrm>
            <a:off x="6720840" y="3611880"/>
            <a:ext cx="4846320" cy="398272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b="0" sz="1250" i="0">
                <a:solidFill>
                  <a:srgbClr val="3A4049"/>
                </a:solidFill>
                <a:latin typeface="Segoe UI"/>
              </a:rPr>
              <a:t>Deeply nested SELECTs hurt readability and limit optimizer index lookups.</a:t>
            </a:r>
          </a:p>
        </p:txBody>
      </p:sp>
      <p:sp>
        <p:nvSpPr>
          <p:cNvPr id="1048703" name="Rectangle 47"/>
          <p:cNvSpPr/>
          <p:nvPr/>
        </p:nvSpPr>
        <p:spPr>
          <a:xfrm>
            <a:off x="2788920" y="4370832"/>
            <a:ext cx="8778240" cy="12700"/>
          </a:xfrm>
          <a:prstGeom prst="rect"/>
          <a:solidFill>
            <a:srgbClr val="D3CD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04" name="TextBox 48"/>
          <p:cNvSpPr txBox="1"/>
          <p:nvPr/>
        </p:nvSpPr>
        <p:spPr>
          <a:xfrm>
            <a:off x="2788920" y="4425696"/>
            <a:ext cx="822960" cy="381001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1" sz="2600" i="0">
                <a:solidFill>
                  <a:srgbClr val="2D5D8A"/>
                </a:solidFill>
                <a:latin typeface="Georgia"/>
              </a:rPr>
              <a:t>04</a:t>
            </a:r>
          </a:p>
        </p:txBody>
      </p:sp>
      <p:sp>
        <p:nvSpPr>
          <p:cNvPr id="1048705" name="TextBox 49"/>
          <p:cNvSpPr txBox="1"/>
          <p:nvPr/>
        </p:nvSpPr>
        <p:spPr>
          <a:xfrm>
            <a:off x="3703320" y="4453128"/>
            <a:ext cx="2926080" cy="241301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1" sz="1600" i="0">
                <a:solidFill>
                  <a:srgbClr val="14181F"/>
                </a:solidFill>
                <a:latin typeface="Segoe UI Semibold"/>
              </a:rPr>
              <a:t>Cost Inflation</a:t>
            </a:r>
          </a:p>
        </p:txBody>
      </p:sp>
      <p:sp>
        <p:nvSpPr>
          <p:cNvPr id="1048706" name="TextBox 50"/>
          <p:cNvSpPr txBox="1"/>
          <p:nvPr/>
        </p:nvSpPr>
        <p:spPr>
          <a:xfrm>
            <a:off x="6720840" y="4462272"/>
            <a:ext cx="4846320" cy="199136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b="0" sz="1250" i="0">
                <a:solidFill>
                  <a:srgbClr val="3A4049"/>
                </a:solidFill>
                <a:latin typeface="Segoe UI"/>
              </a:rPr>
              <a:t>Unrestricted SELECT * drives up cloud cost under pay-per-query billing.</a:t>
            </a:r>
          </a:p>
        </p:txBody>
      </p:sp>
      <p:sp>
        <p:nvSpPr>
          <p:cNvPr id="1048707" name="Rectangle 51"/>
          <p:cNvSpPr/>
          <p:nvPr/>
        </p:nvSpPr>
        <p:spPr>
          <a:xfrm>
            <a:off x="2788920" y="5221224"/>
            <a:ext cx="8778240" cy="12700"/>
          </a:xfrm>
          <a:prstGeom prst="rect"/>
          <a:solidFill>
            <a:srgbClr val="D3CD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08" name="TextBox 52"/>
          <p:cNvSpPr txBox="1"/>
          <p:nvPr/>
        </p:nvSpPr>
        <p:spPr>
          <a:xfrm>
            <a:off x="2788920" y="5276088"/>
            <a:ext cx="822960" cy="3810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1" sz="2600" i="0">
                <a:solidFill>
                  <a:srgbClr val="108A5C"/>
                </a:solidFill>
                <a:latin typeface="Georgia"/>
              </a:rPr>
              <a:t>05</a:t>
            </a:r>
          </a:p>
        </p:txBody>
      </p:sp>
      <p:sp>
        <p:nvSpPr>
          <p:cNvPr id="1048709" name="TextBox 53"/>
          <p:cNvSpPr txBox="1"/>
          <p:nvPr/>
        </p:nvSpPr>
        <p:spPr>
          <a:xfrm>
            <a:off x="3703320" y="5303520"/>
            <a:ext cx="2926080" cy="241301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1" sz="1600" i="0">
                <a:solidFill>
                  <a:srgbClr val="14181F"/>
                </a:solidFill>
                <a:latin typeface="Segoe UI Semibold"/>
              </a:rPr>
              <a:t>Validation Risk</a:t>
            </a:r>
          </a:p>
        </p:txBody>
      </p:sp>
      <p:sp>
        <p:nvSpPr>
          <p:cNvPr id="1048710" name="TextBox 54"/>
          <p:cNvSpPr txBox="1"/>
          <p:nvPr/>
        </p:nvSpPr>
        <p:spPr>
          <a:xfrm>
            <a:off x="6720840" y="5312664"/>
            <a:ext cx="4846320" cy="199136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b="0" sz="1250" i="0">
                <a:solidFill>
                  <a:srgbClr val="3A4049"/>
                </a:solidFill>
                <a:latin typeface="Segoe UI"/>
              </a:rPr>
              <a:t>Rule linters miss logic; raw LLMs hallucinate and break SQL syntax.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0" name=""/>
        <p:cNvGrpSpPr/>
        <p:nvPr/>
      </p:nvGrpSpPr>
      <p:grpSpPr>
        <a:xfrm/>
      </p:grpSpPr>
      <p:sp>
        <p:nvSpPr>
          <p:cNvPr id="1048711" name="Rectangle 1"/>
          <p:cNvSpPr/>
          <p:nvPr/>
        </p:nvSpPr>
        <p:spPr>
          <a:xfrm>
            <a:off x="0" y="0"/>
            <a:ext cx="12191695" cy="6858000"/>
          </a:xfrm>
          <a:prstGeom prst="rect"/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12" name="Rectangle 2"/>
          <p:cNvSpPr/>
          <p:nvPr/>
        </p:nvSpPr>
        <p:spPr>
          <a:xfrm>
            <a:off x="0" y="0"/>
            <a:ext cx="2331720" cy="6858000"/>
          </a:xfrm>
          <a:prstGeom prst="rect"/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13" name="Rectangle 3"/>
          <p:cNvSpPr/>
          <p:nvPr/>
        </p:nvSpPr>
        <p:spPr>
          <a:xfrm>
            <a:off x="2293620" y="0"/>
            <a:ext cx="38100" cy="6858000"/>
          </a:xfrm>
          <a:prstGeom prst="rect"/>
          <a:solidFill>
            <a:srgbClr val="7A3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14" name="TextBox 4"/>
          <p:cNvSpPr txBox="1"/>
          <p:nvPr/>
        </p:nvSpPr>
        <p:spPr>
          <a:xfrm>
            <a:off x="365760" y="365760"/>
            <a:ext cx="1828800" cy="3048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1" sz="2000" i="0">
                <a:solidFill>
                  <a:srgbClr val="7A3E6B"/>
                </a:solidFill>
                <a:latin typeface="Georgia"/>
              </a:rPr>
              <a:t>&lt;/&gt;</a:t>
            </a:r>
          </a:p>
        </p:txBody>
      </p:sp>
      <p:sp>
        <p:nvSpPr>
          <p:cNvPr id="1048715" name="TextBox 5"/>
          <p:cNvSpPr txBox="1"/>
          <p:nvPr/>
        </p:nvSpPr>
        <p:spPr>
          <a:xfrm>
            <a:off x="365760" y="804672"/>
            <a:ext cx="1828800" cy="44196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b="1" sz="1200" i="0">
                <a:solidFill>
                  <a:srgbClr val="F4F1EA"/>
                </a:solidFill>
                <a:latin typeface="Segoe UI Semibold"/>
              </a:rPr>
              <a:t>SQL Query Linter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b="0" sz="1200" i="0">
                <a:solidFill>
                  <a:srgbClr val="848074"/>
                </a:solidFill>
                <a:latin typeface="Segoe UI"/>
              </a:rPr>
              <a:t>&amp; Style Fixer</a:t>
            </a:r>
          </a:p>
        </p:txBody>
      </p:sp>
      <p:sp>
        <p:nvSpPr>
          <p:cNvPr id="1048716" name="Rectangle 6"/>
          <p:cNvSpPr/>
          <p:nvPr/>
        </p:nvSpPr>
        <p:spPr>
          <a:xfrm>
            <a:off x="365760" y="1664208"/>
            <a:ext cx="914400" cy="25400"/>
          </a:xfrm>
          <a:prstGeom prst="rect"/>
          <a:solidFill>
            <a:srgbClr val="7A3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17" name="TextBox 7"/>
          <p:cNvSpPr txBox="1"/>
          <p:nvPr/>
        </p:nvSpPr>
        <p:spPr>
          <a:xfrm>
            <a:off x="365760" y="1920240"/>
            <a:ext cx="365760" cy="1397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0" sz="1000" i="0">
                <a:solidFill>
                  <a:srgbClr val="6B6F78"/>
                </a:solidFill>
                <a:latin typeface="Consolas"/>
              </a:rPr>
              <a:t>01</a:t>
            </a:r>
          </a:p>
        </p:txBody>
      </p:sp>
      <p:sp>
        <p:nvSpPr>
          <p:cNvPr id="1048718" name="TextBox 8"/>
          <p:cNvSpPr txBox="1"/>
          <p:nvPr/>
        </p:nvSpPr>
        <p:spPr>
          <a:xfrm>
            <a:off x="804672" y="1920240"/>
            <a:ext cx="1481328" cy="1651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0" sz="1100" i="0">
                <a:solidFill>
                  <a:srgbClr val="9A9DA4"/>
                </a:solidFill>
                <a:latin typeface="Segoe UI"/>
              </a:rPr>
              <a:t>Objective</a:t>
            </a:r>
          </a:p>
        </p:txBody>
      </p:sp>
      <p:sp>
        <p:nvSpPr>
          <p:cNvPr id="1048719" name="TextBox 9"/>
          <p:cNvSpPr txBox="1"/>
          <p:nvPr/>
        </p:nvSpPr>
        <p:spPr>
          <a:xfrm>
            <a:off x="365760" y="2272284"/>
            <a:ext cx="365760" cy="1397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0" sz="1000" i="0">
                <a:solidFill>
                  <a:srgbClr val="6B6F78"/>
                </a:solidFill>
                <a:latin typeface="Consolas"/>
              </a:rPr>
              <a:t>02</a:t>
            </a:r>
          </a:p>
        </p:txBody>
      </p:sp>
      <p:sp>
        <p:nvSpPr>
          <p:cNvPr id="1048720" name="TextBox 10"/>
          <p:cNvSpPr txBox="1"/>
          <p:nvPr/>
        </p:nvSpPr>
        <p:spPr>
          <a:xfrm>
            <a:off x="804672" y="2272284"/>
            <a:ext cx="1481328" cy="1651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0" sz="1100" i="0">
                <a:solidFill>
                  <a:srgbClr val="9A9DA4"/>
                </a:solidFill>
                <a:latin typeface="Segoe UI"/>
              </a:rPr>
              <a:t>Problem</a:t>
            </a:r>
          </a:p>
        </p:txBody>
      </p:sp>
      <p:sp>
        <p:nvSpPr>
          <p:cNvPr id="1048721" name="Rectangle 11"/>
          <p:cNvSpPr/>
          <p:nvPr/>
        </p:nvSpPr>
        <p:spPr>
          <a:xfrm>
            <a:off x="0" y="2596896"/>
            <a:ext cx="73152" cy="310896"/>
          </a:xfrm>
          <a:prstGeom prst="rect"/>
          <a:solidFill>
            <a:srgbClr val="7A3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22" name="TextBox 12"/>
          <p:cNvSpPr txBox="1"/>
          <p:nvPr/>
        </p:nvSpPr>
        <p:spPr>
          <a:xfrm>
            <a:off x="365760" y="2624328"/>
            <a:ext cx="365760" cy="1397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1" sz="1000" i="0">
                <a:solidFill>
                  <a:srgbClr val="7A3E6B"/>
                </a:solidFill>
                <a:latin typeface="Consolas"/>
              </a:rPr>
              <a:t>03</a:t>
            </a:r>
          </a:p>
        </p:txBody>
      </p:sp>
      <p:sp>
        <p:nvSpPr>
          <p:cNvPr id="1048723" name="TextBox 13"/>
          <p:cNvSpPr txBox="1"/>
          <p:nvPr/>
        </p:nvSpPr>
        <p:spPr>
          <a:xfrm>
            <a:off x="804672" y="2624328"/>
            <a:ext cx="1481328" cy="1651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1" sz="1100" i="0">
                <a:solidFill>
                  <a:srgbClr val="F4F1EA"/>
                </a:solidFill>
                <a:latin typeface="Segoe UI Semibold"/>
              </a:rPr>
              <a:t>Approach</a:t>
            </a:r>
          </a:p>
        </p:txBody>
      </p:sp>
      <p:sp>
        <p:nvSpPr>
          <p:cNvPr id="1048724" name="TextBox 14"/>
          <p:cNvSpPr txBox="1"/>
          <p:nvPr/>
        </p:nvSpPr>
        <p:spPr>
          <a:xfrm>
            <a:off x="365760" y="2976372"/>
            <a:ext cx="365760" cy="1397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0" sz="1000" i="0">
                <a:solidFill>
                  <a:srgbClr val="6B6F78"/>
                </a:solidFill>
                <a:latin typeface="Consolas"/>
              </a:rPr>
              <a:t>04</a:t>
            </a:r>
          </a:p>
        </p:txBody>
      </p:sp>
      <p:sp>
        <p:nvSpPr>
          <p:cNvPr id="1048725" name="TextBox 15"/>
          <p:cNvSpPr txBox="1"/>
          <p:nvPr/>
        </p:nvSpPr>
        <p:spPr>
          <a:xfrm>
            <a:off x="804672" y="2976372"/>
            <a:ext cx="1481328" cy="1651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0" sz="1100" i="0">
                <a:solidFill>
                  <a:srgbClr val="9A9DA4"/>
                </a:solidFill>
                <a:latin typeface="Segoe UI"/>
              </a:rPr>
              <a:t>Tech Stack</a:t>
            </a:r>
          </a:p>
        </p:txBody>
      </p:sp>
      <p:sp>
        <p:nvSpPr>
          <p:cNvPr id="1048726" name="TextBox 16"/>
          <p:cNvSpPr txBox="1"/>
          <p:nvPr/>
        </p:nvSpPr>
        <p:spPr>
          <a:xfrm>
            <a:off x="365760" y="3328415"/>
            <a:ext cx="365760" cy="1397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0" sz="1000" i="0">
                <a:solidFill>
                  <a:srgbClr val="6B6F78"/>
                </a:solidFill>
                <a:latin typeface="Consolas"/>
              </a:rPr>
              <a:t>05</a:t>
            </a:r>
          </a:p>
        </p:txBody>
      </p:sp>
      <p:sp>
        <p:nvSpPr>
          <p:cNvPr id="1048727" name="TextBox 17"/>
          <p:cNvSpPr txBox="1"/>
          <p:nvPr/>
        </p:nvSpPr>
        <p:spPr>
          <a:xfrm>
            <a:off x="804672" y="3328415"/>
            <a:ext cx="1481328" cy="1651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0" sz="1100" i="0">
                <a:solidFill>
                  <a:srgbClr val="9A9DA4"/>
                </a:solidFill>
                <a:latin typeface="Segoe UI"/>
              </a:rPr>
              <a:t>Architecture</a:t>
            </a:r>
          </a:p>
        </p:txBody>
      </p:sp>
      <p:sp>
        <p:nvSpPr>
          <p:cNvPr id="1048728" name="TextBox 18"/>
          <p:cNvSpPr txBox="1"/>
          <p:nvPr/>
        </p:nvSpPr>
        <p:spPr>
          <a:xfrm>
            <a:off x="365760" y="3680459"/>
            <a:ext cx="365760" cy="1397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0" sz="1000" i="0">
                <a:solidFill>
                  <a:srgbClr val="6B6F78"/>
                </a:solidFill>
                <a:latin typeface="Consolas"/>
              </a:rPr>
              <a:t>06</a:t>
            </a:r>
          </a:p>
        </p:txBody>
      </p:sp>
      <p:sp>
        <p:nvSpPr>
          <p:cNvPr id="1048729" name="TextBox 19"/>
          <p:cNvSpPr txBox="1"/>
          <p:nvPr/>
        </p:nvSpPr>
        <p:spPr>
          <a:xfrm>
            <a:off x="804672" y="3680459"/>
            <a:ext cx="1481328" cy="1651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0" sz="1100" i="0">
                <a:solidFill>
                  <a:srgbClr val="9A9DA4"/>
                </a:solidFill>
                <a:latin typeface="Segoe UI"/>
              </a:rPr>
              <a:t>Modules</a:t>
            </a:r>
          </a:p>
        </p:txBody>
      </p:sp>
      <p:sp>
        <p:nvSpPr>
          <p:cNvPr id="1048730" name="TextBox 20"/>
          <p:cNvSpPr txBox="1"/>
          <p:nvPr/>
        </p:nvSpPr>
        <p:spPr>
          <a:xfrm>
            <a:off x="365760" y="4032503"/>
            <a:ext cx="365760" cy="1397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0" sz="1000" i="0">
                <a:solidFill>
                  <a:srgbClr val="6B6F78"/>
                </a:solidFill>
                <a:latin typeface="Consolas"/>
              </a:rPr>
              <a:t>07</a:t>
            </a:r>
          </a:p>
        </p:txBody>
      </p:sp>
      <p:sp>
        <p:nvSpPr>
          <p:cNvPr id="1048731" name="TextBox 21"/>
          <p:cNvSpPr txBox="1"/>
          <p:nvPr/>
        </p:nvSpPr>
        <p:spPr>
          <a:xfrm>
            <a:off x="804672" y="4032503"/>
            <a:ext cx="1481328" cy="1651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0" sz="1100" i="0">
                <a:solidFill>
                  <a:srgbClr val="9A9DA4"/>
                </a:solidFill>
                <a:latin typeface="Segoe UI"/>
              </a:rPr>
              <a:t>Before / After</a:t>
            </a:r>
          </a:p>
        </p:txBody>
      </p:sp>
      <p:sp>
        <p:nvSpPr>
          <p:cNvPr id="1048732" name="TextBox 22"/>
          <p:cNvSpPr txBox="1"/>
          <p:nvPr/>
        </p:nvSpPr>
        <p:spPr>
          <a:xfrm>
            <a:off x="365760" y="4384547"/>
            <a:ext cx="365760" cy="1397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0" sz="1000" i="0">
                <a:solidFill>
                  <a:srgbClr val="6B6F78"/>
                </a:solidFill>
                <a:latin typeface="Consolas"/>
              </a:rPr>
              <a:t>08</a:t>
            </a:r>
          </a:p>
        </p:txBody>
      </p:sp>
      <p:sp>
        <p:nvSpPr>
          <p:cNvPr id="1048733" name="TextBox 23"/>
          <p:cNvSpPr txBox="1"/>
          <p:nvPr/>
        </p:nvSpPr>
        <p:spPr>
          <a:xfrm>
            <a:off x="804672" y="4384547"/>
            <a:ext cx="1481328" cy="1651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0" sz="1100" i="0">
                <a:solidFill>
                  <a:srgbClr val="9A9DA4"/>
                </a:solidFill>
                <a:latin typeface="Segoe UI"/>
              </a:rPr>
              <a:t>Validation</a:t>
            </a:r>
          </a:p>
        </p:txBody>
      </p:sp>
      <p:sp>
        <p:nvSpPr>
          <p:cNvPr id="1048734" name="TextBox 24"/>
          <p:cNvSpPr txBox="1"/>
          <p:nvPr/>
        </p:nvSpPr>
        <p:spPr>
          <a:xfrm>
            <a:off x="365760" y="4736591"/>
            <a:ext cx="365760" cy="139701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0" sz="1000" i="0">
                <a:solidFill>
                  <a:srgbClr val="6B6F78"/>
                </a:solidFill>
                <a:latin typeface="Consolas"/>
              </a:rPr>
              <a:t>09</a:t>
            </a:r>
          </a:p>
        </p:txBody>
      </p:sp>
      <p:sp>
        <p:nvSpPr>
          <p:cNvPr id="1048735" name="TextBox 25"/>
          <p:cNvSpPr txBox="1"/>
          <p:nvPr/>
        </p:nvSpPr>
        <p:spPr>
          <a:xfrm>
            <a:off x="804672" y="4736591"/>
            <a:ext cx="1481328" cy="165101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0" sz="1100" i="0">
                <a:solidFill>
                  <a:srgbClr val="9A9DA4"/>
                </a:solidFill>
                <a:latin typeface="Segoe UI"/>
              </a:rPr>
              <a:t>Advantages</a:t>
            </a:r>
          </a:p>
        </p:txBody>
      </p:sp>
      <p:sp>
        <p:nvSpPr>
          <p:cNvPr id="1048736" name="TextBox 26"/>
          <p:cNvSpPr txBox="1"/>
          <p:nvPr/>
        </p:nvSpPr>
        <p:spPr>
          <a:xfrm>
            <a:off x="365760" y="5088635"/>
            <a:ext cx="365760" cy="139701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0" sz="1000" i="0">
                <a:solidFill>
                  <a:srgbClr val="6B6F78"/>
                </a:solidFill>
                <a:latin typeface="Consolas"/>
              </a:rPr>
              <a:t>10</a:t>
            </a:r>
          </a:p>
        </p:txBody>
      </p:sp>
      <p:sp>
        <p:nvSpPr>
          <p:cNvPr id="1048737" name="TextBox 27"/>
          <p:cNvSpPr txBox="1"/>
          <p:nvPr/>
        </p:nvSpPr>
        <p:spPr>
          <a:xfrm>
            <a:off x="804672" y="5088635"/>
            <a:ext cx="1481328" cy="165101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0" sz="1100" i="0">
                <a:solidFill>
                  <a:srgbClr val="9A9DA4"/>
                </a:solidFill>
                <a:latin typeface="Segoe UI"/>
              </a:rPr>
              <a:t>Results</a:t>
            </a:r>
          </a:p>
        </p:txBody>
      </p:sp>
      <p:sp>
        <p:nvSpPr>
          <p:cNvPr id="1048738" name="TextBox 28"/>
          <p:cNvSpPr txBox="1"/>
          <p:nvPr/>
        </p:nvSpPr>
        <p:spPr>
          <a:xfrm>
            <a:off x="365760" y="5440679"/>
            <a:ext cx="365760" cy="139701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0" sz="1000" i="0">
                <a:solidFill>
                  <a:srgbClr val="6B6F78"/>
                </a:solidFill>
                <a:latin typeface="Consolas"/>
              </a:rPr>
              <a:t>11</a:t>
            </a:r>
          </a:p>
        </p:txBody>
      </p:sp>
      <p:sp>
        <p:nvSpPr>
          <p:cNvPr id="1048739" name="TextBox 29"/>
          <p:cNvSpPr txBox="1"/>
          <p:nvPr/>
        </p:nvSpPr>
        <p:spPr>
          <a:xfrm>
            <a:off x="804672" y="5440679"/>
            <a:ext cx="1481328" cy="165101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0" sz="1100" i="0">
                <a:solidFill>
                  <a:srgbClr val="9A9DA4"/>
                </a:solidFill>
                <a:latin typeface="Segoe UI"/>
              </a:rPr>
              <a:t>Future Scope</a:t>
            </a:r>
          </a:p>
        </p:txBody>
      </p:sp>
      <p:sp>
        <p:nvSpPr>
          <p:cNvPr id="1048740" name="TextBox 30"/>
          <p:cNvSpPr txBox="1"/>
          <p:nvPr/>
        </p:nvSpPr>
        <p:spPr>
          <a:xfrm>
            <a:off x="365760" y="5792723"/>
            <a:ext cx="365760" cy="139701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0" sz="1000" i="0">
                <a:solidFill>
                  <a:srgbClr val="6B6F78"/>
                </a:solidFill>
                <a:latin typeface="Consolas"/>
              </a:rPr>
              <a:t>12</a:t>
            </a:r>
          </a:p>
        </p:txBody>
      </p:sp>
      <p:sp>
        <p:nvSpPr>
          <p:cNvPr id="1048741" name="TextBox 31"/>
          <p:cNvSpPr txBox="1"/>
          <p:nvPr/>
        </p:nvSpPr>
        <p:spPr>
          <a:xfrm>
            <a:off x="804672" y="5792723"/>
            <a:ext cx="1481328" cy="165101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0" sz="1100" i="0">
                <a:solidFill>
                  <a:srgbClr val="9A9DA4"/>
                </a:solidFill>
                <a:latin typeface="Segoe UI"/>
              </a:rPr>
              <a:t>Conclusion</a:t>
            </a:r>
          </a:p>
        </p:txBody>
      </p:sp>
      <p:sp>
        <p:nvSpPr>
          <p:cNvPr id="1048742" name="TextBox 32"/>
          <p:cNvSpPr txBox="1"/>
          <p:nvPr/>
        </p:nvSpPr>
        <p:spPr>
          <a:xfrm>
            <a:off x="365760" y="6400800"/>
            <a:ext cx="1920240" cy="114301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0" sz="850" i="0">
                <a:solidFill>
                  <a:srgbClr val="848074"/>
                </a:solidFill>
                <a:latin typeface="Segoe UI"/>
              </a:rPr>
              <a:t>DIET · TEAM 20</a:t>
            </a:r>
          </a:p>
        </p:txBody>
      </p:sp>
      <p:sp>
        <p:nvSpPr>
          <p:cNvPr id="1048743" name="TextBox 33"/>
          <p:cNvSpPr txBox="1"/>
          <p:nvPr/>
        </p:nvSpPr>
        <p:spPr>
          <a:xfrm>
            <a:off x="2788920" y="502920"/>
            <a:ext cx="8229600" cy="1778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1" sz="1200" i="0">
                <a:solidFill>
                  <a:srgbClr val="7A3E6B"/>
                </a:solidFill>
                <a:latin typeface="Segoe UI Semibold"/>
              </a:rPr>
              <a:t>OUR SOLUTION</a:t>
            </a:r>
          </a:p>
        </p:txBody>
      </p:sp>
      <p:sp>
        <p:nvSpPr>
          <p:cNvPr id="1048744" name="TextBox 34"/>
          <p:cNvSpPr txBox="1"/>
          <p:nvPr/>
        </p:nvSpPr>
        <p:spPr>
          <a:xfrm>
            <a:off x="2788920" y="841248"/>
            <a:ext cx="8961120" cy="5080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1" sz="3400" i="0">
                <a:solidFill>
                  <a:srgbClr val="14181F"/>
                </a:solidFill>
                <a:latin typeface="Georgia"/>
              </a:rPr>
              <a:t>The Hybrid Approach</a:t>
            </a:r>
          </a:p>
        </p:txBody>
      </p:sp>
      <p:sp>
        <p:nvSpPr>
          <p:cNvPr id="1048745" name="Rectangle 35"/>
          <p:cNvSpPr/>
          <p:nvPr/>
        </p:nvSpPr>
        <p:spPr>
          <a:xfrm>
            <a:off x="2808920" y="1536192"/>
            <a:ext cx="685800" cy="38100"/>
          </a:xfrm>
          <a:prstGeom prst="rect"/>
          <a:solidFill>
            <a:srgbClr val="7A3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46" name="TextBox 36"/>
          <p:cNvSpPr txBox="1"/>
          <p:nvPr/>
        </p:nvSpPr>
        <p:spPr>
          <a:xfrm>
            <a:off x="2788920" y="1828800"/>
            <a:ext cx="8778240" cy="70104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b="0" sz="1900" i="0">
                <a:solidFill>
                  <a:srgbClr val="14181F"/>
                </a:solidFill>
                <a:latin typeface="Georgia"/>
              </a:rPr>
              <a:t>Pair a </a:t>
            </a:r>
            <a:r>
              <a:rPr b="1" sz="1900" i="0">
                <a:solidFill>
                  <a:srgbClr val="7A3E6B"/>
                </a:solidFill>
                <a:latin typeface="Georgia"/>
              </a:rPr>
              <a:t>zero-cost deterministic linter</a:t>
            </a:r>
            <a:r>
              <a:rPr b="0" sz="1900" i="0">
                <a:solidFill>
                  <a:srgbClr val="14181F"/>
                </a:solidFill>
                <a:latin typeface="Georgia"/>
              </a:rPr>
              <a:t> with </a:t>
            </a:r>
            <a:r>
              <a:rPr b="1" sz="1900" i="0">
                <a:solidFill>
                  <a:srgbClr val="7A3E6B"/>
                </a:solidFill>
                <a:latin typeface="Georgia"/>
              </a:rPr>
              <a:t>AI-driven semantic refactoring</a:t>
            </a:r>
            <a:r>
              <a:rPr b="0" sz="1900" i="0">
                <a:solidFill>
                  <a:srgbClr val="14181F"/>
                </a:solidFill>
                <a:latin typeface="Georgia"/>
              </a:rPr>
              <a:t> — guarded by a syntax validation loop.</a:t>
            </a:r>
          </a:p>
        </p:txBody>
      </p:sp>
      <p:sp>
        <p:nvSpPr>
          <p:cNvPr id="1048747" name="Rounded Rectangle 37"/>
          <p:cNvSpPr/>
          <p:nvPr/>
        </p:nvSpPr>
        <p:spPr>
          <a:xfrm>
            <a:off x="2788920" y="2971800"/>
            <a:ext cx="2788920" cy="2743200"/>
          </a:xfrm>
          <a:prstGeom prst="roundRect">
            <a:avLst>
              <a:gd name="adj" fmla="val 5000"/>
            </a:avLst>
          </a:prstGeom>
          <a:solidFill>
            <a:srgbClr val="FFFEFB"/>
          </a:solidFill>
          <a:ln w="12700">
            <a:solidFill>
              <a:srgbClr val="D3CD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48" name="Rectangle 38"/>
          <p:cNvSpPr/>
          <p:nvPr/>
        </p:nvSpPr>
        <p:spPr>
          <a:xfrm>
            <a:off x="2788920" y="2971800"/>
            <a:ext cx="2788920" cy="63500"/>
          </a:xfrm>
          <a:prstGeom prst="rect"/>
          <a:solidFill>
            <a:srgbClr val="2D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49" name="TextBox 39"/>
          <p:cNvSpPr txBox="1"/>
          <p:nvPr/>
        </p:nvSpPr>
        <p:spPr>
          <a:xfrm>
            <a:off x="3063240" y="3246120"/>
            <a:ext cx="2240280" cy="1651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1" sz="1100" i="0">
                <a:solidFill>
                  <a:srgbClr val="2D5D8A"/>
                </a:solidFill>
                <a:latin typeface="Segoe UI Semibold"/>
              </a:rPr>
              <a:t>PHASE 1</a:t>
            </a:r>
          </a:p>
        </p:txBody>
      </p:sp>
      <p:sp>
        <p:nvSpPr>
          <p:cNvPr id="1048750" name="TextBox 40"/>
          <p:cNvSpPr txBox="1"/>
          <p:nvPr/>
        </p:nvSpPr>
        <p:spPr>
          <a:xfrm>
            <a:off x="3063240" y="3538728"/>
            <a:ext cx="2240280" cy="3175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1" sz="2200" i="0">
                <a:solidFill>
                  <a:srgbClr val="14181F"/>
                </a:solidFill>
                <a:latin typeface="Georgia"/>
              </a:rPr>
              <a:t>Local Linter</a:t>
            </a:r>
          </a:p>
        </p:txBody>
      </p:sp>
      <p:sp>
        <p:nvSpPr>
          <p:cNvPr id="1048751" name="Rectangle 41"/>
          <p:cNvSpPr/>
          <p:nvPr/>
        </p:nvSpPr>
        <p:spPr>
          <a:xfrm>
            <a:off x="3063240" y="4069080"/>
            <a:ext cx="548640" cy="25400"/>
          </a:xfrm>
          <a:prstGeom prst="rect"/>
          <a:solidFill>
            <a:srgbClr val="2D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52" name="TextBox 42"/>
          <p:cNvSpPr txBox="1"/>
          <p:nvPr/>
        </p:nvSpPr>
        <p:spPr>
          <a:xfrm>
            <a:off x="3063240" y="4251960"/>
            <a:ext cx="2240280" cy="8890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b="0" sz="1250" i="0">
                <a:solidFill>
                  <a:srgbClr val="3A4049"/>
                </a:solidFill>
                <a:latin typeface="Segoe UI"/>
              </a:rPr>
              <a:t>Deterministic regex rules fix casing, keywords &amp; strip artifacts. Runs locally at zero token cost.</a:t>
            </a:r>
          </a:p>
        </p:txBody>
      </p:sp>
      <p:sp>
        <p:nvSpPr>
          <p:cNvPr id="1048753" name="Chevron 43"/>
          <p:cNvSpPr/>
          <p:nvPr/>
        </p:nvSpPr>
        <p:spPr>
          <a:xfrm>
            <a:off x="5585840" y="4160520"/>
            <a:ext cx="164592" cy="365760"/>
          </a:xfrm>
          <a:prstGeom prst="chevron"/>
          <a:solidFill>
            <a:srgbClr val="7A3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54" name="Rounded Rectangle 44"/>
          <p:cNvSpPr/>
          <p:nvPr/>
        </p:nvSpPr>
        <p:spPr>
          <a:xfrm>
            <a:off x="5779008" y="2971800"/>
            <a:ext cx="2788920" cy="2743200"/>
          </a:xfrm>
          <a:prstGeom prst="roundRect">
            <a:avLst>
              <a:gd name="adj" fmla="val 5000"/>
            </a:avLst>
          </a:prstGeom>
          <a:solidFill>
            <a:srgbClr val="FFFEFB"/>
          </a:solidFill>
          <a:ln w="12700">
            <a:solidFill>
              <a:srgbClr val="D3CD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55" name="Rectangle 45"/>
          <p:cNvSpPr/>
          <p:nvPr/>
        </p:nvSpPr>
        <p:spPr>
          <a:xfrm>
            <a:off x="5779008" y="2971800"/>
            <a:ext cx="2788920" cy="63500"/>
          </a:xfrm>
          <a:prstGeom prst="rect"/>
          <a:solidFill>
            <a:srgbClr val="C89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56" name="TextBox 46"/>
          <p:cNvSpPr txBox="1"/>
          <p:nvPr/>
        </p:nvSpPr>
        <p:spPr>
          <a:xfrm>
            <a:off x="6053328" y="3246120"/>
            <a:ext cx="2240280" cy="1651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1" sz="1100" i="0">
                <a:solidFill>
                  <a:srgbClr val="C8962E"/>
                </a:solidFill>
                <a:latin typeface="Segoe UI Semibold"/>
              </a:rPr>
              <a:t>PHASE 2</a:t>
            </a:r>
          </a:p>
        </p:txBody>
      </p:sp>
      <p:sp>
        <p:nvSpPr>
          <p:cNvPr id="1048757" name="TextBox 47"/>
          <p:cNvSpPr txBox="1"/>
          <p:nvPr/>
        </p:nvSpPr>
        <p:spPr>
          <a:xfrm>
            <a:off x="6053328" y="3538728"/>
            <a:ext cx="2240280" cy="3175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1" sz="2200" i="0">
                <a:solidFill>
                  <a:srgbClr val="14181F"/>
                </a:solidFill>
                <a:latin typeface="Georgia"/>
              </a:rPr>
              <a:t>AI Refactor</a:t>
            </a:r>
          </a:p>
        </p:txBody>
      </p:sp>
      <p:sp>
        <p:nvSpPr>
          <p:cNvPr id="1048758" name="Rectangle 48"/>
          <p:cNvSpPr/>
          <p:nvPr/>
        </p:nvSpPr>
        <p:spPr>
          <a:xfrm>
            <a:off x="6053328" y="4069080"/>
            <a:ext cx="548640" cy="25400"/>
          </a:xfrm>
          <a:prstGeom prst="rect"/>
          <a:solidFill>
            <a:srgbClr val="C89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59" name="TextBox 49"/>
          <p:cNvSpPr txBox="1"/>
          <p:nvPr/>
        </p:nvSpPr>
        <p:spPr>
          <a:xfrm>
            <a:off x="6053328" y="4251960"/>
            <a:ext cx="2240280" cy="66675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b="0" sz="1250" i="0">
                <a:solidFill>
                  <a:srgbClr val="3A4049"/>
                </a:solidFill>
                <a:latin typeface="Segoe UI"/>
              </a:rPr>
              <a:t>Gemini LLM restructures implicit joins and nested subqueries into explicit joins &amp; CTEs.</a:t>
            </a:r>
          </a:p>
        </p:txBody>
      </p:sp>
      <p:sp>
        <p:nvSpPr>
          <p:cNvPr id="1048760" name="Chevron 50"/>
          <p:cNvSpPr/>
          <p:nvPr/>
        </p:nvSpPr>
        <p:spPr>
          <a:xfrm>
            <a:off x="8575928" y="4160520"/>
            <a:ext cx="164592" cy="365760"/>
          </a:xfrm>
          <a:prstGeom prst="chevron"/>
          <a:solidFill>
            <a:srgbClr val="7A3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61" name="Rounded Rectangle 51"/>
          <p:cNvSpPr/>
          <p:nvPr/>
        </p:nvSpPr>
        <p:spPr>
          <a:xfrm>
            <a:off x="8769096" y="2971800"/>
            <a:ext cx="2788920" cy="2743200"/>
          </a:xfrm>
          <a:prstGeom prst="roundRect">
            <a:avLst>
              <a:gd name="adj" fmla="val 5000"/>
            </a:avLst>
          </a:prstGeom>
          <a:solidFill>
            <a:srgbClr val="FFFEFB"/>
          </a:solidFill>
          <a:ln w="12700">
            <a:solidFill>
              <a:srgbClr val="D3CD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62" name="Rectangle 52"/>
          <p:cNvSpPr/>
          <p:nvPr/>
        </p:nvSpPr>
        <p:spPr>
          <a:xfrm>
            <a:off x="8769096" y="2971800"/>
            <a:ext cx="2788920" cy="63500"/>
          </a:xfrm>
          <a:prstGeom prst="rect"/>
          <a:solidFill>
            <a:srgbClr val="108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63" name="TextBox 53"/>
          <p:cNvSpPr txBox="1"/>
          <p:nvPr/>
        </p:nvSpPr>
        <p:spPr>
          <a:xfrm>
            <a:off x="9043416" y="3246120"/>
            <a:ext cx="2240280" cy="1651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1" sz="1100" i="0">
                <a:solidFill>
                  <a:srgbClr val="108A5C"/>
                </a:solidFill>
                <a:latin typeface="Segoe UI Semibold"/>
              </a:rPr>
              <a:t>GUARD</a:t>
            </a:r>
          </a:p>
        </p:txBody>
      </p:sp>
      <p:sp>
        <p:nvSpPr>
          <p:cNvPr id="1048764" name="TextBox 54"/>
          <p:cNvSpPr txBox="1"/>
          <p:nvPr/>
        </p:nvSpPr>
        <p:spPr>
          <a:xfrm>
            <a:off x="9043416" y="3538728"/>
            <a:ext cx="2240280" cy="3175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1" sz="2200" i="0">
                <a:solidFill>
                  <a:srgbClr val="14181F"/>
                </a:solidFill>
                <a:latin typeface="Georgia"/>
              </a:rPr>
              <a:t>Critic Loop</a:t>
            </a:r>
          </a:p>
        </p:txBody>
      </p:sp>
      <p:sp>
        <p:nvSpPr>
          <p:cNvPr id="1048765" name="Rectangle 55"/>
          <p:cNvSpPr/>
          <p:nvPr/>
        </p:nvSpPr>
        <p:spPr>
          <a:xfrm>
            <a:off x="9043416" y="4069080"/>
            <a:ext cx="548640" cy="25400"/>
          </a:xfrm>
          <a:prstGeom prst="rect"/>
          <a:solidFill>
            <a:srgbClr val="108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66" name="TextBox 56"/>
          <p:cNvSpPr txBox="1"/>
          <p:nvPr/>
        </p:nvSpPr>
        <p:spPr>
          <a:xfrm>
            <a:off x="9043416" y="4251960"/>
            <a:ext cx="2240280" cy="66675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b="0" sz="1250" i="0">
                <a:solidFill>
                  <a:srgbClr val="3A4049"/>
                </a:solidFill>
                <a:latin typeface="Segoe UI"/>
              </a:rPr>
              <a:t>sqlglot validates every output; broken syntax is fed back so the model self-heals.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1" name=""/>
        <p:cNvGrpSpPr/>
        <p:nvPr/>
      </p:nvGrpSpPr>
      <p:grpSpPr>
        <a:xfrm/>
      </p:grpSpPr>
      <p:sp>
        <p:nvSpPr>
          <p:cNvPr id="1048767" name="Rectangle 1"/>
          <p:cNvSpPr/>
          <p:nvPr/>
        </p:nvSpPr>
        <p:spPr>
          <a:xfrm>
            <a:off x="0" y="0"/>
            <a:ext cx="12191695" cy="6858000"/>
          </a:xfrm>
          <a:prstGeom prst="rect"/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68" name="Rectangle 2"/>
          <p:cNvSpPr/>
          <p:nvPr/>
        </p:nvSpPr>
        <p:spPr>
          <a:xfrm>
            <a:off x="0" y="0"/>
            <a:ext cx="2331720" cy="6858000"/>
          </a:xfrm>
          <a:prstGeom prst="rect"/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69" name="Rectangle 3"/>
          <p:cNvSpPr/>
          <p:nvPr/>
        </p:nvSpPr>
        <p:spPr>
          <a:xfrm>
            <a:off x="2293620" y="0"/>
            <a:ext cx="38100" cy="6858000"/>
          </a:xfrm>
          <a:prstGeom prst="rect"/>
          <a:solidFill>
            <a:srgbClr val="2D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70" name="TextBox 4"/>
          <p:cNvSpPr txBox="1"/>
          <p:nvPr/>
        </p:nvSpPr>
        <p:spPr>
          <a:xfrm>
            <a:off x="365760" y="365760"/>
            <a:ext cx="1828800" cy="3048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1" sz="2000" i="0">
                <a:solidFill>
                  <a:srgbClr val="2D5D8A"/>
                </a:solidFill>
                <a:latin typeface="Georgia"/>
              </a:rPr>
              <a:t>&lt;/&gt;</a:t>
            </a:r>
          </a:p>
        </p:txBody>
      </p:sp>
      <p:sp>
        <p:nvSpPr>
          <p:cNvPr id="1048771" name="TextBox 5"/>
          <p:cNvSpPr txBox="1"/>
          <p:nvPr/>
        </p:nvSpPr>
        <p:spPr>
          <a:xfrm>
            <a:off x="365760" y="804672"/>
            <a:ext cx="1828800" cy="44196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b="1" sz="1200" i="0">
                <a:solidFill>
                  <a:srgbClr val="F4F1EA"/>
                </a:solidFill>
                <a:latin typeface="Segoe UI Semibold"/>
              </a:rPr>
              <a:t>SQL Query Linter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b="0" sz="1200" i="0">
                <a:solidFill>
                  <a:srgbClr val="848074"/>
                </a:solidFill>
                <a:latin typeface="Segoe UI"/>
              </a:rPr>
              <a:t>&amp; Style Fixer</a:t>
            </a:r>
          </a:p>
        </p:txBody>
      </p:sp>
      <p:sp>
        <p:nvSpPr>
          <p:cNvPr id="1048772" name="Rectangle 6"/>
          <p:cNvSpPr/>
          <p:nvPr/>
        </p:nvSpPr>
        <p:spPr>
          <a:xfrm>
            <a:off x="365760" y="1664208"/>
            <a:ext cx="914400" cy="25400"/>
          </a:xfrm>
          <a:prstGeom prst="rect"/>
          <a:solidFill>
            <a:srgbClr val="2D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73" name="TextBox 7"/>
          <p:cNvSpPr txBox="1"/>
          <p:nvPr/>
        </p:nvSpPr>
        <p:spPr>
          <a:xfrm>
            <a:off x="365760" y="1920240"/>
            <a:ext cx="365760" cy="1397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0" sz="1000" i="0">
                <a:solidFill>
                  <a:srgbClr val="6B6F78"/>
                </a:solidFill>
                <a:latin typeface="Consolas"/>
              </a:rPr>
              <a:t>01</a:t>
            </a:r>
          </a:p>
        </p:txBody>
      </p:sp>
      <p:sp>
        <p:nvSpPr>
          <p:cNvPr id="1048774" name="TextBox 8"/>
          <p:cNvSpPr txBox="1"/>
          <p:nvPr/>
        </p:nvSpPr>
        <p:spPr>
          <a:xfrm>
            <a:off x="804672" y="1920240"/>
            <a:ext cx="1481328" cy="1651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0" sz="1100" i="0">
                <a:solidFill>
                  <a:srgbClr val="9A9DA4"/>
                </a:solidFill>
                <a:latin typeface="Segoe UI"/>
              </a:rPr>
              <a:t>Objective</a:t>
            </a:r>
          </a:p>
        </p:txBody>
      </p:sp>
      <p:sp>
        <p:nvSpPr>
          <p:cNvPr id="1048775" name="TextBox 9"/>
          <p:cNvSpPr txBox="1"/>
          <p:nvPr/>
        </p:nvSpPr>
        <p:spPr>
          <a:xfrm>
            <a:off x="365760" y="2272284"/>
            <a:ext cx="365760" cy="1397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0" sz="1000" i="0">
                <a:solidFill>
                  <a:srgbClr val="6B6F78"/>
                </a:solidFill>
                <a:latin typeface="Consolas"/>
              </a:rPr>
              <a:t>02</a:t>
            </a:r>
          </a:p>
        </p:txBody>
      </p:sp>
      <p:sp>
        <p:nvSpPr>
          <p:cNvPr id="1048776" name="TextBox 10"/>
          <p:cNvSpPr txBox="1"/>
          <p:nvPr/>
        </p:nvSpPr>
        <p:spPr>
          <a:xfrm>
            <a:off x="804672" y="2272284"/>
            <a:ext cx="1481328" cy="1651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0" sz="1100" i="0">
                <a:solidFill>
                  <a:srgbClr val="9A9DA4"/>
                </a:solidFill>
                <a:latin typeface="Segoe UI"/>
              </a:rPr>
              <a:t>Problem</a:t>
            </a:r>
          </a:p>
        </p:txBody>
      </p:sp>
      <p:sp>
        <p:nvSpPr>
          <p:cNvPr id="1048777" name="TextBox 11"/>
          <p:cNvSpPr txBox="1"/>
          <p:nvPr/>
        </p:nvSpPr>
        <p:spPr>
          <a:xfrm>
            <a:off x="365760" y="2624328"/>
            <a:ext cx="365760" cy="1397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0" sz="1000" i="0">
                <a:solidFill>
                  <a:srgbClr val="6B6F78"/>
                </a:solidFill>
                <a:latin typeface="Consolas"/>
              </a:rPr>
              <a:t>03</a:t>
            </a:r>
          </a:p>
        </p:txBody>
      </p:sp>
      <p:sp>
        <p:nvSpPr>
          <p:cNvPr id="1048778" name="TextBox 12"/>
          <p:cNvSpPr txBox="1"/>
          <p:nvPr/>
        </p:nvSpPr>
        <p:spPr>
          <a:xfrm>
            <a:off x="804672" y="2624328"/>
            <a:ext cx="1481328" cy="1651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0" sz="1100" i="0">
                <a:solidFill>
                  <a:srgbClr val="9A9DA4"/>
                </a:solidFill>
                <a:latin typeface="Segoe UI"/>
              </a:rPr>
              <a:t>Approach</a:t>
            </a:r>
          </a:p>
        </p:txBody>
      </p:sp>
      <p:sp>
        <p:nvSpPr>
          <p:cNvPr id="1048779" name="Rectangle 13"/>
          <p:cNvSpPr/>
          <p:nvPr/>
        </p:nvSpPr>
        <p:spPr>
          <a:xfrm>
            <a:off x="0" y="2948940"/>
            <a:ext cx="73152" cy="310896"/>
          </a:xfrm>
          <a:prstGeom prst="rect"/>
          <a:solidFill>
            <a:srgbClr val="2D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80" name="TextBox 14"/>
          <p:cNvSpPr txBox="1"/>
          <p:nvPr/>
        </p:nvSpPr>
        <p:spPr>
          <a:xfrm>
            <a:off x="365760" y="2976372"/>
            <a:ext cx="365760" cy="1397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1" sz="1000" i="0">
                <a:solidFill>
                  <a:srgbClr val="2D5D8A"/>
                </a:solidFill>
                <a:latin typeface="Consolas"/>
              </a:rPr>
              <a:t>04</a:t>
            </a:r>
          </a:p>
        </p:txBody>
      </p:sp>
      <p:sp>
        <p:nvSpPr>
          <p:cNvPr id="1048781" name="TextBox 15"/>
          <p:cNvSpPr txBox="1"/>
          <p:nvPr/>
        </p:nvSpPr>
        <p:spPr>
          <a:xfrm>
            <a:off x="804672" y="2976372"/>
            <a:ext cx="1481328" cy="1651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1" sz="1100" i="0">
                <a:solidFill>
                  <a:srgbClr val="F4F1EA"/>
                </a:solidFill>
                <a:latin typeface="Segoe UI Semibold"/>
              </a:rPr>
              <a:t>Tech Stack</a:t>
            </a:r>
          </a:p>
        </p:txBody>
      </p:sp>
      <p:sp>
        <p:nvSpPr>
          <p:cNvPr id="1048782" name="TextBox 16"/>
          <p:cNvSpPr txBox="1"/>
          <p:nvPr/>
        </p:nvSpPr>
        <p:spPr>
          <a:xfrm>
            <a:off x="365760" y="3328415"/>
            <a:ext cx="365760" cy="1397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0" sz="1000" i="0">
                <a:solidFill>
                  <a:srgbClr val="6B6F78"/>
                </a:solidFill>
                <a:latin typeface="Consolas"/>
              </a:rPr>
              <a:t>05</a:t>
            </a:r>
          </a:p>
        </p:txBody>
      </p:sp>
      <p:sp>
        <p:nvSpPr>
          <p:cNvPr id="1048783" name="TextBox 17"/>
          <p:cNvSpPr txBox="1"/>
          <p:nvPr/>
        </p:nvSpPr>
        <p:spPr>
          <a:xfrm>
            <a:off x="804672" y="3328415"/>
            <a:ext cx="1481328" cy="1651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0" sz="1100" i="0">
                <a:solidFill>
                  <a:srgbClr val="9A9DA4"/>
                </a:solidFill>
                <a:latin typeface="Segoe UI"/>
              </a:rPr>
              <a:t>Architecture</a:t>
            </a:r>
          </a:p>
        </p:txBody>
      </p:sp>
      <p:sp>
        <p:nvSpPr>
          <p:cNvPr id="1048784" name="TextBox 18"/>
          <p:cNvSpPr txBox="1"/>
          <p:nvPr/>
        </p:nvSpPr>
        <p:spPr>
          <a:xfrm>
            <a:off x="365760" y="3680459"/>
            <a:ext cx="365760" cy="1397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0" sz="1000" i="0">
                <a:solidFill>
                  <a:srgbClr val="6B6F78"/>
                </a:solidFill>
                <a:latin typeface="Consolas"/>
              </a:rPr>
              <a:t>06</a:t>
            </a:r>
          </a:p>
        </p:txBody>
      </p:sp>
      <p:sp>
        <p:nvSpPr>
          <p:cNvPr id="1048785" name="TextBox 19"/>
          <p:cNvSpPr txBox="1"/>
          <p:nvPr/>
        </p:nvSpPr>
        <p:spPr>
          <a:xfrm>
            <a:off x="804672" y="3680459"/>
            <a:ext cx="1481328" cy="1651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0" sz="1100" i="0">
                <a:solidFill>
                  <a:srgbClr val="9A9DA4"/>
                </a:solidFill>
                <a:latin typeface="Segoe UI"/>
              </a:rPr>
              <a:t>Modules</a:t>
            </a:r>
          </a:p>
        </p:txBody>
      </p:sp>
      <p:sp>
        <p:nvSpPr>
          <p:cNvPr id="1048786" name="TextBox 20"/>
          <p:cNvSpPr txBox="1"/>
          <p:nvPr/>
        </p:nvSpPr>
        <p:spPr>
          <a:xfrm>
            <a:off x="365760" y="4032503"/>
            <a:ext cx="365760" cy="1397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0" sz="1000" i="0">
                <a:solidFill>
                  <a:srgbClr val="6B6F78"/>
                </a:solidFill>
                <a:latin typeface="Consolas"/>
              </a:rPr>
              <a:t>07</a:t>
            </a:r>
          </a:p>
        </p:txBody>
      </p:sp>
      <p:sp>
        <p:nvSpPr>
          <p:cNvPr id="1048787" name="TextBox 21"/>
          <p:cNvSpPr txBox="1"/>
          <p:nvPr/>
        </p:nvSpPr>
        <p:spPr>
          <a:xfrm>
            <a:off x="804672" y="4032503"/>
            <a:ext cx="1481328" cy="1651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0" sz="1100" i="0">
                <a:solidFill>
                  <a:srgbClr val="9A9DA4"/>
                </a:solidFill>
                <a:latin typeface="Segoe UI"/>
              </a:rPr>
              <a:t>Before / After</a:t>
            </a:r>
          </a:p>
        </p:txBody>
      </p:sp>
      <p:sp>
        <p:nvSpPr>
          <p:cNvPr id="1048788" name="TextBox 22"/>
          <p:cNvSpPr txBox="1"/>
          <p:nvPr/>
        </p:nvSpPr>
        <p:spPr>
          <a:xfrm>
            <a:off x="365760" y="4384547"/>
            <a:ext cx="365760" cy="1397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0" sz="1000" i="0">
                <a:solidFill>
                  <a:srgbClr val="6B6F78"/>
                </a:solidFill>
                <a:latin typeface="Consolas"/>
              </a:rPr>
              <a:t>08</a:t>
            </a:r>
          </a:p>
        </p:txBody>
      </p:sp>
      <p:sp>
        <p:nvSpPr>
          <p:cNvPr id="1048789" name="TextBox 23"/>
          <p:cNvSpPr txBox="1"/>
          <p:nvPr/>
        </p:nvSpPr>
        <p:spPr>
          <a:xfrm>
            <a:off x="804672" y="4384547"/>
            <a:ext cx="1481328" cy="1651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0" sz="1100" i="0">
                <a:solidFill>
                  <a:srgbClr val="9A9DA4"/>
                </a:solidFill>
                <a:latin typeface="Segoe UI"/>
              </a:rPr>
              <a:t>Validation</a:t>
            </a:r>
          </a:p>
        </p:txBody>
      </p:sp>
      <p:sp>
        <p:nvSpPr>
          <p:cNvPr id="1048790" name="TextBox 24"/>
          <p:cNvSpPr txBox="1"/>
          <p:nvPr/>
        </p:nvSpPr>
        <p:spPr>
          <a:xfrm>
            <a:off x="365760" y="4736591"/>
            <a:ext cx="365760" cy="139701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0" sz="1000" i="0">
                <a:solidFill>
                  <a:srgbClr val="6B6F78"/>
                </a:solidFill>
                <a:latin typeface="Consolas"/>
              </a:rPr>
              <a:t>09</a:t>
            </a:r>
          </a:p>
        </p:txBody>
      </p:sp>
      <p:sp>
        <p:nvSpPr>
          <p:cNvPr id="1048791" name="TextBox 25"/>
          <p:cNvSpPr txBox="1"/>
          <p:nvPr/>
        </p:nvSpPr>
        <p:spPr>
          <a:xfrm>
            <a:off x="804672" y="4736591"/>
            <a:ext cx="1481328" cy="165101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0" sz="1100" i="0">
                <a:solidFill>
                  <a:srgbClr val="9A9DA4"/>
                </a:solidFill>
                <a:latin typeface="Segoe UI"/>
              </a:rPr>
              <a:t>Advantages</a:t>
            </a:r>
          </a:p>
        </p:txBody>
      </p:sp>
      <p:sp>
        <p:nvSpPr>
          <p:cNvPr id="1048792" name="TextBox 26"/>
          <p:cNvSpPr txBox="1"/>
          <p:nvPr/>
        </p:nvSpPr>
        <p:spPr>
          <a:xfrm>
            <a:off x="365760" y="5088635"/>
            <a:ext cx="365760" cy="139701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0" sz="1000" i="0">
                <a:solidFill>
                  <a:srgbClr val="6B6F78"/>
                </a:solidFill>
                <a:latin typeface="Consolas"/>
              </a:rPr>
              <a:t>10</a:t>
            </a:r>
          </a:p>
        </p:txBody>
      </p:sp>
      <p:sp>
        <p:nvSpPr>
          <p:cNvPr id="1048793" name="TextBox 27"/>
          <p:cNvSpPr txBox="1"/>
          <p:nvPr/>
        </p:nvSpPr>
        <p:spPr>
          <a:xfrm>
            <a:off x="804672" y="5088635"/>
            <a:ext cx="1481328" cy="165101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0" sz="1100" i="0">
                <a:solidFill>
                  <a:srgbClr val="9A9DA4"/>
                </a:solidFill>
                <a:latin typeface="Segoe UI"/>
              </a:rPr>
              <a:t>Results</a:t>
            </a:r>
          </a:p>
        </p:txBody>
      </p:sp>
      <p:sp>
        <p:nvSpPr>
          <p:cNvPr id="1048794" name="TextBox 28"/>
          <p:cNvSpPr txBox="1"/>
          <p:nvPr/>
        </p:nvSpPr>
        <p:spPr>
          <a:xfrm>
            <a:off x="365760" y="5440679"/>
            <a:ext cx="365760" cy="139701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0" sz="1000" i="0">
                <a:solidFill>
                  <a:srgbClr val="6B6F78"/>
                </a:solidFill>
                <a:latin typeface="Consolas"/>
              </a:rPr>
              <a:t>11</a:t>
            </a:r>
          </a:p>
        </p:txBody>
      </p:sp>
      <p:sp>
        <p:nvSpPr>
          <p:cNvPr id="1048795" name="TextBox 29"/>
          <p:cNvSpPr txBox="1"/>
          <p:nvPr/>
        </p:nvSpPr>
        <p:spPr>
          <a:xfrm>
            <a:off x="804672" y="5440679"/>
            <a:ext cx="1481328" cy="165101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0" sz="1100" i="0">
                <a:solidFill>
                  <a:srgbClr val="9A9DA4"/>
                </a:solidFill>
                <a:latin typeface="Segoe UI"/>
              </a:rPr>
              <a:t>Future Scope</a:t>
            </a:r>
          </a:p>
        </p:txBody>
      </p:sp>
      <p:sp>
        <p:nvSpPr>
          <p:cNvPr id="1048796" name="TextBox 30"/>
          <p:cNvSpPr txBox="1"/>
          <p:nvPr/>
        </p:nvSpPr>
        <p:spPr>
          <a:xfrm>
            <a:off x="365760" y="5792723"/>
            <a:ext cx="365760" cy="139701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0" sz="1000" i="0">
                <a:solidFill>
                  <a:srgbClr val="6B6F78"/>
                </a:solidFill>
                <a:latin typeface="Consolas"/>
              </a:rPr>
              <a:t>12</a:t>
            </a:r>
          </a:p>
        </p:txBody>
      </p:sp>
      <p:sp>
        <p:nvSpPr>
          <p:cNvPr id="1048797" name="TextBox 31"/>
          <p:cNvSpPr txBox="1"/>
          <p:nvPr/>
        </p:nvSpPr>
        <p:spPr>
          <a:xfrm>
            <a:off x="804672" y="5792723"/>
            <a:ext cx="1481328" cy="165101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0" sz="1100" i="0">
                <a:solidFill>
                  <a:srgbClr val="9A9DA4"/>
                </a:solidFill>
                <a:latin typeface="Segoe UI"/>
              </a:rPr>
              <a:t>Conclusion</a:t>
            </a:r>
          </a:p>
        </p:txBody>
      </p:sp>
      <p:sp>
        <p:nvSpPr>
          <p:cNvPr id="1048798" name="TextBox 32"/>
          <p:cNvSpPr txBox="1"/>
          <p:nvPr/>
        </p:nvSpPr>
        <p:spPr>
          <a:xfrm>
            <a:off x="365760" y="6400800"/>
            <a:ext cx="1920240" cy="114301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0" sz="850" i="0">
                <a:solidFill>
                  <a:srgbClr val="848074"/>
                </a:solidFill>
                <a:latin typeface="Segoe UI"/>
              </a:rPr>
              <a:t>DIET · TEAM 20</a:t>
            </a:r>
          </a:p>
        </p:txBody>
      </p:sp>
      <p:sp>
        <p:nvSpPr>
          <p:cNvPr id="1048799" name="TextBox 33"/>
          <p:cNvSpPr txBox="1"/>
          <p:nvPr/>
        </p:nvSpPr>
        <p:spPr>
          <a:xfrm>
            <a:off x="2788920" y="502920"/>
            <a:ext cx="8229600" cy="1778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1" sz="1200" i="0">
                <a:solidFill>
                  <a:srgbClr val="2D5D8A"/>
                </a:solidFill>
                <a:latin typeface="Segoe UI Semibold"/>
              </a:rPr>
              <a:t>TECH STACK</a:t>
            </a:r>
          </a:p>
        </p:txBody>
      </p:sp>
      <p:sp>
        <p:nvSpPr>
          <p:cNvPr id="1048800" name="TextBox 34"/>
          <p:cNvSpPr txBox="1"/>
          <p:nvPr/>
        </p:nvSpPr>
        <p:spPr>
          <a:xfrm>
            <a:off x="2788920" y="841248"/>
            <a:ext cx="8961120" cy="5080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1" sz="3400" i="0">
                <a:solidFill>
                  <a:srgbClr val="14181F"/>
                </a:solidFill>
                <a:latin typeface="Georgia"/>
              </a:rPr>
              <a:t>Technologies Used</a:t>
            </a:r>
          </a:p>
        </p:txBody>
      </p:sp>
      <p:sp>
        <p:nvSpPr>
          <p:cNvPr id="1048801" name="Rectangle 35"/>
          <p:cNvSpPr/>
          <p:nvPr/>
        </p:nvSpPr>
        <p:spPr>
          <a:xfrm>
            <a:off x="2808920" y="1536192"/>
            <a:ext cx="685800" cy="38100"/>
          </a:xfrm>
          <a:prstGeom prst="rect"/>
          <a:solidFill>
            <a:srgbClr val="2D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802" name="Rounded Rectangle 36"/>
          <p:cNvSpPr/>
          <p:nvPr/>
        </p:nvSpPr>
        <p:spPr>
          <a:xfrm>
            <a:off x="2788920" y="1874519"/>
            <a:ext cx="4114800" cy="4114800"/>
          </a:xfrm>
          <a:prstGeom prst="roundRect">
            <a:avLst>
              <a:gd name="adj" fmla="val 4000"/>
            </a:avLst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803" name="TextBox 37"/>
          <p:cNvSpPr txBox="1"/>
          <p:nvPr/>
        </p:nvSpPr>
        <p:spPr>
          <a:xfrm>
            <a:off x="3108960" y="2148840"/>
            <a:ext cx="3474720" cy="1778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1" sz="1200" i="0">
                <a:solidFill>
                  <a:srgbClr val="C8962E"/>
                </a:solidFill>
                <a:latin typeface="Segoe UI Semibold"/>
              </a:rPr>
              <a:t>AI  ENGINE</a:t>
            </a:r>
          </a:p>
        </p:txBody>
      </p:sp>
      <p:sp>
        <p:nvSpPr>
          <p:cNvPr id="1048804" name="TextBox 38"/>
          <p:cNvSpPr txBox="1"/>
          <p:nvPr/>
        </p:nvSpPr>
        <p:spPr>
          <a:xfrm>
            <a:off x="3108960" y="2560320"/>
            <a:ext cx="3474720" cy="3810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1" sz="2600" i="0">
                <a:solidFill>
                  <a:srgbClr val="F4F1EA"/>
                </a:solidFill>
                <a:latin typeface="Georgia"/>
              </a:rPr>
              <a:t>Google Gemini</a:t>
            </a:r>
          </a:p>
        </p:txBody>
      </p:sp>
      <p:sp>
        <p:nvSpPr>
          <p:cNvPr id="1048805" name="TextBox 39"/>
          <p:cNvSpPr txBox="1"/>
          <p:nvPr/>
        </p:nvSpPr>
        <p:spPr>
          <a:xfrm>
            <a:off x="3108960" y="3154680"/>
            <a:ext cx="3474720" cy="1905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1" sz="1300" i="0">
                <a:solidFill>
                  <a:srgbClr val="C8962E"/>
                </a:solidFill>
                <a:latin typeface="Consolas"/>
              </a:rPr>
              <a:t>gemini-2.5-flash</a:t>
            </a:r>
          </a:p>
        </p:txBody>
      </p:sp>
      <p:sp>
        <p:nvSpPr>
          <p:cNvPr id="1048806" name="TextBox 40"/>
          <p:cNvSpPr txBox="1"/>
          <p:nvPr/>
        </p:nvSpPr>
        <p:spPr>
          <a:xfrm>
            <a:off x="3108960" y="3611880"/>
            <a:ext cx="3474720" cy="9906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b="0" sz="1300" i="0">
                <a:solidFill>
                  <a:srgbClr val="C9CCD1"/>
                </a:solidFill>
                <a:latin typeface="Segoe UI"/>
              </a:rPr>
              <a:t>Serverless model for semantic refactoring — converting joins and subqueries into CTEs. Configured with low temperature (0.1) and few-shot examples for deterministic, reliable output.</a:t>
            </a:r>
          </a:p>
        </p:txBody>
      </p:sp>
      <p:sp>
        <p:nvSpPr>
          <p:cNvPr id="1048807" name="Rounded Rectangle 41"/>
          <p:cNvSpPr/>
          <p:nvPr/>
        </p:nvSpPr>
        <p:spPr>
          <a:xfrm>
            <a:off x="7132320" y="1874519"/>
            <a:ext cx="2148840" cy="1965960"/>
          </a:xfrm>
          <a:prstGeom prst="roundRect">
            <a:avLst>
              <a:gd name="adj" fmla="val 6000"/>
            </a:avLst>
          </a:prstGeom>
          <a:solidFill>
            <a:srgbClr val="FFFEFB"/>
          </a:solidFill>
          <a:ln w="12700">
            <a:solidFill>
              <a:srgbClr val="D3CD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808" name="Rectangle 42"/>
          <p:cNvSpPr/>
          <p:nvPr/>
        </p:nvSpPr>
        <p:spPr>
          <a:xfrm>
            <a:off x="7132320" y="1874519"/>
            <a:ext cx="2148840" cy="50800"/>
          </a:xfrm>
          <a:prstGeom prst="rect"/>
          <a:solidFill>
            <a:srgbClr val="108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809" name="TextBox 43"/>
          <p:cNvSpPr txBox="1"/>
          <p:nvPr/>
        </p:nvSpPr>
        <p:spPr>
          <a:xfrm>
            <a:off x="7360920" y="2148839"/>
            <a:ext cx="1691640" cy="2667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1" sz="1800" i="0">
                <a:solidFill>
                  <a:srgbClr val="14181F"/>
                </a:solidFill>
                <a:latin typeface="Georgia"/>
              </a:rPr>
              <a:t>Python</a:t>
            </a:r>
          </a:p>
        </p:txBody>
      </p:sp>
      <p:sp>
        <p:nvSpPr>
          <p:cNvPr id="1048810" name="TextBox 44"/>
          <p:cNvSpPr txBox="1"/>
          <p:nvPr/>
        </p:nvSpPr>
        <p:spPr>
          <a:xfrm>
            <a:off x="7360920" y="2651759"/>
            <a:ext cx="1691640" cy="426721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b="0" sz="1200" i="0">
                <a:solidFill>
                  <a:srgbClr val="3A4049"/>
                </a:solidFill>
                <a:latin typeface="Segoe UI"/>
              </a:rPr>
              <a:t>Core regex, execution &amp; API routing</a:t>
            </a:r>
          </a:p>
        </p:txBody>
      </p:sp>
      <p:sp>
        <p:nvSpPr>
          <p:cNvPr id="1048811" name="Rounded Rectangle 45"/>
          <p:cNvSpPr/>
          <p:nvPr/>
        </p:nvSpPr>
        <p:spPr>
          <a:xfrm>
            <a:off x="9418320" y="1874519"/>
            <a:ext cx="2148840" cy="1965960"/>
          </a:xfrm>
          <a:prstGeom prst="roundRect">
            <a:avLst>
              <a:gd name="adj" fmla="val 6000"/>
            </a:avLst>
          </a:prstGeom>
          <a:solidFill>
            <a:srgbClr val="FFFEFB"/>
          </a:solidFill>
          <a:ln w="12700">
            <a:solidFill>
              <a:srgbClr val="D3CD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812" name="Rectangle 46"/>
          <p:cNvSpPr/>
          <p:nvPr/>
        </p:nvSpPr>
        <p:spPr>
          <a:xfrm>
            <a:off x="9418320" y="1874519"/>
            <a:ext cx="2148840" cy="50800"/>
          </a:xfrm>
          <a:prstGeom prst="rect"/>
          <a:solidFill>
            <a:srgbClr val="E25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813" name="TextBox 47"/>
          <p:cNvSpPr txBox="1"/>
          <p:nvPr/>
        </p:nvSpPr>
        <p:spPr>
          <a:xfrm>
            <a:off x="9646920" y="2148839"/>
            <a:ext cx="1691640" cy="2667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1" sz="1800" i="0">
                <a:solidFill>
                  <a:srgbClr val="14181F"/>
                </a:solidFill>
                <a:latin typeface="Georgia"/>
              </a:rPr>
              <a:t>Streamlit</a:t>
            </a:r>
          </a:p>
        </p:txBody>
      </p:sp>
      <p:sp>
        <p:nvSpPr>
          <p:cNvPr id="1048814" name="TextBox 48"/>
          <p:cNvSpPr txBox="1"/>
          <p:nvPr/>
        </p:nvSpPr>
        <p:spPr>
          <a:xfrm>
            <a:off x="9646920" y="2651759"/>
            <a:ext cx="1691640" cy="426721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b="0" sz="1200" i="0">
                <a:solidFill>
                  <a:srgbClr val="3A4049"/>
                </a:solidFill>
                <a:latin typeface="Segoe UI"/>
              </a:rPr>
              <a:t>Dashboard, uploader &amp; downloads</a:t>
            </a:r>
          </a:p>
        </p:txBody>
      </p:sp>
      <p:sp>
        <p:nvSpPr>
          <p:cNvPr id="1048815" name="Rounded Rectangle 49"/>
          <p:cNvSpPr/>
          <p:nvPr/>
        </p:nvSpPr>
        <p:spPr>
          <a:xfrm>
            <a:off x="7132320" y="4023359"/>
            <a:ext cx="2148840" cy="1965960"/>
          </a:xfrm>
          <a:prstGeom prst="roundRect">
            <a:avLst>
              <a:gd name="adj" fmla="val 6000"/>
            </a:avLst>
          </a:prstGeom>
          <a:solidFill>
            <a:srgbClr val="FFFEFB"/>
          </a:solidFill>
          <a:ln w="12700">
            <a:solidFill>
              <a:srgbClr val="D3CD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816" name="Rectangle 50"/>
          <p:cNvSpPr/>
          <p:nvPr/>
        </p:nvSpPr>
        <p:spPr>
          <a:xfrm>
            <a:off x="7132320" y="4023359"/>
            <a:ext cx="2148840" cy="50800"/>
          </a:xfrm>
          <a:prstGeom prst="rect"/>
          <a:solidFill>
            <a:srgbClr val="2D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817" name="TextBox 51"/>
          <p:cNvSpPr txBox="1"/>
          <p:nvPr/>
        </p:nvSpPr>
        <p:spPr>
          <a:xfrm>
            <a:off x="7360920" y="4297679"/>
            <a:ext cx="1691640" cy="266701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1" sz="1800" i="0">
                <a:solidFill>
                  <a:srgbClr val="14181F"/>
                </a:solidFill>
                <a:latin typeface="Georgia"/>
              </a:rPr>
              <a:t>sqlglot</a:t>
            </a:r>
          </a:p>
        </p:txBody>
      </p:sp>
      <p:sp>
        <p:nvSpPr>
          <p:cNvPr id="1048818" name="TextBox 52"/>
          <p:cNvSpPr txBox="1"/>
          <p:nvPr/>
        </p:nvSpPr>
        <p:spPr>
          <a:xfrm>
            <a:off x="7360920" y="4800599"/>
            <a:ext cx="1691640" cy="42672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b="0" sz="1200" i="0">
                <a:solidFill>
                  <a:srgbClr val="3A4049"/>
                </a:solidFill>
                <a:latin typeface="Segoe UI"/>
              </a:rPr>
              <a:t>Dialect parser &amp; AST validation</a:t>
            </a:r>
          </a:p>
        </p:txBody>
      </p:sp>
      <p:sp>
        <p:nvSpPr>
          <p:cNvPr id="1048819" name="Rounded Rectangle 53"/>
          <p:cNvSpPr/>
          <p:nvPr/>
        </p:nvSpPr>
        <p:spPr>
          <a:xfrm>
            <a:off x="9418320" y="4023359"/>
            <a:ext cx="2148840" cy="1965960"/>
          </a:xfrm>
          <a:prstGeom prst="roundRect">
            <a:avLst>
              <a:gd name="adj" fmla="val 6000"/>
            </a:avLst>
          </a:prstGeom>
          <a:solidFill>
            <a:srgbClr val="FFFEFB"/>
          </a:solidFill>
          <a:ln w="12700">
            <a:solidFill>
              <a:srgbClr val="D3CD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820" name="Rectangle 54"/>
          <p:cNvSpPr/>
          <p:nvPr/>
        </p:nvSpPr>
        <p:spPr>
          <a:xfrm>
            <a:off x="9418320" y="4023359"/>
            <a:ext cx="2148840" cy="50800"/>
          </a:xfrm>
          <a:prstGeom prst="rect"/>
          <a:solidFill>
            <a:srgbClr val="7A3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821" name="TextBox 55"/>
          <p:cNvSpPr txBox="1"/>
          <p:nvPr/>
        </p:nvSpPr>
        <p:spPr>
          <a:xfrm>
            <a:off x="9646920" y="4297679"/>
            <a:ext cx="1691640" cy="266701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1" sz="1800" i="0">
                <a:solidFill>
                  <a:srgbClr val="14181F"/>
                </a:solidFill>
                <a:latin typeface="Georgia"/>
              </a:rPr>
              <a:t>difflib</a:t>
            </a:r>
          </a:p>
        </p:txBody>
      </p:sp>
      <p:sp>
        <p:nvSpPr>
          <p:cNvPr id="1048822" name="TextBox 56"/>
          <p:cNvSpPr txBox="1"/>
          <p:nvPr/>
        </p:nvSpPr>
        <p:spPr>
          <a:xfrm>
            <a:off x="9646920" y="4800599"/>
            <a:ext cx="1691640" cy="21336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b="0" sz="1200" i="0">
                <a:solidFill>
                  <a:srgbClr val="3A4049"/>
                </a:solidFill>
                <a:latin typeface="Segoe UI"/>
              </a:rPr>
              <a:t>Unified diff reports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2" name=""/>
        <p:cNvGrpSpPr/>
        <p:nvPr/>
      </p:nvGrpSpPr>
      <p:grpSpPr>
        <a:xfrm/>
      </p:grpSpPr>
      <p:sp>
        <p:nvSpPr>
          <p:cNvPr id="1048823" name="Rectangle 1"/>
          <p:cNvSpPr/>
          <p:nvPr/>
        </p:nvSpPr>
        <p:spPr>
          <a:xfrm>
            <a:off x="0" y="0"/>
            <a:ext cx="12191695" cy="6858000"/>
          </a:xfrm>
          <a:prstGeom prst="rect"/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824" name="Rectangle 2"/>
          <p:cNvSpPr/>
          <p:nvPr/>
        </p:nvSpPr>
        <p:spPr>
          <a:xfrm>
            <a:off x="0" y="0"/>
            <a:ext cx="2331720" cy="6858000"/>
          </a:xfrm>
          <a:prstGeom prst="rect"/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825" name="Rectangle 3"/>
          <p:cNvSpPr/>
          <p:nvPr/>
        </p:nvSpPr>
        <p:spPr>
          <a:xfrm>
            <a:off x="2293620" y="0"/>
            <a:ext cx="38100" cy="6858000"/>
          </a:xfrm>
          <a:prstGeom prst="rect"/>
          <a:solidFill>
            <a:srgbClr val="C89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826" name="TextBox 4"/>
          <p:cNvSpPr txBox="1"/>
          <p:nvPr/>
        </p:nvSpPr>
        <p:spPr>
          <a:xfrm>
            <a:off x="365760" y="365760"/>
            <a:ext cx="1828800" cy="3048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1" sz="2000" i="0">
                <a:solidFill>
                  <a:srgbClr val="C8962E"/>
                </a:solidFill>
                <a:latin typeface="Georgia"/>
              </a:rPr>
              <a:t>&lt;/&gt;</a:t>
            </a:r>
          </a:p>
        </p:txBody>
      </p:sp>
      <p:sp>
        <p:nvSpPr>
          <p:cNvPr id="1048827" name="TextBox 5"/>
          <p:cNvSpPr txBox="1"/>
          <p:nvPr/>
        </p:nvSpPr>
        <p:spPr>
          <a:xfrm>
            <a:off x="365760" y="804672"/>
            <a:ext cx="1828800" cy="44196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b="1" sz="1200" i="0">
                <a:solidFill>
                  <a:srgbClr val="F4F1EA"/>
                </a:solidFill>
                <a:latin typeface="Segoe UI Semibold"/>
              </a:rPr>
              <a:t>SQL Query Linter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b="0" sz="1200" i="0">
                <a:solidFill>
                  <a:srgbClr val="848074"/>
                </a:solidFill>
                <a:latin typeface="Segoe UI"/>
              </a:rPr>
              <a:t>&amp; Style Fixer</a:t>
            </a:r>
          </a:p>
        </p:txBody>
      </p:sp>
      <p:sp>
        <p:nvSpPr>
          <p:cNvPr id="1048828" name="Rectangle 6"/>
          <p:cNvSpPr/>
          <p:nvPr/>
        </p:nvSpPr>
        <p:spPr>
          <a:xfrm>
            <a:off x="365760" y="1664208"/>
            <a:ext cx="914400" cy="25400"/>
          </a:xfrm>
          <a:prstGeom prst="rect"/>
          <a:solidFill>
            <a:srgbClr val="C89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829" name="TextBox 7"/>
          <p:cNvSpPr txBox="1"/>
          <p:nvPr/>
        </p:nvSpPr>
        <p:spPr>
          <a:xfrm>
            <a:off x="365760" y="1920240"/>
            <a:ext cx="365760" cy="1397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0" sz="1000" i="0">
                <a:solidFill>
                  <a:srgbClr val="6B6F78"/>
                </a:solidFill>
                <a:latin typeface="Consolas"/>
              </a:rPr>
              <a:t>01</a:t>
            </a:r>
          </a:p>
        </p:txBody>
      </p:sp>
      <p:sp>
        <p:nvSpPr>
          <p:cNvPr id="1048830" name="TextBox 8"/>
          <p:cNvSpPr txBox="1"/>
          <p:nvPr/>
        </p:nvSpPr>
        <p:spPr>
          <a:xfrm>
            <a:off x="804672" y="1920240"/>
            <a:ext cx="1481328" cy="1651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0" sz="1100" i="0">
                <a:solidFill>
                  <a:srgbClr val="9A9DA4"/>
                </a:solidFill>
                <a:latin typeface="Segoe UI"/>
              </a:rPr>
              <a:t>Objective</a:t>
            </a:r>
          </a:p>
        </p:txBody>
      </p:sp>
      <p:sp>
        <p:nvSpPr>
          <p:cNvPr id="1048831" name="TextBox 9"/>
          <p:cNvSpPr txBox="1"/>
          <p:nvPr/>
        </p:nvSpPr>
        <p:spPr>
          <a:xfrm>
            <a:off x="365760" y="2272284"/>
            <a:ext cx="365760" cy="1397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0" sz="1000" i="0">
                <a:solidFill>
                  <a:srgbClr val="6B6F78"/>
                </a:solidFill>
                <a:latin typeface="Consolas"/>
              </a:rPr>
              <a:t>02</a:t>
            </a:r>
          </a:p>
        </p:txBody>
      </p:sp>
      <p:sp>
        <p:nvSpPr>
          <p:cNvPr id="1048832" name="TextBox 10"/>
          <p:cNvSpPr txBox="1"/>
          <p:nvPr/>
        </p:nvSpPr>
        <p:spPr>
          <a:xfrm>
            <a:off x="804672" y="2272284"/>
            <a:ext cx="1481328" cy="1651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0" sz="1100" i="0">
                <a:solidFill>
                  <a:srgbClr val="9A9DA4"/>
                </a:solidFill>
                <a:latin typeface="Segoe UI"/>
              </a:rPr>
              <a:t>Problem</a:t>
            </a:r>
          </a:p>
        </p:txBody>
      </p:sp>
      <p:sp>
        <p:nvSpPr>
          <p:cNvPr id="1048833" name="TextBox 11"/>
          <p:cNvSpPr txBox="1"/>
          <p:nvPr/>
        </p:nvSpPr>
        <p:spPr>
          <a:xfrm>
            <a:off x="365760" y="2624328"/>
            <a:ext cx="365760" cy="1397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0" sz="1000" i="0">
                <a:solidFill>
                  <a:srgbClr val="6B6F78"/>
                </a:solidFill>
                <a:latin typeface="Consolas"/>
              </a:rPr>
              <a:t>03</a:t>
            </a:r>
          </a:p>
        </p:txBody>
      </p:sp>
      <p:sp>
        <p:nvSpPr>
          <p:cNvPr id="1048834" name="TextBox 12"/>
          <p:cNvSpPr txBox="1"/>
          <p:nvPr/>
        </p:nvSpPr>
        <p:spPr>
          <a:xfrm>
            <a:off x="804672" y="2624328"/>
            <a:ext cx="1481328" cy="1651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0" sz="1100" i="0">
                <a:solidFill>
                  <a:srgbClr val="9A9DA4"/>
                </a:solidFill>
                <a:latin typeface="Segoe UI"/>
              </a:rPr>
              <a:t>Approach</a:t>
            </a:r>
          </a:p>
        </p:txBody>
      </p:sp>
      <p:sp>
        <p:nvSpPr>
          <p:cNvPr id="1048835" name="TextBox 13"/>
          <p:cNvSpPr txBox="1"/>
          <p:nvPr/>
        </p:nvSpPr>
        <p:spPr>
          <a:xfrm>
            <a:off x="365760" y="2976372"/>
            <a:ext cx="365760" cy="1397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0" sz="1000" i="0">
                <a:solidFill>
                  <a:srgbClr val="6B6F78"/>
                </a:solidFill>
                <a:latin typeface="Consolas"/>
              </a:rPr>
              <a:t>04</a:t>
            </a:r>
          </a:p>
        </p:txBody>
      </p:sp>
      <p:sp>
        <p:nvSpPr>
          <p:cNvPr id="1048836" name="TextBox 14"/>
          <p:cNvSpPr txBox="1"/>
          <p:nvPr/>
        </p:nvSpPr>
        <p:spPr>
          <a:xfrm>
            <a:off x="804672" y="2976372"/>
            <a:ext cx="1481328" cy="1651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0" sz="1100" i="0">
                <a:solidFill>
                  <a:srgbClr val="9A9DA4"/>
                </a:solidFill>
                <a:latin typeface="Segoe UI"/>
              </a:rPr>
              <a:t>Tech Stack</a:t>
            </a:r>
          </a:p>
        </p:txBody>
      </p:sp>
      <p:sp>
        <p:nvSpPr>
          <p:cNvPr id="1048837" name="Rectangle 15"/>
          <p:cNvSpPr/>
          <p:nvPr/>
        </p:nvSpPr>
        <p:spPr>
          <a:xfrm>
            <a:off x="0" y="3300984"/>
            <a:ext cx="73152" cy="310896"/>
          </a:xfrm>
          <a:prstGeom prst="rect"/>
          <a:solidFill>
            <a:srgbClr val="C89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838" name="TextBox 16"/>
          <p:cNvSpPr txBox="1"/>
          <p:nvPr/>
        </p:nvSpPr>
        <p:spPr>
          <a:xfrm>
            <a:off x="365760" y="3328415"/>
            <a:ext cx="365760" cy="1397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1" sz="1000" i="0">
                <a:solidFill>
                  <a:srgbClr val="C8962E"/>
                </a:solidFill>
                <a:latin typeface="Consolas"/>
              </a:rPr>
              <a:t>05</a:t>
            </a:r>
          </a:p>
        </p:txBody>
      </p:sp>
      <p:sp>
        <p:nvSpPr>
          <p:cNvPr id="1048839" name="TextBox 17"/>
          <p:cNvSpPr txBox="1"/>
          <p:nvPr/>
        </p:nvSpPr>
        <p:spPr>
          <a:xfrm>
            <a:off x="804672" y="3328415"/>
            <a:ext cx="1481328" cy="1651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1" sz="1100" i="0">
                <a:solidFill>
                  <a:srgbClr val="F4F1EA"/>
                </a:solidFill>
                <a:latin typeface="Segoe UI Semibold"/>
              </a:rPr>
              <a:t>Architecture</a:t>
            </a:r>
          </a:p>
        </p:txBody>
      </p:sp>
      <p:sp>
        <p:nvSpPr>
          <p:cNvPr id="1048840" name="TextBox 18"/>
          <p:cNvSpPr txBox="1"/>
          <p:nvPr/>
        </p:nvSpPr>
        <p:spPr>
          <a:xfrm>
            <a:off x="365760" y="3680459"/>
            <a:ext cx="365760" cy="1397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0" sz="1000" i="0">
                <a:solidFill>
                  <a:srgbClr val="6B6F78"/>
                </a:solidFill>
                <a:latin typeface="Consolas"/>
              </a:rPr>
              <a:t>06</a:t>
            </a:r>
          </a:p>
        </p:txBody>
      </p:sp>
      <p:sp>
        <p:nvSpPr>
          <p:cNvPr id="1048841" name="TextBox 19"/>
          <p:cNvSpPr txBox="1"/>
          <p:nvPr/>
        </p:nvSpPr>
        <p:spPr>
          <a:xfrm>
            <a:off x="804672" y="3680459"/>
            <a:ext cx="1481328" cy="1651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0" sz="1100" i="0">
                <a:solidFill>
                  <a:srgbClr val="9A9DA4"/>
                </a:solidFill>
                <a:latin typeface="Segoe UI"/>
              </a:rPr>
              <a:t>Modules</a:t>
            </a:r>
          </a:p>
        </p:txBody>
      </p:sp>
      <p:sp>
        <p:nvSpPr>
          <p:cNvPr id="1048842" name="TextBox 20"/>
          <p:cNvSpPr txBox="1"/>
          <p:nvPr/>
        </p:nvSpPr>
        <p:spPr>
          <a:xfrm>
            <a:off x="365760" y="4032503"/>
            <a:ext cx="365760" cy="1397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0" sz="1000" i="0">
                <a:solidFill>
                  <a:srgbClr val="6B6F78"/>
                </a:solidFill>
                <a:latin typeface="Consolas"/>
              </a:rPr>
              <a:t>07</a:t>
            </a:r>
          </a:p>
        </p:txBody>
      </p:sp>
      <p:sp>
        <p:nvSpPr>
          <p:cNvPr id="1048843" name="TextBox 21"/>
          <p:cNvSpPr txBox="1"/>
          <p:nvPr/>
        </p:nvSpPr>
        <p:spPr>
          <a:xfrm>
            <a:off x="804672" y="4032503"/>
            <a:ext cx="1481328" cy="1651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0" sz="1100" i="0">
                <a:solidFill>
                  <a:srgbClr val="9A9DA4"/>
                </a:solidFill>
                <a:latin typeface="Segoe UI"/>
              </a:rPr>
              <a:t>Before / After</a:t>
            </a:r>
          </a:p>
        </p:txBody>
      </p:sp>
      <p:sp>
        <p:nvSpPr>
          <p:cNvPr id="1048844" name="TextBox 22"/>
          <p:cNvSpPr txBox="1"/>
          <p:nvPr/>
        </p:nvSpPr>
        <p:spPr>
          <a:xfrm>
            <a:off x="365760" y="4384547"/>
            <a:ext cx="365760" cy="1397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0" sz="1000" i="0">
                <a:solidFill>
                  <a:srgbClr val="6B6F78"/>
                </a:solidFill>
                <a:latin typeface="Consolas"/>
              </a:rPr>
              <a:t>08</a:t>
            </a:r>
          </a:p>
        </p:txBody>
      </p:sp>
      <p:sp>
        <p:nvSpPr>
          <p:cNvPr id="1048845" name="TextBox 23"/>
          <p:cNvSpPr txBox="1"/>
          <p:nvPr/>
        </p:nvSpPr>
        <p:spPr>
          <a:xfrm>
            <a:off x="804672" y="4384547"/>
            <a:ext cx="1481328" cy="1651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0" sz="1100" i="0">
                <a:solidFill>
                  <a:srgbClr val="9A9DA4"/>
                </a:solidFill>
                <a:latin typeface="Segoe UI"/>
              </a:rPr>
              <a:t>Validation</a:t>
            </a:r>
          </a:p>
        </p:txBody>
      </p:sp>
      <p:sp>
        <p:nvSpPr>
          <p:cNvPr id="1048846" name="TextBox 24"/>
          <p:cNvSpPr txBox="1"/>
          <p:nvPr/>
        </p:nvSpPr>
        <p:spPr>
          <a:xfrm>
            <a:off x="365760" y="4736591"/>
            <a:ext cx="365760" cy="139701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0" sz="1000" i="0">
                <a:solidFill>
                  <a:srgbClr val="6B6F78"/>
                </a:solidFill>
                <a:latin typeface="Consolas"/>
              </a:rPr>
              <a:t>09</a:t>
            </a:r>
          </a:p>
        </p:txBody>
      </p:sp>
      <p:sp>
        <p:nvSpPr>
          <p:cNvPr id="1048847" name="TextBox 25"/>
          <p:cNvSpPr txBox="1"/>
          <p:nvPr/>
        </p:nvSpPr>
        <p:spPr>
          <a:xfrm>
            <a:off x="804672" y="4736591"/>
            <a:ext cx="1481328" cy="165101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0" sz="1100" i="0">
                <a:solidFill>
                  <a:srgbClr val="9A9DA4"/>
                </a:solidFill>
                <a:latin typeface="Segoe UI"/>
              </a:rPr>
              <a:t>Advantages</a:t>
            </a:r>
          </a:p>
        </p:txBody>
      </p:sp>
      <p:sp>
        <p:nvSpPr>
          <p:cNvPr id="1048848" name="TextBox 26"/>
          <p:cNvSpPr txBox="1"/>
          <p:nvPr/>
        </p:nvSpPr>
        <p:spPr>
          <a:xfrm>
            <a:off x="365760" y="5088635"/>
            <a:ext cx="365760" cy="139701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0" sz="1000" i="0">
                <a:solidFill>
                  <a:srgbClr val="6B6F78"/>
                </a:solidFill>
                <a:latin typeface="Consolas"/>
              </a:rPr>
              <a:t>10</a:t>
            </a:r>
          </a:p>
        </p:txBody>
      </p:sp>
      <p:sp>
        <p:nvSpPr>
          <p:cNvPr id="1048849" name="TextBox 27"/>
          <p:cNvSpPr txBox="1"/>
          <p:nvPr/>
        </p:nvSpPr>
        <p:spPr>
          <a:xfrm>
            <a:off x="804672" y="5088635"/>
            <a:ext cx="1481328" cy="165101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0" sz="1100" i="0">
                <a:solidFill>
                  <a:srgbClr val="9A9DA4"/>
                </a:solidFill>
                <a:latin typeface="Segoe UI"/>
              </a:rPr>
              <a:t>Results</a:t>
            </a:r>
          </a:p>
        </p:txBody>
      </p:sp>
      <p:sp>
        <p:nvSpPr>
          <p:cNvPr id="1048850" name="TextBox 28"/>
          <p:cNvSpPr txBox="1"/>
          <p:nvPr/>
        </p:nvSpPr>
        <p:spPr>
          <a:xfrm>
            <a:off x="365760" y="5440679"/>
            <a:ext cx="365760" cy="139701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0" sz="1000" i="0">
                <a:solidFill>
                  <a:srgbClr val="6B6F78"/>
                </a:solidFill>
                <a:latin typeface="Consolas"/>
              </a:rPr>
              <a:t>11</a:t>
            </a:r>
          </a:p>
        </p:txBody>
      </p:sp>
      <p:sp>
        <p:nvSpPr>
          <p:cNvPr id="1048851" name="TextBox 29"/>
          <p:cNvSpPr txBox="1"/>
          <p:nvPr/>
        </p:nvSpPr>
        <p:spPr>
          <a:xfrm>
            <a:off x="804672" y="5440679"/>
            <a:ext cx="1481328" cy="165101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0" sz="1100" i="0">
                <a:solidFill>
                  <a:srgbClr val="9A9DA4"/>
                </a:solidFill>
                <a:latin typeface="Segoe UI"/>
              </a:rPr>
              <a:t>Future Scope</a:t>
            </a:r>
          </a:p>
        </p:txBody>
      </p:sp>
      <p:sp>
        <p:nvSpPr>
          <p:cNvPr id="1048852" name="TextBox 30"/>
          <p:cNvSpPr txBox="1"/>
          <p:nvPr/>
        </p:nvSpPr>
        <p:spPr>
          <a:xfrm>
            <a:off x="365760" y="5792723"/>
            <a:ext cx="365760" cy="139701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0" sz="1000" i="0">
                <a:solidFill>
                  <a:srgbClr val="6B6F78"/>
                </a:solidFill>
                <a:latin typeface="Consolas"/>
              </a:rPr>
              <a:t>12</a:t>
            </a:r>
          </a:p>
        </p:txBody>
      </p:sp>
      <p:sp>
        <p:nvSpPr>
          <p:cNvPr id="1048853" name="TextBox 31"/>
          <p:cNvSpPr txBox="1"/>
          <p:nvPr/>
        </p:nvSpPr>
        <p:spPr>
          <a:xfrm>
            <a:off x="804672" y="5792723"/>
            <a:ext cx="1481328" cy="165101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0" sz="1100" i="0">
                <a:solidFill>
                  <a:srgbClr val="9A9DA4"/>
                </a:solidFill>
                <a:latin typeface="Segoe UI"/>
              </a:rPr>
              <a:t>Conclusion</a:t>
            </a:r>
          </a:p>
        </p:txBody>
      </p:sp>
      <p:sp>
        <p:nvSpPr>
          <p:cNvPr id="1048854" name="TextBox 32"/>
          <p:cNvSpPr txBox="1"/>
          <p:nvPr/>
        </p:nvSpPr>
        <p:spPr>
          <a:xfrm>
            <a:off x="365760" y="6400800"/>
            <a:ext cx="1920240" cy="114301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0" sz="850" i="0">
                <a:solidFill>
                  <a:srgbClr val="848074"/>
                </a:solidFill>
                <a:latin typeface="Segoe UI"/>
              </a:rPr>
              <a:t>DIET · TEAM 20</a:t>
            </a:r>
          </a:p>
        </p:txBody>
      </p:sp>
      <p:sp>
        <p:nvSpPr>
          <p:cNvPr id="1048855" name="TextBox 33"/>
          <p:cNvSpPr txBox="1"/>
          <p:nvPr/>
        </p:nvSpPr>
        <p:spPr>
          <a:xfrm>
            <a:off x="2788920" y="502920"/>
            <a:ext cx="8229600" cy="1778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1" sz="1200" i="0">
                <a:solidFill>
                  <a:srgbClr val="C8962E"/>
                </a:solidFill>
                <a:latin typeface="Segoe UI Semibold"/>
              </a:rPr>
              <a:t>HOW IT WORKS</a:t>
            </a:r>
          </a:p>
        </p:txBody>
      </p:sp>
      <p:sp>
        <p:nvSpPr>
          <p:cNvPr id="1048856" name="TextBox 34"/>
          <p:cNvSpPr txBox="1"/>
          <p:nvPr/>
        </p:nvSpPr>
        <p:spPr>
          <a:xfrm>
            <a:off x="2788920" y="841248"/>
            <a:ext cx="8961120" cy="5080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1" sz="3400" i="0">
                <a:solidFill>
                  <a:srgbClr val="14181F"/>
                </a:solidFill>
                <a:latin typeface="Georgia"/>
              </a:rPr>
              <a:t>System Architecture</a:t>
            </a:r>
          </a:p>
        </p:txBody>
      </p:sp>
      <p:sp>
        <p:nvSpPr>
          <p:cNvPr id="1048857" name="Rectangle 35"/>
          <p:cNvSpPr/>
          <p:nvPr/>
        </p:nvSpPr>
        <p:spPr>
          <a:xfrm>
            <a:off x="2808920" y="1536192"/>
            <a:ext cx="685800" cy="38100"/>
          </a:xfrm>
          <a:prstGeom prst="rect"/>
          <a:solidFill>
            <a:srgbClr val="C89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858" name="Rounded Rectangle 36"/>
          <p:cNvSpPr/>
          <p:nvPr/>
        </p:nvSpPr>
        <p:spPr>
          <a:xfrm>
            <a:off x="2788920" y="1965960"/>
            <a:ext cx="2697480" cy="1783080"/>
          </a:xfrm>
          <a:prstGeom prst="roundRect">
            <a:avLst>
              <a:gd name="adj" fmla="val 6000"/>
            </a:avLst>
          </a:prstGeom>
          <a:solidFill>
            <a:srgbClr val="FFFEFB"/>
          </a:solidFill>
          <a:ln w="12700">
            <a:solidFill>
              <a:srgbClr val="D3CD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859" name="Rectangle 37"/>
          <p:cNvSpPr/>
          <p:nvPr/>
        </p:nvSpPr>
        <p:spPr>
          <a:xfrm>
            <a:off x="2788920" y="1965960"/>
            <a:ext cx="63500" cy="1783080"/>
          </a:xfrm>
          <a:prstGeom prst="rect"/>
          <a:solidFill>
            <a:srgbClr val="108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860" name="TextBox 38"/>
          <p:cNvSpPr txBox="1"/>
          <p:nvPr/>
        </p:nvSpPr>
        <p:spPr>
          <a:xfrm>
            <a:off x="3063240" y="2167128"/>
            <a:ext cx="1097280" cy="3810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1" sz="2600" i="0">
                <a:solidFill>
                  <a:srgbClr val="108A5C"/>
                </a:solidFill>
                <a:latin typeface="Georgia"/>
              </a:rPr>
              <a:t>01</a:t>
            </a:r>
          </a:p>
        </p:txBody>
      </p:sp>
      <p:sp>
        <p:nvSpPr>
          <p:cNvPr id="1048861" name="TextBox 39"/>
          <p:cNvSpPr txBox="1"/>
          <p:nvPr/>
        </p:nvSpPr>
        <p:spPr>
          <a:xfrm>
            <a:off x="3063240" y="2715768"/>
            <a:ext cx="2240280" cy="2032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1" sz="1450" i="0">
                <a:solidFill>
                  <a:srgbClr val="14181F"/>
                </a:solidFill>
                <a:latin typeface="Segoe UI Semibold"/>
              </a:rPr>
              <a:t>Query Input</a:t>
            </a:r>
          </a:p>
        </p:txBody>
      </p:sp>
      <p:sp>
        <p:nvSpPr>
          <p:cNvPr id="1048862" name="TextBox 40"/>
          <p:cNvSpPr txBox="1"/>
          <p:nvPr/>
        </p:nvSpPr>
        <p:spPr>
          <a:xfrm>
            <a:off x="3063240" y="3063240"/>
            <a:ext cx="2194560" cy="36322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b="0" sz="1100" i="0">
                <a:solidFill>
                  <a:srgbClr val="3A4049"/>
                </a:solidFill>
                <a:latin typeface="Segoe UI"/>
              </a:rPr>
              <a:t>Sandbox, uploader or CLI batch scanner reads statements.</a:t>
            </a:r>
          </a:p>
        </p:txBody>
      </p:sp>
      <p:sp>
        <p:nvSpPr>
          <p:cNvPr id="1048863" name="Rounded Rectangle 41"/>
          <p:cNvSpPr/>
          <p:nvPr/>
        </p:nvSpPr>
        <p:spPr>
          <a:xfrm>
            <a:off x="5687568" y="1965960"/>
            <a:ext cx="2697480" cy="1783080"/>
          </a:xfrm>
          <a:prstGeom prst="roundRect">
            <a:avLst>
              <a:gd name="adj" fmla="val 6000"/>
            </a:avLst>
          </a:prstGeom>
          <a:solidFill>
            <a:srgbClr val="FFFEFB"/>
          </a:solidFill>
          <a:ln w="12700">
            <a:solidFill>
              <a:srgbClr val="D3CD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864" name="Rectangle 42"/>
          <p:cNvSpPr/>
          <p:nvPr/>
        </p:nvSpPr>
        <p:spPr>
          <a:xfrm>
            <a:off x="5687568" y="1965960"/>
            <a:ext cx="63500" cy="1783080"/>
          </a:xfrm>
          <a:prstGeom prst="rect"/>
          <a:solidFill>
            <a:srgbClr val="E25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865" name="TextBox 43"/>
          <p:cNvSpPr txBox="1"/>
          <p:nvPr/>
        </p:nvSpPr>
        <p:spPr>
          <a:xfrm>
            <a:off x="5961888" y="2167128"/>
            <a:ext cx="1097280" cy="3810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1" sz="2600" i="0">
                <a:solidFill>
                  <a:srgbClr val="E2563B"/>
                </a:solidFill>
                <a:latin typeface="Georgia"/>
              </a:rPr>
              <a:t>02</a:t>
            </a:r>
          </a:p>
        </p:txBody>
      </p:sp>
      <p:sp>
        <p:nvSpPr>
          <p:cNvPr id="1048866" name="TextBox 44"/>
          <p:cNvSpPr txBox="1"/>
          <p:nvPr/>
        </p:nvSpPr>
        <p:spPr>
          <a:xfrm>
            <a:off x="5961888" y="2715768"/>
            <a:ext cx="2240280" cy="2032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1" sz="1450" i="0">
                <a:solidFill>
                  <a:srgbClr val="14181F"/>
                </a:solidFill>
                <a:latin typeface="Segoe UI Semibold"/>
              </a:rPr>
              <a:t>Sanitization</a:t>
            </a:r>
          </a:p>
        </p:txBody>
      </p:sp>
      <p:sp>
        <p:nvSpPr>
          <p:cNvPr id="1048867" name="TextBox 45"/>
          <p:cNvSpPr txBox="1"/>
          <p:nvPr/>
        </p:nvSpPr>
        <p:spPr>
          <a:xfrm>
            <a:off x="5961888" y="3063240"/>
            <a:ext cx="2194560" cy="36322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b="0" sz="1100" i="0">
                <a:solidFill>
                  <a:srgbClr val="3A4049"/>
                </a:solidFill>
                <a:latin typeface="Segoe UI"/>
              </a:rPr>
              <a:t>strip_markdown_artifacts() removes code blocks &amp; markers.</a:t>
            </a:r>
          </a:p>
        </p:txBody>
      </p:sp>
      <p:sp>
        <p:nvSpPr>
          <p:cNvPr id="1048868" name="Rounded Rectangle 46"/>
          <p:cNvSpPr/>
          <p:nvPr/>
        </p:nvSpPr>
        <p:spPr>
          <a:xfrm>
            <a:off x="8586216" y="1965960"/>
            <a:ext cx="2697480" cy="1783080"/>
          </a:xfrm>
          <a:prstGeom prst="roundRect">
            <a:avLst>
              <a:gd name="adj" fmla="val 6000"/>
            </a:avLst>
          </a:prstGeom>
          <a:solidFill>
            <a:srgbClr val="FFFEFB"/>
          </a:solidFill>
          <a:ln w="12700">
            <a:solidFill>
              <a:srgbClr val="D3CD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869" name="Rectangle 47"/>
          <p:cNvSpPr/>
          <p:nvPr/>
        </p:nvSpPr>
        <p:spPr>
          <a:xfrm>
            <a:off x="8586216" y="1965960"/>
            <a:ext cx="63500" cy="1783080"/>
          </a:xfrm>
          <a:prstGeom prst="rect"/>
          <a:solidFill>
            <a:srgbClr val="C89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870" name="TextBox 48"/>
          <p:cNvSpPr txBox="1"/>
          <p:nvPr/>
        </p:nvSpPr>
        <p:spPr>
          <a:xfrm>
            <a:off x="8860536" y="2167128"/>
            <a:ext cx="1097280" cy="3810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1" sz="2600" i="0">
                <a:solidFill>
                  <a:srgbClr val="C8962E"/>
                </a:solidFill>
                <a:latin typeface="Georgia"/>
              </a:rPr>
              <a:t>03</a:t>
            </a:r>
          </a:p>
        </p:txBody>
      </p:sp>
      <p:sp>
        <p:nvSpPr>
          <p:cNvPr id="1048871" name="TextBox 49"/>
          <p:cNvSpPr txBox="1"/>
          <p:nvPr/>
        </p:nvSpPr>
        <p:spPr>
          <a:xfrm>
            <a:off x="8860536" y="2715768"/>
            <a:ext cx="2240280" cy="2032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1" sz="1450" i="0">
                <a:solidFill>
                  <a:srgbClr val="14181F"/>
                </a:solidFill>
                <a:latin typeface="Segoe UI Semibold"/>
              </a:rPr>
              <a:t>Phase 1 · Linter</a:t>
            </a:r>
          </a:p>
        </p:txBody>
      </p:sp>
      <p:sp>
        <p:nvSpPr>
          <p:cNvPr id="1048872" name="TextBox 50"/>
          <p:cNvSpPr txBox="1"/>
          <p:nvPr/>
        </p:nvSpPr>
        <p:spPr>
          <a:xfrm>
            <a:off x="8860536" y="3063240"/>
            <a:ext cx="2194560" cy="54483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b="0" sz="1100" i="0">
                <a:solidFill>
                  <a:srgbClr val="3A4049"/>
                </a:solidFill>
                <a:latin typeface="Segoe UI"/>
              </a:rPr>
              <a:t>Keyword caps, camelCase→snake_case, SELECT * checks.</a:t>
            </a:r>
          </a:p>
        </p:txBody>
      </p:sp>
      <p:sp>
        <p:nvSpPr>
          <p:cNvPr id="1048873" name="Rounded Rectangle 51"/>
          <p:cNvSpPr/>
          <p:nvPr/>
        </p:nvSpPr>
        <p:spPr>
          <a:xfrm>
            <a:off x="2788920" y="4251960"/>
            <a:ext cx="2697480" cy="1783080"/>
          </a:xfrm>
          <a:prstGeom prst="roundRect">
            <a:avLst>
              <a:gd name="adj" fmla="val 6000"/>
            </a:avLst>
          </a:prstGeom>
          <a:solidFill>
            <a:srgbClr val="FFFEFB"/>
          </a:solidFill>
          <a:ln w="12700">
            <a:solidFill>
              <a:srgbClr val="D3CD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874" name="Rectangle 52"/>
          <p:cNvSpPr/>
          <p:nvPr/>
        </p:nvSpPr>
        <p:spPr>
          <a:xfrm>
            <a:off x="2788920" y="4251960"/>
            <a:ext cx="63500" cy="1783080"/>
          </a:xfrm>
          <a:prstGeom prst="rect"/>
          <a:solidFill>
            <a:srgbClr val="2D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875" name="TextBox 53"/>
          <p:cNvSpPr txBox="1"/>
          <p:nvPr/>
        </p:nvSpPr>
        <p:spPr>
          <a:xfrm>
            <a:off x="3063240" y="4453128"/>
            <a:ext cx="1097280" cy="381001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1" sz="2600" i="0">
                <a:solidFill>
                  <a:srgbClr val="2D5D8A"/>
                </a:solidFill>
                <a:latin typeface="Georgia"/>
              </a:rPr>
              <a:t>04</a:t>
            </a:r>
          </a:p>
        </p:txBody>
      </p:sp>
      <p:sp>
        <p:nvSpPr>
          <p:cNvPr id="1048876" name="TextBox 54"/>
          <p:cNvSpPr txBox="1"/>
          <p:nvPr/>
        </p:nvSpPr>
        <p:spPr>
          <a:xfrm>
            <a:off x="3063240" y="5001768"/>
            <a:ext cx="2240280" cy="2032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1" sz="1450" i="0">
                <a:solidFill>
                  <a:srgbClr val="14181F"/>
                </a:solidFill>
                <a:latin typeface="Segoe UI Semibold"/>
              </a:rPr>
              <a:t>Phase 2 · Refactor</a:t>
            </a:r>
          </a:p>
        </p:txBody>
      </p:sp>
      <p:sp>
        <p:nvSpPr>
          <p:cNvPr id="1048877" name="TextBox 55"/>
          <p:cNvSpPr txBox="1"/>
          <p:nvPr/>
        </p:nvSpPr>
        <p:spPr>
          <a:xfrm>
            <a:off x="3063240" y="5349240"/>
            <a:ext cx="2194560" cy="363221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b="0" sz="1100" i="0">
                <a:solidFill>
                  <a:srgbClr val="3A4049"/>
                </a:solidFill>
                <a:latin typeface="Segoe UI"/>
              </a:rPr>
              <a:t>Gemini optimizes joins &amp; nested subqueries.</a:t>
            </a:r>
          </a:p>
        </p:txBody>
      </p:sp>
      <p:sp>
        <p:nvSpPr>
          <p:cNvPr id="1048878" name="Rounded Rectangle 56"/>
          <p:cNvSpPr/>
          <p:nvPr/>
        </p:nvSpPr>
        <p:spPr>
          <a:xfrm>
            <a:off x="5687568" y="4251960"/>
            <a:ext cx="2697480" cy="1783080"/>
          </a:xfrm>
          <a:prstGeom prst="roundRect">
            <a:avLst>
              <a:gd name="adj" fmla="val 6000"/>
            </a:avLst>
          </a:prstGeom>
          <a:solidFill>
            <a:srgbClr val="FFFEFB"/>
          </a:solidFill>
          <a:ln w="12700">
            <a:solidFill>
              <a:srgbClr val="D3CD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879" name="Rectangle 57"/>
          <p:cNvSpPr/>
          <p:nvPr/>
        </p:nvSpPr>
        <p:spPr>
          <a:xfrm>
            <a:off x="5687568" y="4251960"/>
            <a:ext cx="63500" cy="1783080"/>
          </a:xfrm>
          <a:prstGeom prst="rect"/>
          <a:solidFill>
            <a:srgbClr val="7A3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880" name="TextBox 58"/>
          <p:cNvSpPr txBox="1"/>
          <p:nvPr/>
        </p:nvSpPr>
        <p:spPr>
          <a:xfrm>
            <a:off x="5961888" y="4453128"/>
            <a:ext cx="1097280" cy="381001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1" sz="2600" i="0">
                <a:solidFill>
                  <a:srgbClr val="7A3E6B"/>
                </a:solidFill>
                <a:latin typeface="Georgia"/>
              </a:rPr>
              <a:t>05</a:t>
            </a:r>
          </a:p>
        </p:txBody>
      </p:sp>
      <p:sp>
        <p:nvSpPr>
          <p:cNvPr id="1048881" name="TextBox 59"/>
          <p:cNvSpPr txBox="1"/>
          <p:nvPr/>
        </p:nvSpPr>
        <p:spPr>
          <a:xfrm>
            <a:off x="5961888" y="5001768"/>
            <a:ext cx="2240280" cy="2032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1" sz="1450" i="0">
                <a:solidFill>
                  <a:srgbClr val="14181F"/>
                </a:solidFill>
                <a:latin typeface="Segoe UI Semibold"/>
              </a:rPr>
              <a:t>Critic Loop</a:t>
            </a:r>
          </a:p>
        </p:txBody>
      </p:sp>
      <p:sp>
        <p:nvSpPr>
          <p:cNvPr id="1048882" name="TextBox 60"/>
          <p:cNvSpPr txBox="1"/>
          <p:nvPr/>
        </p:nvSpPr>
        <p:spPr>
          <a:xfrm>
            <a:off x="5961888" y="5349240"/>
            <a:ext cx="2194560" cy="363221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b="0" sz="1100" i="0">
                <a:solidFill>
                  <a:srgbClr val="3A4049"/>
                </a:solidFill>
                <a:latin typeface="Segoe UI"/>
              </a:rPr>
              <a:t>sqlglot validates; errors feed back so the LLM self-heals.</a:t>
            </a:r>
          </a:p>
        </p:txBody>
      </p:sp>
      <p:sp>
        <p:nvSpPr>
          <p:cNvPr id="1048883" name="Rounded Rectangle 61"/>
          <p:cNvSpPr/>
          <p:nvPr/>
        </p:nvSpPr>
        <p:spPr>
          <a:xfrm>
            <a:off x="8586216" y="4251960"/>
            <a:ext cx="2697480" cy="1783080"/>
          </a:xfrm>
          <a:prstGeom prst="roundRect">
            <a:avLst>
              <a:gd name="adj" fmla="val 6000"/>
            </a:avLst>
          </a:prstGeom>
          <a:solidFill>
            <a:srgbClr val="FFFEFB"/>
          </a:solidFill>
          <a:ln w="12700">
            <a:solidFill>
              <a:srgbClr val="D3CD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884" name="Rectangle 62"/>
          <p:cNvSpPr/>
          <p:nvPr/>
        </p:nvSpPr>
        <p:spPr>
          <a:xfrm>
            <a:off x="8586216" y="4251960"/>
            <a:ext cx="63500" cy="1783080"/>
          </a:xfrm>
          <a:prstGeom prst="rect"/>
          <a:solidFill>
            <a:srgbClr val="0B5E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885" name="TextBox 63"/>
          <p:cNvSpPr txBox="1"/>
          <p:nvPr/>
        </p:nvSpPr>
        <p:spPr>
          <a:xfrm>
            <a:off x="8860536" y="4453128"/>
            <a:ext cx="1097280" cy="381001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1" sz="2600" i="0">
                <a:solidFill>
                  <a:srgbClr val="0B5E40"/>
                </a:solidFill>
                <a:latin typeface="Georgia"/>
              </a:rPr>
              <a:t>06</a:t>
            </a:r>
          </a:p>
        </p:txBody>
      </p:sp>
      <p:sp>
        <p:nvSpPr>
          <p:cNvPr id="1048886" name="TextBox 64"/>
          <p:cNvSpPr txBox="1"/>
          <p:nvPr/>
        </p:nvSpPr>
        <p:spPr>
          <a:xfrm>
            <a:off x="8860536" y="5001768"/>
            <a:ext cx="2240280" cy="2032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1" sz="1450" i="0">
                <a:solidFill>
                  <a:srgbClr val="14181F"/>
                </a:solidFill>
                <a:latin typeface="Segoe UI Semibold"/>
              </a:rPr>
              <a:t>Output</a:t>
            </a:r>
          </a:p>
        </p:txBody>
      </p:sp>
      <p:sp>
        <p:nvSpPr>
          <p:cNvPr id="1048887" name="TextBox 65"/>
          <p:cNvSpPr txBox="1"/>
          <p:nvPr/>
        </p:nvSpPr>
        <p:spPr>
          <a:xfrm>
            <a:off x="8860536" y="5349240"/>
            <a:ext cx="2194560" cy="363221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b="0" sz="1100" i="0">
                <a:solidFill>
                  <a:srgbClr val="3A4049"/>
                </a:solidFill>
                <a:latin typeface="Segoe UI"/>
              </a:rPr>
              <a:t>Copyable SQL frames + colored diff blocks.</a:t>
            </a:r>
          </a:p>
        </p:txBody>
      </p:sp>
      <p:sp>
        <p:nvSpPr>
          <p:cNvPr id="1048888" name="Chevron 66"/>
          <p:cNvSpPr/>
          <p:nvPr/>
        </p:nvSpPr>
        <p:spPr>
          <a:xfrm>
            <a:off x="5496400" y="2679192"/>
            <a:ext cx="164592" cy="365760"/>
          </a:xfrm>
          <a:prstGeom prst="chevron"/>
          <a:solidFill>
            <a:srgbClr val="C89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889" name="Chevron 67"/>
          <p:cNvSpPr/>
          <p:nvPr/>
        </p:nvSpPr>
        <p:spPr>
          <a:xfrm>
            <a:off x="8395048" y="2679192"/>
            <a:ext cx="164592" cy="365760"/>
          </a:xfrm>
          <a:prstGeom prst="chevron"/>
          <a:solidFill>
            <a:srgbClr val="C89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890" name="Chevron 68"/>
          <p:cNvSpPr/>
          <p:nvPr/>
        </p:nvSpPr>
        <p:spPr>
          <a:xfrm>
            <a:off x="5496400" y="4965192"/>
            <a:ext cx="164592" cy="365760"/>
          </a:xfrm>
          <a:prstGeom prst="chevron"/>
          <a:solidFill>
            <a:srgbClr val="C89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891" name="Chevron 69"/>
          <p:cNvSpPr/>
          <p:nvPr/>
        </p:nvSpPr>
        <p:spPr>
          <a:xfrm>
            <a:off x="8395048" y="4965192"/>
            <a:ext cx="164592" cy="365760"/>
          </a:xfrm>
          <a:prstGeom prst="chevron"/>
          <a:solidFill>
            <a:srgbClr val="C89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3" name=""/>
        <p:cNvGrpSpPr/>
        <p:nvPr/>
      </p:nvGrpSpPr>
      <p:grpSpPr>
        <a:xfrm/>
      </p:grpSpPr>
      <p:sp>
        <p:nvSpPr>
          <p:cNvPr id="1048892" name="Rectangle 1"/>
          <p:cNvSpPr/>
          <p:nvPr/>
        </p:nvSpPr>
        <p:spPr>
          <a:xfrm>
            <a:off x="0" y="0"/>
            <a:ext cx="12191695" cy="6858000"/>
          </a:xfrm>
          <a:prstGeom prst="rect"/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893" name="Rectangle 2"/>
          <p:cNvSpPr/>
          <p:nvPr/>
        </p:nvSpPr>
        <p:spPr>
          <a:xfrm>
            <a:off x="0" y="0"/>
            <a:ext cx="2331720" cy="6858000"/>
          </a:xfrm>
          <a:prstGeom prst="rect"/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894" name="Rectangle 3"/>
          <p:cNvSpPr/>
          <p:nvPr/>
        </p:nvSpPr>
        <p:spPr>
          <a:xfrm>
            <a:off x="2293620" y="0"/>
            <a:ext cx="38100" cy="6858000"/>
          </a:xfrm>
          <a:prstGeom prst="rect"/>
          <a:solidFill>
            <a:srgbClr val="0B5E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895" name="TextBox 4"/>
          <p:cNvSpPr txBox="1"/>
          <p:nvPr/>
        </p:nvSpPr>
        <p:spPr>
          <a:xfrm>
            <a:off x="365760" y="365760"/>
            <a:ext cx="1828800" cy="36576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1" sz="2000" i="0">
                <a:solidFill>
                  <a:srgbClr val="0B5E40"/>
                </a:solidFill>
                <a:latin typeface="Georgia"/>
              </a:rPr>
              <a:t>&lt;/&gt;</a:t>
            </a:r>
          </a:p>
        </p:txBody>
      </p:sp>
      <p:sp>
        <p:nvSpPr>
          <p:cNvPr id="1048896" name="TextBox 5"/>
          <p:cNvSpPr txBox="1"/>
          <p:nvPr/>
        </p:nvSpPr>
        <p:spPr>
          <a:xfrm>
            <a:off x="365760" y="804672"/>
            <a:ext cx="1828800" cy="82296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b="1" sz="1200" i="0">
                <a:solidFill>
                  <a:srgbClr val="F4F1EA"/>
                </a:solidFill>
                <a:latin typeface="Segoe UI Semibold"/>
              </a:rPr>
              <a:t>SQL Query Linter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b="0" sz="1200" i="0">
                <a:solidFill>
                  <a:srgbClr val="848074"/>
                </a:solidFill>
                <a:latin typeface="Segoe UI"/>
              </a:rPr>
              <a:t>&amp; Style Fixer</a:t>
            </a:r>
          </a:p>
        </p:txBody>
      </p:sp>
      <p:sp>
        <p:nvSpPr>
          <p:cNvPr id="1048897" name="Rectangle 6"/>
          <p:cNvSpPr/>
          <p:nvPr/>
        </p:nvSpPr>
        <p:spPr>
          <a:xfrm>
            <a:off x="365760" y="1664208"/>
            <a:ext cx="914400" cy="25400"/>
          </a:xfrm>
          <a:prstGeom prst="rect"/>
          <a:solidFill>
            <a:srgbClr val="0B5E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898" name="TextBox 7"/>
          <p:cNvSpPr txBox="1"/>
          <p:nvPr/>
        </p:nvSpPr>
        <p:spPr>
          <a:xfrm>
            <a:off x="365760" y="1920240"/>
            <a:ext cx="365760" cy="27432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0" sz="1000" i="0">
                <a:solidFill>
                  <a:srgbClr val="6B6F78"/>
                </a:solidFill>
                <a:latin typeface="Consolas"/>
              </a:rPr>
              <a:t>01</a:t>
            </a:r>
          </a:p>
        </p:txBody>
      </p:sp>
      <p:sp>
        <p:nvSpPr>
          <p:cNvPr id="1048899" name="TextBox 8"/>
          <p:cNvSpPr txBox="1"/>
          <p:nvPr/>
        </p:nvSpPr>
        <p:spPr>
          <a:xfrm>
            <a:off x="804672" y="1920240"/>
            <a:ext cx="1481328" cy="27432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0" sz="1100" i="0">
                <a:solidFill>
                  <a:srgbClr val="9A9DA4"/>
                </a:solidFill>
                <a:latin typeface="Segoe UI"/>
              </a:rPr>
              <a:t>Objective</a:t>
            </a:r>
          </a:p>
        </p:txBody>
      </p:sp>
      <p:sp>
        <p:nvSpPr>
          <p:cNvPr id="1048900" name="TextBox 9"/>
          <p:cNvSpPr txBox="1"/>
          <p:nvPr/>
        </p:nvSpPr>
        <p:spPr>
          <a:xfrm>
            <a:off x="365760" y="2272284"/>
            <a:ext cx="365760" cy="27432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0" sz="1000" i="0">
                <a:solidFill>
                  <a:srgbClr val="6B6F78"/>
                </a:solidFill>
                <a:latin typeface="Consolas"/>
              </a:rPr>
              <a:t>02</a:t>
            </a:r>
          </a:p>
        </p:txBody>
      </p:sp>
      <p:sp>
        <p:nvSpPr>
          <p:cNvPr id="1048901" name="TextBox 10"/>
          <p:cNvSpPr txBox="1"/>
          <p:nvPr/>
        </p:nvSpPr>
        <p:spPr>
          <a:xfrm>
            <a:off x="804672" y="2272284"/>
            <a:ext cx="1481328" cy="27432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0" sz="1100" i="0">
                <a:solidFill>
                  <a:srgbClr val="9A9DA4"/>
                </a:solidFill>
                <a:latin typeface="Segoe UI"/>
              </a:rPr>
              <a:t>Problem</a:t>
            </a:r>
          </a:p>
        </p:txBody>
      </p:sp>
      <p:sp>
        <p:nvSpPr>
          <p:cNvPr id="1048902" name="TextBox 11"/>
          <p:cNvSpPr txBox="1"/>
          <p:nvPr/>
        </p:nvSpPr>
        <p:spPr>
          <a:xfrm>
            <a:off x="365760" y="2624328"/>
            <a:ext cx="365760" cy="27432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0" sz="1000" i="0">
                <a:solidFill>
                  <a:srgbClr val="6B6F78"/>
                </a:solidFill>
                <a:latin typeface="Consolas"/>
              </a:rPr>
              <a:t>03</a:t>
            </a:r>
          </a:p>
        </p:txBody>
      </p:sp>
      <p:sp>
        <p:nvSpPr>
          <p:cNvPr id="1048903" name="TextBox 12"/>
          <p:cNvSpPr txBox="1"/>
          <p:nvPr/>
        </p:nvSpPr>
        <p:spPr>
          <a:xfrm>
            <a:off x="804672" y="2624328"/>
            <a:ext cx="1481328" cy="27432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0" sz="1100" i="0">
                <a:solidFill>
                  <a:srgbClr val="9A9DA4"/>
                </a:solidFill>
                <a:latin typeface="Segoe UI"/>
              </a:rPr>
              <a:t>Approach</a:t>
            </a:r>
          </a:p>
        </p:txBody>
      </p:sp>
      <p:sp>
        <p:nvSpPr>
          <p:cNvPr id="1048904" name="TextBox 13"/>
          <p:cNvSpPr txBox="1"/>
          <p:nvPr/>
        </p:nvSpPr>
        <p:spPr>
          <a:xfrm>
            <a:off x="365760" y="2976372"/>
            <a:ext cx="365760" cy="27432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0" sz="1000" i="0">
                <a:solidFill>
                  <a:srgbClr val="6B6F78"/>
                </a:solidFill>
                <a:latin typeface="Consolas"/>
              </a:rPr>
              <a:t>04</a:t>
            </a:r>
          </a:p>
        </p:txBody>
      </p:sp>
      <p:sp>
        <p:nvSpPr>
          <p:cNvPr id="1048905" name="TextBox 14"/>
          <p:cNvSpPr txBox="1"/>
          <p:nvPr/>
        </p:nvSpPr>
        <p:spPr>
          <a:xfrm>
            <a:off x="804672" y="2976372"/>
            <a:ext cx="1481328" cy="27432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0" sz="1100" i="0">
                <a:solidFill>
                  <a:srgbClr val="9A9DA4"/>
                </a:solidFill>
                <a:latin typeface="Segoe UI"/>
              </a:rPr>
              <a:t>Tech Stack</a:t>
            </a:r>
          </a:p>
        </p:txBody>
      </p:sp>
      <p:sp>
        <p:nvSpPr>
          <p:cNvPr id="1048906" name="TextBox 15"/>
          <p:cNvSpPr txBox="1"/>
          <p:nvPr/>
        </p:nvSpPr>
        <p:spPr>
          <a:xfrm>
            <a:off x="365760" y="3328415"/>
            <a:ext cx="365760" cy="27432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0" sz="1000" i="0">
                <a:solidFill>
                  <a:srgbClr val="6B6F78"/>
                </a:solidFill>
                <a:latin typeface="Consolas"/>
              </a:rPr>
              <a:t>05</a:t>
            </a:r>
          </a:p>
        </p:txBody>
      </p:sp>
      <p:sp>
        <p:nvSpPr>
          <p:cNvPr id="1048907" name="TextBox 16"/>
          <p:cNvSpPr txBox="1"/>
          <p:nvPr/>
        </p:nvSpPr>
        <p:spPr>
          <a:xfrm>
            <a:off x="804672" y="3328415"/>
            <a:ext cx="1481328" cy="27432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0" sz="1100" i="0">
                <a:solidFill>
                  <a:srgbClr val="9A9DA4"/>
                </a:solidFill>
                <a:latin typeface="Segoe UI"/>
              </a:rPr>
              <a:t>Architecture</a:t>
            </a:r>
          </a:p>
        </p:txBody>
      </p:sp>
      <p:sp>
        <p:nvSpPr>
          <p:cNvPr id="1048908" name="Rectangle 17"/>
          <p:cNvSpPr/>
          <p:nvPr/>
        </p:nvSpPr>
        <p:spPr>
          <a:xfrm>
            <a:off x="0" y="3653027"/>
            <a:ext cx="73152" cy="310896"/>
          </a:xfrm>
          <a:prstGeom prst="rect"/>
          <a:solidFill>
            <a:srgbClr val="0B5E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909" name="TextBox 18"/>
          <p:cNvSpPr txBox="1"/>
          <p:nvPr/>
        </p:nvSpPr>
        <p:spPr>
          <a:xfrm>
            <a:off x="365760" y="3680459"/>
            <a:ext cx="365760" cy="27432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1" sz="1000" i="0">
                <a:solidFill>
                  <a:srgbClr val="0B5E40"/>
                </a:solidFill>
                <a:latin typeface="Consolas"/>
              </a:rPr>
              <a:t>06</a:t>
            </a:r>
          </a:p>
        </p:txBody>
      </p:sp>
      <p:sp>
        <p:nvSpPr>
          <p:cNvPr id="1048910" name="TextBox 19"/>
          <p:cNvSpPr txBox="1"/>
          <p:nvPr/>
        </p:nvSpPr>
        <p:spPr>
          <a:xfrm>
            <a:off x="804672" y="3680459"/>
            <a:ext cx="1481328" cy="27432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1" sz="1100" i="0">
                <a:solidFill>
                  <a:srgbClr val="F4F1EA"/>
                </a:solidFill>
                <a:latin typeface="Segoe UI Semibold"/>
              </a:rPr>
              <a:t>Modules</a:t>
            </a:r>
          </a:p>
        </p:txBody>
      </p:sp>
      <p:sp>
        <p:nvSpPr>
          <p:cNvPr id="1048911" name="TextBox 20"/>
          <p:cNvSpPr txBox="1"/>
          <p:nvPr/>
        </p:nvSpPr>
        <p:spPr>
          <a:xfrm>
            <a:off x="365760" y="4032503"/>
            <a:ext cx="365760" cy="27432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0" sz="1000" i="0">
                <a:solidFill>
                  <a:srgbClr val="6B6F78"/>
                </a:solidFill>
                <a:latin typeface="Consolas"/>
              </a:rPr>
              <a:t>07</a:t>
            </a:r>
          </a:p>
        </p:txBody>
      </p:sp>
      <p:sp>
        <p:nvSpPr>
          <p:cNvPr id="1048912" name="TextBox 21"/>
          <p:cNvSpPr txBox="1"/>
          <p:nvPr/>
        </p:nvSpPr>
        <p:spPr>
          <a:xfrm>
            <a:off x="804672" y="4032503"/>
            <a:ext cx="1481328" cy="27432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0" sz="1100" i="0">
                <a:solidFill>
                  <a:srgbClr val="9A9DA4"/>
                </a:solidFill>
                <a:latin typeface="Segoe UI"/>
              </a:rPr>
              <a:t>Before / After</a:t>
            </a:r>
          </a:p>
        </p:txBody>
      </p:sp>
      <p:sp>
        <p:nvSpPr>
          <p:cNvPr id="1048913" name="TextBox 22"/>
          <p:cNvSpPr txBox="1"/>
          <p:nvPr/>
        </p:nvSpPr>
        <p:spPr>
          <a:xfrm>
            <a:off x="365760" y="4384547"/>
            <a:ext cx="365760" cy="27432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0" sz="1000" i="0">
                <a:solidFill>
                  <a:srgbClr val="6B6F78"/>
                </a:solidFill>
                <a:latin typeface="Consolas"/>
              </a:rPr>
              <a:t>08</a:t>
            </a:r>
          </a:p>
        </p:txBody>
      </p:sp>
      <p:sp>
        <p:nvSpPr>
          <p:cNvPr id="1048914" name="TextBox 23"/>
          <p:cNvSpPr txBox="1"/>
          <p:nvPr/>
        </p:nvSpPr>
        <p:spPr>
          <a:xfrm>
            <a:off x="804672" y="4384547"/>
            <a:ext cx="1481328" cy="27432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0" sz="1100" i="0">
                <a:solidFill>
                  <a:srgbClr val="9A9DA4"/>
                </a:solidFill>
                <a:latin typeface="Segoe UI"/>
              </a:rPr>
              <a:t>Validation</a:t>
            </a:r>
          </a:p>
        </p:txBody>
      </p:sp>
      <p:sp>
        <p:nvSpPr>
          <p:cNvPr id="1048915" name="TextBox 24"/>
          <p:cNvSpPr txBox="1"/>
          <p:nvPr/>
        </p:nvSpPr>
        <p:spPr>
          <a:xfrm>
            <a:off x="365760" y="4736591"/>
            <a:ext cx="365760" cy="27432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0" sz="1000" i="0">
                <a:solidFill>
                  <a:srgbClr val="6B6F78"/>
                </a:solidFill>
                <a:latin typeface="Consolas"/>
              </a:rPr>
              <a:t>09</a:t>
            </a:r>
          </a:p>
        </p:txBody>
      </p:sp>
      <p:sp>
        <p:nvSpPr>
          <p:cNvPr id="1048916" name="TextBox 25"/>
          <p:cNvSpPr txBox="1"/>
          <p:nvPr/>
        </p:nvSpPr>
        <p:spPr>
          <a:xfrm>
            <a:off x="804672" y="4736591"/>
            <a:ext cx="1481328" cy="27432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0" sz="1100" i="0">
                <a:solidFill>
                  <a:srgbClr val="9A9DA4"/>
                </a:solidFill>
                <a:latin typeface="Segoe UI"/>
              </a:rPr>
              <a:t>Advantages</a:t>
            </a:r>
          </a:p>
        </p:txBody>
      </p:sp>
      <p:sp>
        <p:nvSpPr>
          <p:cNvPr id="1048917" name="TextBox 26"/>
          <p:cNvSpPr txBox="1"/>
          <p:nvPr/>
        </p:nvSpPr>
        <p:spPr>
          <a:xfrm>
            <a:off x="365760" y="5088635"/>
            <a:ext cx="365760" cy="27432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0" sz="1000" i="0">
                <a:solidFill>
                  <a:srgbClr val="6B6F78"/>
                </a:solidFill>
                <a:latin typeface="Consolas"/>
              </a:rPr>
              <a:t>10</a:t>
            </a:r>
          </a:p>
        </p:txBody>
      </p:sp>
      <p:sp>
        <p:nvSpPr>
          <p:cNvPr id="1048918" name="TextBox 27"/>
          <p:cNvSpPr txBox="1"/>
          <p:nvPr/>
        </p:nvSpPr>
        <p:spPr>
          <a:xfrm>
            <a:off x="804672" y="5088635"/>
            <a:ext cx="1481328" cy="27432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0" sz="1100" i="0">
                <a:solidFill>
                  <a:srgbClr val="9A9DA4"/>
                </a:solidFill>
                <a:latin typeface="Segoe UI"/>
              </a:rPr>
              <a:t>Results</a:t>
            </a:r>
          </a:p>
        </p:txBody>
      </p:sp>
      <p:sp>
        <p:nvSpPr>
          <p:cNvPr id="1048919" name="TextBox 28"/>
          <p:cNvSpPr txBox="1"/>
          <p:nvPr/>
        </p:nvSpPr>
        <p:spPr>
          <a:xfrm>
            <a:off x="365760" y="5440679"/>
            <a:ext cx="365760" cy="27432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0" sz="1000" i="0">
                <a:solidFill>
                  <a:srgbClr val="6B6F78"/>
                </a:solidFill>
                <a:latin typeface="Consolas"/>
              </a:rPr>
              <a:t>11</a:t>
            </a:r>
          </a:p>
        </p:txBody>
      </p:sp>
      <p:sp>
        <p:nvSpPr>
          <p:cNvPr id="1048920" name="TextBox 29"/>
          <p:cNvSpPr txBox="1"/>
          <p:nvPr/>
        </p:nvSpPr>
        <p:spPr>
          <a:xfrm>
            <a:off x="804672" y="5440679"/>
            <a:ext cx="1481328" cy="27432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0" sz="1100" i="0">
                <a:solidFill>
                  <a:srgbClr val="9A9DA4"/>
                </a:solidFill>
                <a:latin typeface="Segoe UI"/>
              </a:rPr>
              <a:t>Future Scope</a:t>
            </a:r>
          </a:p>
        </p:txBody>
      </p:sp>
      <p:sp>
        <p:nvSpPr>
          <p:cNvPr id="1048921" name="TextBox 30"/>
          <p:cNvSpPr txBox="1"/>
          <p:nvPr/>
        </p:nvSpPr>
        <p:spPr>
          <a:xfrm>
            <a:off x="365760" y="5792723"/>
            <a:ext cx="365760" cy="27432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0" sz="1000" i="0">
                <a:solidFill>
                  <a:srgbClr val="6B6F78"/>
                </a:solidFill>
                <a:latin typeface="Consolas"/>
              </a:rPr>
              <a:t>12</a:t>
            </a:r>
          </a:p>
        </p:txBody>
      </p:sp>
      <p:sp>
        <p:nvSpPr>
          <p:cNvPr id="1048922" name="TextBox 31"/>
          <p:cNvSpPr txBox="1"/>
          <p:nvPr/>
        </p:nvSpPr>
        <p:spPr>
          <a:xfrm>
            <a:off x="804672" y="5792723"/>
            <a:ext cx="1481328" cy="27432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0" sz="1100" i="0">
                <a:solidFill>
                  <a:srgbClr val="9A9DA4"/>
                </a:solidFill>
                <a:latin typeface="Segoe UI"/>
              </a:rPr>
              <a:t>Conclusion</a:t>
            </a:r>
          </a:p>
        </p:txBody>
      </p:sp>
      <p:sp>
        <p:nvSpPr>
          <p:cNvPr id="1048923" name="TextBox 32"/>
          <p:cNvSpPr txBox="1"/>
          <p:nvPr/>
        </p:nvSpPr>
        <p:spPr>
          <a:xfrm>
            <a:off x="365760" y="6400800"/>
            <a:ext cx="1920240" cy="27432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0" sz="850" i="0">
                <a:solidFill>
                  <a:srgbClr val="848074"/>
                </a:solidFill>
                <a:latin typeface="Segoe UI"/>
              </a:rPr>
              <a:t>DIET · TEAM 20</a:t>
            </a:r>
          </a:p>
        </p:txBody>
      </p:sp>
      <p:sp>
        <p:nvSpPr>
          <p:cNvPr id="1048924" name="TextBox 33"/>
          <p:cNvSpPr txBox="1"/>
          <p:nvPr/>
        </p:nvSpPr>
        <p:spPr>
          <a:xfrm>
            <a:off x="2788920" y="502920"/>
            <a:ext cx="8229600" cy="27432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1" sz="1200" i="0">
                <a:solidFill>
                  <a:srgbClr val="0B5E40"/>
                </a:solidFill>
                <a:latin typeface="Segoe UI Semibold"/>
              </a:rPr>
              <a:t>CODE STRUCTURE</a:t>
            </a:r>
          </a:p>
        </p:txBody>
      </p:sp>
      <p:sp>
        <p:nvSpPr>
          <p:cNvPr id="1048925" name="TextBox 34"/>
          <p:cNvSpPr txBox="1"/>
          <p:nvPr/>
        </p:nvSpPr>
        <p:spPr>
          <a:xfrm>
            <a:off x="2788920" y="841248"/>
            <a:ext cx="8961120" cy="86868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1" sz="3400" i="0">
                <a:solidFill>
                  <a:srgbClr val="14181F"/>
                </a:solidFill>
                <a:latin typeface="Georgia"/>
              </a:rPr>
              <a:t>Modules Overview</a:t>
            </a:r>
          </a:p>
        </p:txBody>
      </p:sp>
      <p:sp>
        <p:nvSpPr>
          <p:cNvPr id="1048926" name="Rectangle 35"/>
          <p:cNvSpPr/>
          <p:nvPr/>
        </p:nvSpPr>
        <p:spPr>
          <a:xfrm>
            <a:off x="2808920" y="1536192"/>
            <a:ext cx="685800" cy="38100"/>
          </a:xfrm>
          <a:prstGeom prst="rect"/>
          <a:solidFill>
            <a:srgbClr val="0B5E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927" name="Rounded Rectangle 36"/>
          <p:cNvSpPr/>
          <p:nvPr/>
        </p:nvSpPr>
        <p:spPr>
          <a:xfrm>
            <a:off x="2788920" y="1828800"/>
            <a:ext cx="1554480" cy="658368"/>
          </a:xfrm>
          <a:prstGeom prst="roundRect">
            <a:avLst>
              <a:gd name="adj" fmla="val 8000"/>
            </a:avLst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928" name="Rectangle 37"/>
          <p:cNvSpPr/>
          <p:nvPr/>
        </p:nvSpPr>
        <p:spPr>
          <a:xfrm>
            <a:off x="2788920" y="1828800"/>
            <a:ext cx="63500" cy="658368"/>
          </a:xfrm>
          <a:prstGeom prst="rect"/>
          <a:solidFill>
            <a:srgbClr val="E25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929" name="TextBox 38"/>
          <p:cNvSpPr txBox="1"/>
          <p:nvPr/>
        </p:nvSpPr>
        <p:spPr>
          <a:xfrm>
            <a:off x="2788920" y="1828800"/>
            <a:ext cx="1554480" cy="658368"/>
          </a:xfrm>
          <a:prstGeom prst="rect"/>
          <a:noFill/>
        </p:spPr>
        <p:txBody>
          <a:bodyPr anchor="ctr" bIns="0" lIns="0" rIns="0" tIns="0" wrap="square">
            <a:spAutoFit/>
          </a:bodyPr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1" sz="1400" i="0">
                <a:solidFill>
                  <a:srgbClr val="E2563B"/>
                </a:solidFill>
                <a:latin typeface="Segoe UI Semibold"/>
              </a:rPr>
              <a:t>CLEAN</a:t>
            </a:r>
          </a:p>
        </p:txBody>
      </p:sp>
      <p:sp>
        <p:nvSpPr>
          <p:cNvPr id="1048930" name="TextBox 39"/>
          <p:cNvSpPr txBox="1"/>
          <p:nvPr/>
        </p:nvSpPr>
        <p:spPr>
          <a:xfrm>
            <a:off x="4572000" y="1847088"/>
            <a:ext cx="6949440" cy="32004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1" sz="1500" i="0">
                <a:solidFill>
                  <a:srgbClr val="14181F"/>
                </a:solidFill>
                <a:latin typeface="Segoe UI Semibold"/>
              </a:rPr>
              <a:t>Sanitization &amp; Cleaning</a:t>
            </a:r>
          </a:p>
        </p:txBody>
      </p:sp>
      <p:sp>
        <p:nvSpPr>
          <p:cNvPr id="1048931" name="TextBox 40"/>
          <p:cNvSpPr txBox="1"/>
          <p:nvPr/>
        </p:nvSpPr>
        <p:spPr>
          <a:xfrm>
            <a:off x="4572000" y="2176272"/>
            <a:ext cx="6949440" cy="36576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b="0" sz="1200" i="0">
                <a:solidFill>
                  <a:srgbClr val="3A4049"/>
                </a:solidFill>
                <a:latin typeface="Segoe UI"/>
              </a:rPr>
              <a:t>Lookbehind/lookahead regex strips styling artifacts without corrupting snake_case columns.</a:t>
            </a:r>
          </a:p>
        </p:txBody>
      </p:sp>
      <p:sp>
        <p:nvSpPr>
          <p:cNvPr id="1048932" name="Rounded Rectangle 41"/>
          <p:cNvSpPr/>
          <p:nvPr/>
        </p:nvSpPr>
        <p:spPr>
          <a:xfrm>
            <a:off x="2788920" y="2670048"/>
            <a:ext cx="1554480" cy="658368"/>
          </a:xfrm>
          <a:prstGeom prst="roundRect">
            <a:avLst>
              <a:gd name="adj" fmla="val 8000"/>
            </a:avLst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933" name="Rectangle 42"/>
          <p:cNvSpPr/>
          <p:nvPr/>
        </p:nvSpPr>
        <p:spPr>
          <a:xfrm>
            <a:off x="2788920" y="2670048"/>
            <a:ext cx="63500" cy="658368"/>
          </a:xfrm>
          <a:prstGeom prst="rect"/>
          <a:solidFill>
            <a:srgbClr val="C89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934" name="TextBox 43"/>
          <p:cNvSpPr txBox="1"/>
          <p:nvPr/>
        </p:nvSpPr>
        <p:spPr>
          <a:xfrm>
            <a:off x="2788920" y="2670048"/>
            <a:ext cx="1554480" cy="658368"/>
          </a:xfrm>
          <a:prstGeom prst="rect"/>
          <a:noFill/>
        </p:spPr>
        <p:txBody>
          <a:bodyPr anchor="ctr" bIns="0" lIns="0" rIns="0" tIns="0" wrap="square">
            <a:spAutoFit/>
          </a:bodyPr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1" sz="1400" i="0">
                <a:solidFill>
                  <a:srgbClr val="C8962E"/>
                </a:solidFill>
                <a:latin typeface="Segoe UI Semibold"/>
              </a:rPr>
              <a:t>LINT</a:t>
            </a:r>
          </a:p>
        </p:txBody>
      </p:sp>
      <p:sp>
        <p:nvSpPr>
          <p:cNvPr id="1048935" name="TextBox 44"/>
          <p:cNvSpPr txBox="1"/>
          <p:nvPr/>
        </p:nvSpPr>
        <p:spPr>
          <a:xfrm>
            <a:off x="4572000" y="2688336"/>
            <a:ext cx="6949440" cy="32004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1" sz="1500" i="0">
                <a:solidFill>
                  <a:srgbClr val="14181F"/>
                </a:solidFill>
                <a:latin typeface="Segoe UI Semibold"/>
              </a:rPr>
              <a:t>Phase 1 · Local Linter</a:t>
            </a:r>
          </a:p>
        </p:txBody>
      </p:sp>
      <p:sp>
        <p:nvSpPr>
          <p:cNvPr id="1048936" name="TextBox 45"/>
          <p:cNvSpPr txBox="1"/>
          <p:nvPr/>
        </p:nvSpPr>
        <p:spPr>
          <a:xfrm>
            <a:off x="4572000" y="3017520"/>
            <a:ext cx="6949440" cy="36576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b="0" sz="1200" i="0">
                <a:solidFill>
                  <a:srgbClr val="3A4049"/>
                </a:solidFill>
                <a:latin typeface="Segoe UI"/>
              </a:rPr>
              <a:t>Zero-cost deterministic casing cleaner &amp; capitalization compiler enforced locally.</a:t>
            </a:r>
          </a:p>
        </p:txBody>
      </p:sp>
      <p:sp>
        <p:nvSpPr>
          <p:cNvPr id="1048937" name="Rounded Rectangle 46"/>
          <p:cNvSpPr/>
          <p:nvPr/>
        </p:nvSpPr>
        <p:spPr>
          <a:xfrm>
            <a:off x="2788920" y="3511296"/>
            <a:ext cx="1554480" cy="658368"/>
          </a:xfrm>
          <a:prstGeom prst="roundRect">
            <a:avLst>
              <a:gd name="adj" fmla="val 8000"/>
            </a:avLst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938" name="Rectangle 47"/>
          <p:cNvSpPr/>
          <p:nvPr/>
        </p:nvSpPr>
        <p:spPr>
          <a:xfrm>
            <a:off x="2788920" y="3511296"/>
            <a:ext cx="63500" cy="658368"/>
          </a:xfrm>
          <a:prstGeom prst="rect"/>
          <a:solidFill>
            <a:srgbClr val="2D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939" name="TextBox 48"/>
          <p:cNvSpPr txBox="1"/>
          <p:nvPr/>
        </p:nvSpPr>
        <p:spPr>
          <a:xfrm>
            <a:off x="2788920" y="3511296"/>
            <a:ext cx="1554480" cy="658368"/>
          </a:xfrm>
          <a:prstGeom prst="rect"/>
          <a:noFill/>
        </p:spPr>
        <p:txBody>
          <a:bodyPr anchor="ctr" bIns="0" lIns="0" rIns="0" tIns="0" wrap="square">
            <a:spAutoFit/>
          </a:bodyPr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1" sz="1400" i="0">
                <a:solidFill>
                  <a:srgbClr val="2D5D8A"/>
                </a:solidFill>
                <a:latin typeface="Segoe UI Semibold"/>
              </a:rPr>
              <a:t>AGENT</a:t>
            </a:r>
          </a:p>
        </p:txBody>
      </p:sp>
      <p:sp>
        <p:nvSpPr>
          <p:cNvPr id="1048940" name="TextBox 49"/>
          <p:cNvSpPr txBox="1"/>
          <p:nvPr/>
        </p:nvSpPr>
        <p:spPr>
          <a:xfrm>
            <a:off x="4572000" y="3529584"/>
            <a:ext cx="6949440" cy="32004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1" sz="1500" i="0">
                <a:solidFill>
                  <a:srgbClr val="14181F"/>
                </a:solidFill>
                <a:latin typeface="Segoe UI Semibold"/>
              </a:rPr>
              <a:t>Phase 2 · AI Refactoring</a:t>
            </a:r>
          </a:p>
        </p:txBody>
      </p:sp>
      <p:sp>
        <p:nvSpPr>
          <p:cNvPr id="1048941" name="TextBox 50"/>
          <p:cNvSpPr txBox="1"/>
          <p:nvPr/>
        </p:nvSpPr>
        <p:spPr>
          <a:xfrm>
            <a:off x="4572000" y="3858768"/>
            <a:ext cx="6949440" cy="36576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b="0" sz="1200" i="0">
                <a:solidFill>
                  <a:srgbClr val="3A4049"/>
                </a:solidFill>
                <a:latin typeface="Segoe UI"/>
              </a:rPr>
              <a:t>Gemini with few-shot prompts converts comma-joins and extracts subqueries into CTEs.</a:t>
            </a:r>
          </a:p>
        </p:txBody>
      </p:sp>
      <p:sp>
        <p:nvSpPr>
          <p:cNvPr id="1048942" name="Rounded Rectangle 51"/>
          <p:cNvSpPr/>
          <p:nvPr/>
        </p:nvSpPr>
        <p:spPr>
          <a:xfrm>
            <a:off x="2788920" y="4352544"/>
            <a:ext cx="1554480" cy="658368"/>
          </a:xfrm>
          <a:prstGeom prst="roundRect">
            <a:avLst>
              <a:gd name="adj" fmla="val 8000"/>
            </a:avLst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943" name="Rectangle 52"/>
          <p:cNvSpPr/>
          <p:nvPr/>
        </p:nvSpPr>
        <p:spPr>
          <a:xfrm>
            <a:off x="2788920" y="4352544"/>
            <a:ext cx="63500" cy="658368"/>
          </a:xfrm>
          <a:prstGeom prst="rect"/>
          <a:solidFill>
            <a:srgbClr val="7A3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944" name="TextBox 53"/>
          <p:cNvSpPr txBox="1"/>
          <p:nvPr/>
        </p:nvSpPr>
        <p:spPr>
          <a:xfrm>
            <a:off x="2788920" y="4352544"/>
            <a:ext cx="1554480" cy="658368"/>
          </a:xfrm>
          <a:prstGeom prst="rect"/>
          <a:noFill/>
        </p:spPr>
        <p:txBody>
          <a:bodyPr anchor="ctr" bIns="0" lIns="0" rIns="0" tIns="0" wrap="square">
            <a:spAutoFit/>
          </a:bodyPr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1" sz="1400" i="0">
                <a:solidFill>
                  <a:srgbClr val="7A3E6B"/>
                </a:solidFill>
                <a:latin typeface="Segoe UI Semibold"/>
              </a:rPr>
              <a:t>LOOP</a:t>
            </a:r>
          </a:p>
        </p:txBody>
      </p:sp>
      <p:sp>
        <p:nvSpPr>
          <p:cNvPr id="1048945" name="TextBox 54"/>
          <p:cNvSpPr txBox="1"/>
          <p:nvPr/>
        </p:nvSpPr>
        <p:spPr>
          <a:xfrm>
            <a:off x="4572000" y="4370831"/>
            <a:ext cx="6949440" cy="32004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1" sz="1500" i="0">
                <a:solidFill>
                  <a:srgbClr val="14181F"/>
                </a:solidFill>
                <a:latin typeface="Segoe UI Semibold"/>
              </a:rPr>
              <a:t>Validation &amp; Critic</a:t>
            </a:r>
          </a:p>
        </p:txBody>
      </p:sp>
      <p:sp>
        <p:nvSpPr>
          <p:cNvPr id="1048946" name="TextBox 55"/>
          <p:cNvSpPr txBox="1"/>
          <p:nvPr/>
        </p:nvSpPr>
        <p:spPr>
          <a:xfrm>
            <a:off x="4572000" y="4700016"/>
            <a:ext cx="6949440" cy="36576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b="0" sz="1200" i="0">
                <a:solidFill>
                  <a:srgbClr val="3A4049"/>
                </a:solidFill>
                <a:latin typeface="Segoe UI"/>
              </a:rPr>
              <a:t>Compares LLM output to sqlglot rules and runs the self-correcting logic loop.</a:t>
            </a:r>
          </a:p>
        </p:txBody>
      </p:sp>
      <p:sp>
        <p:nvSpPr>
          <p:cNvPr id="1048947" name="Rounded Rectangle 56"/>
          <p:cNvSpPr/>
          <p:nvPr/>
        </p:nvSpPr>
        <p:spPr>
          <a:xfrm>
            <a:off x="2788920" y="5193792"/>
            <a:ext cx="1554480" cy="658368"/>
          </a:xfrm>
          <a:prstGeom prst="roundRect">
            <a:avLst>
              <a:gd name="adj" fmla="val 8000"/>
            </a:avLst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948" name="Rectangle 57"/>
          <p:cNvSpPr/>
          <p:nvPr/>
        </p:nvSpPr>
        <p:spPr>
          <a:xfrm>
            <a:off x="2788920" y="5193792"/>
            <a:ext cx="63500" cy="658368"/>
          </a:xfrm>
          <a:prstGeom prst="rect"/>
          <a:solidFill>
            <a:srgbClr val="108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949" name="TextBox 58"/>
          <p:cNvSpPr txBox="1"/>
          <p:nvPr/>
        </p:nvSpPr>
        <p:spPr>
          <a:xfrm>
            <a:off x="2788920" y="5193792"/>
            <a:ext cx="1554480" cy="658368"/>
          </a:xfrm>
          <a:prstGeom prst="rect"/>
          <a:noFill/>
        </p:spPr>
        <p:txBody>
          <a:bodyPr anchor="ctr" bIns="0" lIns="0" rIns="0" tIns="0" wrap="square">
            <a:spAutoFit/>
          </a:bodyPr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1" sz="1400" i="0">
                <a:solidFill>
                  <a:srgbClr val="108A5C"/>
                </a:solidFill>
                <a:latin typeface="Segoe UI Semibold"/>
              </a:rPr>
              <a:t>DISP</a:t>
            </a:r>
          </a:p>
        </p:txBody>
      </p:sp>
      <p:sp>
        <p:nvSpPr>
          <p:cNvPr id="1048950" name="TextBox 59"/>
          <p:cNvSpPr txBox="1"/>
          <p:nvPr/>
        </p:nvSpPr>
        <p:spPr>
          <a:xfrm>
            <a:off x="4572000" y="5212079"/>
            <a:ext cx="6949440" cy="32004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1" sz="1500" i="0">
                <a:solidFill>
                  <a:srgbClr val="14181F"/>
                </a:solidFill>
                <a:latin typeface="Segoe UI Semibold"/>
              </a:rPr>
              <a:t>Interface &amp; Download</a:t>
            </a:r>
          </a:p>
        </p:txBody>
      </p:sp>
      <p:sp>
        <p:nvSpPr>
          <p:cNvPr id="1048951" name="TextBox 60"/>
          <p:cNvSpPr txBox="1"/>
          <p:nvPr/>
        </p:nvSpPr>
        <p:spPr>
          <a:xfrm>
            <a:off x="4572000" y="5541264"/>
            <a:ext cx="6949440" cy="36576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b="0" sz="1200" i="0">
                <a:solidFill>
                  <a:srgbClr val="3A4049"/>
                </a:solidFill>
                <a:latin typeface="Segoe UI"/>
              </a:rPr>
              <a:t>Dual Streamlit/CLI interfaces, in-memory uploads, diff rendering &amp; downloads.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4" name=""/>
        <p:cNvGrpSpPr/>
        <p:nvPr/>
      </p:nvGrpSpPr>
      <p:grpSpPr>
        <a:xfrm/>
      </p:grpSpPr>
      <p:sp>
        <p:nvSpPr>
          <p:cNvPr id="1048952" name="Rectangle 1"/>
          <p:cNvSpPr/>
          <p:nvPr/>
        </p:nvSpPr>
        <p:spPr>
          <a:xfrm>
            <a:off x="0" y="0"/>
            <a:ext cx="12191695" cy="6858000"/>
          </a:xfrm>
          <a:prstGeom prst="rect"/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953" name="Rectangle 2"/>
          <p:cNvSpPr/>
          <p:nvPr/>
        </p:nvSpPr>
        <p:spPr>
          <a:xfrm>
            <a:off x="0" y="0"/>
            <a:ext cx="2331720" cy="6858000"/>
          </a:xfrm>
          <a:prstGeom prst="rect"/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954" name="Rectangle 3"/>
          <p:cNvSpPr/>
          <p:nvPr/>
        </p:nvSpPr>
        <p:spPr>
          <a:xfrm>
            <a:off x="2293620" y="0"/>
            <a:ext cx="38100" cy="6858000"/>
          </a:xfrm>
          <a:prstGeom prst="rect"/>
          <a:solidFill>
            <a:srgbClr val="E25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955" name="TextBox 4"/>
          <p:cNvSpPr txBox="1"/>
          <p:nvPr/>
        </p:nvSpPr>
        <p:spPr>
          <a:xfrm>
            <a:off x="365760" y="365760"/>
            <a:ext cx="1828800" cy="36576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1" sz="2000" i="0">
                <a:solidFill>
                  <a:srgbClr val="E2563B"/>
                </a:solidFill>
                <a:latin typeface="Georgia"/>
              </a:rPr>
              <a:t>&lt;/&gt;</a:t>
            </a:r>
          </a:p>
        </p:txBody>
      </p:sp>
      <p:sp>
        <p:nvSpPr>
          <p:cNvPr id="1048956" name="TextBox 5"/>
          <p:cNvSpPr txBox="1"/>
          <p:nvPr/>
        </p:nvSpPr>
        <p:spPr>
          <a:xfrm>
            <a:off x="365760" y="804672"/>
            <a:ext cx="1828800" cy="82296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b="1" sz="1200" i="0">
                <a:solidFill>
                  <a:srgbClr val="F4F1EA"/>
                </a:solidFill>
                <a:latin typeface="Segoe UI Semibold"/>
              </a:rPr>
              <a:t>SQL Query Linter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b="0" sz="1200" i="0">
                <a:solidFill>
                  <a:srgbClr val="848074"/>
                </a:solidFill>
                <a:latin typeface="Segoe UI"/>
              </a:rPr>
              <a:t>&amp; Style Fixer</a:t>
            </a:r>
          </a:p>
        </p:txBody>
      </p:sp>
      <p:sp>
        <p:nvSpPr>
          <p:cNvPr id="1048957" name="Rectangle 6"/>
          <p:cNvSpPr/>
          <p:nvPr/>
        </p:nvSpPr>
        <p:spPr>
          <a:xfrm>
            <a:off x="365760" y="1664208"/>
            <a:ext cx="914400" cy="25400"/>
          </a:xfrm>
          <a:prstGeom prst="rect"/>
          <a:solidFill>
            <a:srgbClr val="E25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958" name="TextBox 7"/>
          <p:cNvSpPr txBox="1"/>
          <p:nvPr/>
        </p:nvSpPr>
        <p:spPr>
          <a:xfrm>
            <a:off x="365760" y="1920240"/>
            <a:ext cx="365760" cy="27432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0" sz="1000" i="0">
                <a:solidFill>
                  <a:srgbClr val="6B6F78"/>
                </a:solidFill>
                <a:latin typeface="Consolas"/>
              </a:rPr>
              <a:t>01</a:t>
            </a:r>
          </a:p>
        </p:txBody>
      </p:sp>
      <p:sp>
        <p:nvSpPr>
          <p:cNvPr id="1048959" name="TextBox 8"/>
          <p:cNvSpPr txBox="1"/>
          <p:nvPr/>
        </p:nvSpPr>
        <p:spPr>
          <a:xfrm>
            <a:off x="804672" y="1920240"/>
            <a:ext cx="1481328" cy="27432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0" sz="1100" i="0">
                <a:solidFill>
                  <a:srgbClr val="9A9DA4"/>
                </a:solidFill>
                <a:latin typeface="Segoe UI"/>
              </a:rPr>
              <a:t>Objective</a:t>
            </a:r>
          </a:p>
        </p:txBody>
      </p:sp>
      <p:sp>
        <p:nvSpPr>
          <p:cNvPr id="1048960" name="TextBox 9"/>
          <p:cNvSpPr txBox="1"/>
          <p:nvPr/>
        </p:nvSpPr>
        <p:spPr>
          <a:xfrm>
            <a:off x="365760" y="2272284"/>
            <a:ext cx="365760" cy="27432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0" sz="1000" i="0">
                <a:solidFill>
                  <a:srgbClr val="6B6F78"/>
                </a:solidFill>
                <a:latin typeface="Consolas"/>
              </a:rPr>
              <a:t>02</a:t>
            </a:r>
          </a:p>
        </p:txBody>
      </p:sp>
      <p:sp>
        <p:nvSpPr>
          <p:cNvPr id="1048961" name="TextBox 10"/>
          <p:cNvSpPr txBox="1"/>
          <p:nvPr/>
        </p:nvSpPr>
        <p:spPr>
          <a:xfrm>
            <a:off x="804672" y="2272284"/>
            <a:ext cx="1481328" cy="27432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0" sz="1100" i="0">
                <a:solidFill>
                  <a:srgbClr val="9A9DA4"/>
                </a:solidFill>
                <a:latin typeface="Segoe UI"/>
              </a:rPr>
              <a:t>Problem</a:t>
            </a:r>
          </a:p>
        </p:txBody>
      </p:sp>
      <p:sp>
        <p:nvSpPr>
          <p:cNvPr id="1048962" name="TextBox 11"/>
          <p:cNvSpPr txBox="1"/>
          <p:nvPr/>
        </p:nvSpPr>
        <p:spPr>
          <a:xfrm>
            <a:off x="365760" y="2624328"/>
            <a:ext cx="365760" cy="27432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0" sz="1000" i="0">
                <a:solidFill>
                  <a:srgbClr val="6B6F78"/>
                </a:solidFill>
                <a:latin typeface="Consolas"/>
              </a:rPr>
              <a:t>03</a:t>
            </a:r>
          </a:p>
        </p:txBody>
      </p:sp>
      <p:sp>
        <p:nvSpPr>
          <p:cNvPr id="1048963" name="TextBox 12"/>
          <p:cNvSpPr txBox="1"/>
          <p:nvPr/>
        </p:nvSpPr>
        <p:spPr>
          <a:xfrm>
            <a:off x="804672" y="2624328"/>
            <a:ext cx="1481328" cy="27432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0" sz="1100" i="0">
                <a:solidFill>
                  <a:srgbClr val="9A9DA4"/>
                </a:solidFill>
                <a:latin typeface="Segoe UI"/>
              </a:rPr>
              <a:t>Approach</a:t>
            </a:r>
          </a:p>
        </p:txBody>
      </p:sp>
      <p:sp>
        <p:nvSpPr>
          <p:cNvPr id="1048964" name="TextBox 13"/>
          <p:cNvSpPr txBox="1"/>
          <p:nvPr/>
        </p:nvSpPr>
        <p:spPr>
          <a:xfrm>
            <a:off x="365760" y="2976372"/>
            <a:ext cx="365760" cy="27432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0" sz="1000" i="0">
                <a:solidFill>
                  <a:srgbClr val="6B6F78"/>
                </a:solidFill>
                <a:latin typeface="Consolas"/>
              </a:rPr>
              <a:t>04</a:t>
            </a:r>
          </a:p>
        </p:txBody>
      </p:sp>
      <p:sp>
        <p:nvSpPr>
          <p:cNvPr id="1048965" name="TextBox 14"/>
          <p:cNvSpPr txBox="1"/>
          <p:nvPr/>
        </p:nvSpPr>
        <p:spPr>
          <a:xfrm>
            <a:off x="804672" y="2976372"/>
            <a:ext cx="1481328" cy="27432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0" sz="1100" i="0">
                <a:solidFill>
                  <a:srgbClr val="9A9DA4"/>
                </a:solidFill>
                <a:latin typeface="Segoe UI"/>
              </a:rPr>
              <a:t>Tech Stack</a:t>
            </a:r>
          </a:p>
        </p:txBody>
      </p:sp>
      <p:sp>
        <p:nvSpPr>
          <p:cNvPr id="1048966" name="TextBox 15"/>
          <p:cNvSpPr txBox="1"/>
          <p:nvPr/>
        </p:nvSpPr>
        <p:spPr>
          <a:xfrm>
            <a:off x="365760" y="3328415"/>
            <a:ext cx="365760" cy="27432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0" sz="1000" i="0">
                <a:solidFill>
                  <a:srgbClr val="6B6F78"/>
                </a:solidFill>
                <a:latin typeface="Consolas"/>
              </a:rPr>
              <a:t>05</a:t>
            </a:r>
          </a:p>
        </p:txBody>
      </p:sp>
      <p:sp>
        <p:nvSpPr>
          <p:cNvPr id="1048967" name="TextBox 16"/>
          <p:cNvSpPr txBox="1"/>
          <p:nvPr/>
        </p:nvSpPr>
        <p:spPr>
          <a:xfrm>
            <a:off x="804672" y="3328415"/>
            <a:ext cx="1481328" cy="27432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0" sz="1100" i="0">
                <a:solidFill>
                  <a:srgbClr val="9A9DA4"/>
                </a:solidFill>
                <a:latin typeface="Segoe UI"/>
              </a:rPr>
              <a:t>Architecture</a:t>
            </a:r>
          </a:p>
        </p:txBody>
      </p:sp>
      <p:sp>
        <p:nvSpPr>
          <p:cNvPr id="1048968" name="TextBox 17"/>
          <p:cNvSpPr txBox="1"/>
          <p:nvPr/>
        </p:nvSpPr>
        <p:spPr>
          <a:xfrm>
            <a:off x="365760" y="3680459"/>
            <a:ext cx="365760" cy="27432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0" sz="1000" i="0">
                <a:solidFill>
                  <a:srgbClr val="6B6F78"/>
                </a:solidFill>
                <a:latin typeface="Consolas"/>
              </a:rPr>
              <a:t>06</a:t>
            </a:r>
          </a:p>
        </p:txBody>
      </p:sp>
      <p:sp>
        <p:nvSpPr>
          <p:cNvPr id="1048969" name="TextBox 18"/>
          <p:cNvSpPr txBox="1"/>
          <p:nvPr/>
        </p:nvSpPr>
        <p:spPr>
          <a:xfrm>
            <a:off x="804672" y="3680459"/>
            <a:ext cx="1481328" cy="27432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0" sz="1100" i="0">
                <a:solidFill>
                  <a:srgbClr val="9A9DA4"/>
                </a:solidFill>
                <a:latin typeface="Segoe UI"/>
              </a:rPr>
              <a:t>Modules</a:t>
            </a:r>
          </a:p>
        </p:txBody>
      </p:sp>
      <p:sp>
        <p:nvSpPr>
          <p:cNvPr id="1048970" name="Rectangle 19"/>
          <p:cNvSpPr/>
          <p:nvPr/>
        </p:nvSpPr>
        <p:spPr>
          <a:xfrm>
            <a:off x="0" y="4005071"/>
            <a:ext cx="73152" cy="310896"/>
          </a:xfrm>
          <a:prstGeom prst="rect"/>
          <a:solidFill>
            <a:srgbClr val="E25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971" name="TextBox 20"/>
          <p:cNvSpPr txBox="1"/>
          <p:nvPr/>
        </p:nvSpPr>
        <p:spPr>
          <a:xfrm>
            <a:off x="365760" y="4032503"/>
            <a:ext cx="365760" cy="27432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1" sz="1000" i="0">
                <a:solidFill>
                  <a:srgbClr val="E2563B"/>
                </a:solidFill>
                <a:latin typeface="Consolas"/>
              </a:rPr>
              <a:t>07</a:t>
            </a:r>
          </a:p>
        </p:txBody>
      </p:sp>
      <p:sp>
        <p:nvSpPr>
          <p:cNvPr id="1048972" name="TextBox 21"/>
          <p:cNvSpPr txBox="1"/>
          <p:nvPr/>
        </p:nvSpPr>
        <p:spPr>
          <a:xfrm>
            <a:off x="804672" y="4032503"/>
            <a:ext cx="1481328" cy="27432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1" sz="1100" i="0">
                <a:solidFill>
                  <a:srgbClr val="F4F1EA"/>
                </a:solidFill>
                <a:latin typeface="Segoe UI Semibold"/>
              </a:rPr>
              <a:t>Before / After</a:t>
            </a:r>
          </a:p>
        </p:txBody>
      </p:sp>
      <p:sp>
        <p:nvSpPr>
          <p:cNvPr id="1048973" name="TextBox 22"/>
          <p:cNvSpPr txBox="1"/>
          <p:nvPr/>
        </p:nvSpPr>
        <p:spPr>
          <a:xfrm>
            <a:off x="365760" y="4384547"/>
            <a:ext cx="365760" cy="27432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0" sz="1000" i="0">
                <a:solidFill>
                  <a:srgbClr val="6B6F78"/>
                </a:solidFill>
                <a:latin typeface="Consolas"/>
              </a:rPr>
              <a:t>08</a:t>
            </a:r>
          </a:p>
        </p:txBody>
      </p:sp>
      <p:sp>
        <p:nvSpPr>
          <p:cNvPr id="1048974" name="TextBox 23"/>
          <p:cNvSpPr txBox="1"/>
          <p:nvPr/>
        </p:nvSpPr>
        <p:spPr>
          <a:xfrm>
            <a:off x="804672" y="4384547"/>
            <a:ext cx="1481328" cy="27432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0" sz="1100" i="0">
                <a:solidFill>
                  <a:srgbClr val="9A9DA4"/>
                </a:solidFill>
                <a:latin typeface="Segoe UI"/>
              </a:rPr>
              <a:t>Validation</a:t>
            </a:r>
          </a:p>
        </p:txBody>
      </p:sp>
      <p:sp>
        <p:nvSpPr>
          <p:cNvPr id="1048975" name="TextBox 24"/>
          <p:cNvSpPr txBox="1"/>
          <p:nvPr/>
        </p:nvSpPr>
        <p:spPr>
          <a:xfrm>
            <a:off x="365760" y="4736591"/>
            <a:ext cx="365760" cy="27432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0" sz="1000" i="0">
                <a:solidFill>
                  <a:srgbClr val="6B6F78"/>
                </a:solidFill>
                <a:latin typeface="Consolas"/>
              </a:rPr>
              <a:t>09</a:t>
            </a:r>
          </a:p>
        </p:txBody>
      </p:sp>
      <p:sp>
        <p:nvSpPr>
          <p:cNvPr id="1048976" name="TextBox 25"/>
          <p:cNvSpPr txBox="1"/>
          <p:nvPr/>
        </p:nvSpPr>
        <p:spPr>
          <a:xfrm>
            <a:off x="804672" y="4736591"/>
            <a:ext cx="1481328" cy="27432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0" sz="1100" i="0">
                <a:solidFill>
                  <a:srgbClr val="9A9DA4"/>
                </a:solidFill>
                <a:latin typeface="Segoe UI"/>
              </a:rPr>
              <a:t>Advantages</a:t>
            </a:r>
          </a:p>
        </p:txBody>
      </p:sp>
      <p:sp>
        <p:nvSpPr>
          <p:cNvPr id="1048977" name="TextBox 26"/>
          <p:cNvSpPr txBox="1"/>
          <p:nvPr/>
        </p:nvSpPr>
        <p:spPr>
          <a:xfrm>
            <a:off x="365760" y="5088635"/>
            <a:ext cx="365760" cy="27432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0" sz="1000" i="0">
                <a:solidFill>
                  <a:srgbClr val="6B6F78"/>
                </a:solidFill>
                <a:latin typeface="Consolas"/>
              </a:rPr>
              <a:t>10</a:t>
            </a:r>
          </a:p>
        </p:txBody>
      </p:sp>
      <p:sp>
        <p:nvSpPr>
          <p:cNvPr id="1048978" name="TextBox 27"/>
          <p:cNvSpPr txBox="1"/>
          <p:nvPr/>
        </p:nvSpPr>
        <p:spPr>
          <a:xfrm>
            <a:off x="804672" y="5088635"/>
            <a:ext cx="1481328" cy="27432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0" sz="1100" i="0">
                <a:solidFill>
                  <a:srgbClr val="9A9DA4"/>
                </a:solidFill>
                <a:latin typeface="Segoe UI"/>
              </a:rPr>
              <a:t>Results</a:t>
            </a:r>
          </a:p>
        </p:txBody>
      </p:sp>
      <p:sp>
        <p:nvSpPr>
          <p:cNvPr id="1048979" name="TextBox 28"/>
          <p:cNvSpPr txBox="1"/>
          <p:nvPr/>
        </p:nvSpPr>
        <p:spPr>
          <a:xfrm>
            <a:off x="365760" y="5440679"/>
            <a:ext cx="365760" cy="27432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0" sz="1000" i="0">
                <a:solidFill>
                  <a:srgbClr val="6B6F78"/>
                </a:solidFill>
                <a:latin typeface="Consolas"/>
              </a:rPr>
              <a:t>11</a:t>
            </a:r>
          </a:p>
        </p:txBody>
      </p:sp>
      <p:sp>
        <p:nvSpPr>
          <p:cNvPr id="1048980" name="TextBox 29"/>
          <p:cNvSpPr txBox="1"/>
          <p:nvPr/>
        </p:nvSpPr>
        <p:spPr>
          <a:xfrm>
            <a:off x="804672" y="5440679"/>
            <a:ext cx="1481328" cy="27432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0" sz="1100" i="0">
                <a:solidFill>
                  <a:srgbClr val="9A9DA4"/>
                </a:solidFill>
                <a:latin typeface="Segoe UI"/>
              </a:rPr>
              <a:t>Future Scope</a:t>
            </a:r>
          </a:p>
        </p:txBody>
      </p:sp>
      <p:sp>
        <p:nvSpPr>
          <p:cNvPr id="1048981" name="TextBox 30"/>
          <p:cNvSpPr txBox="1"/>
          <p:nvPr/>
        </p:nvSpPr>
        <p:spPr>
          <a:xfrm>
            <a:off x="365760" y="5792723"/>
            <a:ext cx="365760" cy="27432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0" sz="1000" i="0">
                <a:solidFill>
                  <a:srgbClr val="6B6F78"/>
                </a:solidFill>
                <a:latin typeface="Consolas"/>
              </a:rPr>
              <a:t>12</a:t>
            </a:r>
          </a:p>
        </p:txBody>
      </p:sp>
      <p:sp>
        <p:nvSpPr>
          <p:cNvPr id="1048982" name="TextBox 31"/>
          <p:cNvSpPr txBox="1"/>
          <p:nvPr/>
        </p:nvSpPr>
        <p:spPr>
          <a:xfrm>
            <a:off x="804672" y="5792723"/>
            <a:ext cx="1481328" cy="27432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0" sz="1100" i="0">
                <a:solidFill>
                  <a:srgbClr val="9A9DA4"/>
                </a:solidFill>
                <a:latin typeface="Segoe UI"/>
              </a:rPr>
              <a:t>Conclusion</a:t>
            </a:r>
          </a:p>
        </p:txBody>
      </p:sp>
      <p:sp>
        <p:nvSpPr>
          <p:cNvPr id="1048983" name="TextBox 32"/>
          <p:cNvSpPr txBox="1"/>
          <p:nvPr/>
        </p:nvSpPr>
        <p:spPr>
          <a:xfrm>
            <a:off x="365760" y="6400800"/>
            <a:ext cx="1920240" cy="27432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0" sz="850" i="0">
                <a:solidFill>
                  <a:srgbClr val="848074"/>
                </a:solidFill>
                <a:latin typeface="Segoe UI"/>
              </a:rPr>
              <a:t>DIET · TEAM 20</a:t>
            </a:r>
          </a:p>
        </p:txBody>
      </p:sp>
      <p:sp>
        <p:nvSpPr>
          <p:cNvPr id="1048984" name="TextBox 33"/>
          <p:cNvSpPr txBox="1"/>
          <p:nvPr/>
        </p:nvSpPr>
        <p:spPr>
          <a:xfrm>
            <a:off x="2788920" y="502920"/>
            <a:ext cx="8229600" cy="27432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1" sz="1200" i="0">
                <a:solidFill>
                  <a:srgbClr val="E2563B"/>
                </a:solidFill>
                <a:latin typeface="Segoe UI Semibold"/>
              </a:rPr>
              <a:t>IN ACTION</a:t>
            </a:r>
          </a:p>
        </p:txBody>
      </p:sp>
      <p:sp>
        <p:nvSpPr>
          <p:cNvPr id="1048985" name="TextBox 34"/>
          <p:cNvSpPr txBox="1"/>
          <p:nvPr/>
        </p:nvSpPr>
        <p:spPr>
          <a:xfrm>
            <a:off x="2788920" y="841248"/>
            <a:ext cx="8961120" cy="86868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1" sz="3400" i="0">
                <a:solidFill>
                  <a:srgbClr val="14181F"/>
                </a:solidFill>
                <a:latin typeface="Georgia"/>
              </a:rPr>
              <a:t>Before  /  After</a:t>
            </a:r>
          </a:p>
        </p:txBody>
      </p:sp>
      <p:sp>
        <p:nvSpPr>
          <p:cNvPr id="1048986" name="Rectangle 35"/>
          <p:cNvSpPr/>
          <p:nvPr/>
        </p:nvSpPr>
        <p:spPr>
          <a:xfrm>
            <a:off x="2808920" y="1536192"/>
            <a:ext cx="685800" cy="38100"/>
          </a:xfrm>
          <a:prstGeom prst="rect"/>
          <a:solidFill>
            <a:srgbClr val="E25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987" name="Rounded Rectangle 36"/>
          <p:cNvSpPr/>
          <p:nvPr/>
        </p:nvSpPr>
        <p:spPr>
          <a:xfrm>
            <a:off x="2788920" y="1874519"/>
            <a:ext cx="4251960" cy="4114800"/>
          </a:xfrm>
          <a:prstGeom prst="roundRect">
            <a:avLst>
              <a:gd name="adj" fmla="val 4000"/>
            </a:avLst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988" name="Rectangle 37"/>
          <p:cNvSpPr/>
          <p:nvPr/>
        </p:nvSpPr>
        <p:spPr>
          <a:xfrm>
            <a:off x="2788920" y="1874519"/>
            <a:ext cx="4251960" cy="548640"/>
          </a:xfrm>
          <a:prstGeom prst="rect"/>
          <a:solidFill>
            <a:srgbClr val="E25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989" name="TextBox 38"/>
          <p:cNvSpPr txBox="1"/>
          <p:nvPr/>
        </p:nvSpPr>
        <p:spPr>
          <a:xfrm>
            <a:off x="3063240" y="1874519"/>
            <a:ext cx="3703320" cy="548640"/>
          </a:xfrm>
          <a:prstGeom prst="rect"/>
          <a:noFill/>
        </p:spPr>
        <p:txBody>
          <a:bodyPr anchor="ctr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1" sz="1300" i="0">
                <a:solidFill>
                  <a:srgbClr val="F4F1EA"/>
                </a:solidFill>
                <a:latin typeface="Segoe UI Semibold"/>
              </a:rPr>
              <a:t>✕  RAW INPUT</a:t>
            </a:r>
          </a:p>
        </p:txBody>
      </p:sp>
      <p:sp>
        <p:nvSpPr>
          <p:cNvPr id="1048990" name="TextBox 39"/>
          <p:cNvSpPr txBox="1"/>
          <p:nvPr/>
        </p:nvSpPr>
        <p:spPr>
          <a:xfrm>
            <a:off x="3063240" y="2606040"/>
            <a:ext cx="3703320" cy="32004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400"/>
              </a:spcAft>
            </a:pPr>
            <a:r>
              <a:rPr b="0" sz="1250" i="0">
                <a:solidFill>
                  <a:srgbClr val="C9CCD1"/>
                </a:solidFill>
                <a:latin typeface="Consolas"/>
              </a:rPr>
              <a:t>select userId,OrderTotal</a:t>
            </a: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400"/>
              </a:spcAft>
            </a:pPr>
            <a:r>
              <a:rPr b="0" sz="1250" i="0">
                <a:solidFill>
                  <a:srgbClr val="C9CCD1"/>
                </a:solidFill>
                <a:latin typeface="Consolas"/>
              </a:rPr>
              <a:t>from Orders,Users</a:t>
            </a: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400"/>
              </a:spcAft>
            </a:pPr>
            <a:r>
              <a:rPr b="0" sz="1250" i="0">
                <a:solidFill>
                  <a:srgbClr val="C9CCD1"/>
                </a:solidFill>
                <a:latin typeface="Consolas"/>
              </a:rPr>
              <a:t>where Orders.uId=Users.id</a:t>
            </a: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400"/>
              </a:spcAft>
            </a:pPr>
            <a:r>
              <a:rPr b="0" sz="1250" i="0">
                <a:solidFill>
                  <a:srgbClr val="C9CCD1"/>
                </a:solidFill>
                <a:latin typeface="Consolas"/>
              </a:rPr>
              <a:t>and OrderTotal&gt;100</a:t>
            </a: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400"/>
              </a:spcAft>
            </a:pPr>
            <a:r>
              <a:rPr b="0" sz="800" i="0">
                <a:solidFill>
                  <a:srgbClr val="C9CCD1"/>
                </a:solidFill>
                <a:latin typeface="Consolas"/>
              </a:rPr>
              <a:t/>
            </a: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400"/>
              </a:spcAft>
            </a:pPr>
            <a:r>
              <a:rPr b="1" sz="1150" i="0">
                <a:solidFill>
                  <a:srgbClr val="E2563B"/>
                </a:solidFill>
                <a:latin typeface="Segoe UI"/>
              </a:rPr>
              <a:t>✕ mixed casing</a:t>
            </a: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400"/>
              </a:spcAft>
            </a:pPr>
            <a:r>
              <a:rPr b="1" sz="1150" i="0">
                <a:solidFill>
                  <a:srgbClr val="E2563B"/>
                </a:solidFill>
                <a:latin typeface="Segoe UI"/>
              </a:rPr>
              <a:t>✕ implicit comma-join</a:t>
            </a: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400"/>
              </a:spcAft>
            </a:pPr>
            <a:r>
              <a:rPr b="1" sz="1150" i="0">
                <a:solidFill>
                  <a:srgbClr val="E2563B"/>
                </a:solidFill>
                <a:latin typeface="Segoe UI"/>
              </a:rPr>
              <a:t>✕ no formatting</a:t>
            </a:r>
          </a:p>
        </p:txBody>
      </p:sp>
      <p:sp>
        <p:nvSpPr>
          <p:cNvPr id="1048991" name="Chevron 40"/>
          <p:cNvSpPr/>
          <p:nvPr/>
        </p:nvSpPr>
        <p:spPr>
          <a:xfrm>
            <a:off x="7086600" y="3657600"/>
            <a:ext cx="274320" cy="502920"/>
          </a:xfrm>
          <a:prstGeom prst="chevron"/>
          <a:solidFill>
            <a:srgbClr val="108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992" name="Rounded Rectangle 41"/>
          <p:cNvSpPr/>
          <p:nvPr/>
        </p:nvSpPr>
        <p:spPr>
          <a:xfrm>
            <a:off x="7498080" y="1874519"/>
            <a:ext cx="4251960" cy="4114800"/>
          </a:xfrm>
          <a:prstGeom prst="roundRect">
            <a:avLst>
              <a:gd name="adj" fmla="val 4000"/>
            </a:avLst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993" name="Rectangle 42"/>
          <p:cNvSpPr/>
          <p:nvPr/>
        </p:nvSpPr>
        <p:spPr>
          <a:xfrm>
            <a:off x="7498080" y="1874519"/>
            <a:ext cx="4251960" cy="548640"/>
          </a:xfrm>
          <a:prstGeom prst="rect"/>
          <a:solidFill>
            <a:srgbClr val="108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994" name="TextBox 43"/>
          <p:cNvSpPr txBox="1"/>
          <p:nvPr/>
        </p:nvSpPr>
        <p:spPr>
          <a:xfrm>
            <a:off x="7772400" y="1874519"/>
            <a:ext cx="3703320" cy="548640"/>
          </a:xfrm>
          <a:prstGeom prst="rect"/>
          <a:noFill/>
        </p:spPr>
        <p:txBody>
          <a:bodyPr anchor="ctr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1" sz="1300" i="0">
                <a:solidFill>
                  <a:srgbClr val="F4F1EA"/>
                </a:solidFill>
                <a:latin typeface="Segoe UI Semibold"/>
              </a:rPr>
              <a:t>✓  REFACTORED OUTPUT</a:t>
            </a:r>
          </a:p>
        </p:txBody>
      </p:sp>
      <p:sp>
        <p:nvSpPr>
          <p:cNvPr id="1048995" name="TextBox 44"/>
          <p:cNvSpPr txBox="1"/>
          <p:nvPr/>
        </p:nvSpPr>
        <p:spPr>
          <a:xfrm>
            <a:off x="7772400" y="2606040"/>
            <a:ext cx="3703320" cy="32004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400"/>
              </a:spcAft>
            </a:pPr>
            <a:r>
              <a:rPr b="1" sz="1250" i="0">
                <a:solidFill>
                  <a:srgbClr val="C8962E"/>
                </a:solidFill>
                <a:latin typeface="Consolas"/>
              </a:rPr>
              <a:t>SELECT</a:t>
            </a: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400"/>
              </a:spcAft>
            </a:pPr>
            <a:r>
              <a:rPr b="0" sz="1250" i="0">
                <a:solidFill>
                  <a:srgbClr val="C9CCD1"/>
                </a:solidFill>
                <a:latin typeface="Consolas"/>
              </a:rPr>
              <a:t>  user_id,</a:t>
            </a: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400"/>
              </a:spcAft>
            </a:pPr>
            <a:r>
              <a:rPr b="0" sz="1250" i="0">
                <a:solidFill>
                  <a:srgbClr val="C9CCD1"/>
                </a:solidFill>
                <a:latin typeface="Consolas"/>
              </a:rPr>
              <a:t>  order_total</a:t>
            </a: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400"/>
              </a:spcAft>
            </a:pPr>
            <a:r>
              <a:rPr b="1" sz="1250" i="0">
                <a:solidFill>
                  <a:srgbClr val="C8962E"/>
                </a:solidFill>
                <a:latin typeface="Consolas"/>
              </a:rPr>
              <a:t>FROM orders o</a:t>
            </a: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400"/>
              </a:spcAft>
            </a:pPr>
            <a:r>
              <a:rPr b="0" sz="1250" i="0">
                <a:solidFill>
                  <a:srgbClr val="C9CCD1"/>
                </a:solidFill>
                <a:latin typeface="Consolas"/>
              </a:rPr>
              <a:t>JOIN users u ON o.u_id = u.id</a:t>
            </a: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400"/>
              </a:spcAft>
            </a:pPr>
            <a:r>
              <a:rPr b="1" sz="1250" i="0">
                <a:solidFill>
                  <a:srgbClr val="C8962E"/>
                </a:solidFill>
                <a:latin typeface="Consolas"/>
              </a:rPr>
              <a:t>WHERE order_total &gt; 100;</a:t>
            </a: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400"/>
              </a:spcAft>
            </a:pPr>
            <a:r>
              <a:rPr b="0" sz="600" i="0">
                <a:solidFill>
                  <a:srgbClr val="C9CCD1"/>
                </a:solidFill>
                <a:latin typeface="Consolas"/>
              </a:rPr>
              <a:t/>
            </a: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400"/>
              </a:spcAft>
            </a:pPr>
            <a:r>
              <a:rPr b="1" sz="1100" i="0">
                <a:solidFill>
                  <a:srgbClr val="108A5C"/>
                </a:solidFill>
                <a:latin typeface="Segoe UI"/>
              </a:rPr>
              <a:t>✓ snake_case  ✓ explicit join  ✓ AST-valid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5" name=""/>
        <p:cNvGrpSpPr/>
        <p:nvPr/>
      </p:nvGrpSpPr>
      <p:grpSpPr>
        <a:xfrm/>
      </p:grpSpPr>
      <p:sp>
        <p:nvSpPr>
          <p:cNvPr id="1048996" name="Rectangle 1"/>
          <p:cNvSpPr/>
          <p:nvPr/>
        </p:nvSpPr>
        <p:spPr>
          <a:xfrm>
            <a:off x="0" y="0"/>
            <a:ext cx="12191695" cy="6858000"/>
          </a:xfrm>
          <a:prstGeom prst="rect"/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997" name="Rectangle 2"/>
          <p:cNvSpPr/>
          <p:nvPr/>
        </p:nvSpPr>
        <p:spPr>
          <a:xfrm>
            <a:off x="0" y="0"/>
            <a:ext cx="2331720" cy="6858000"/>
          </a:xfrm>
          <a:prstGeom prst="rect"/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998" name="Rectangle 3"/>
          <p:cNvSpPr/>
          <p:nvPr/>
        </p:nvSpPr>
        <p:spPr>
          <a:xfrm>
            <a:off x="2293620" y="0"/>
            <a:ext cx="38100" cy="6858000"/>
          </a:xfrm>
          <a:prstGeom prst="rect"/>
          <a:solidFill>
            <a:srgbClr val="7A3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999" name="TextBox 4"/>
          <p:cNvSpPr txBox="1"/>
          <p:nvPr/>
        </p:nvSpPr>
        <p:spPr>
          <a:xfrm>
            <a:off x="365760" y="365760"/>
            <a:ext cx="1828800" cy="36576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1" sz="2000" i="0">
                <a:solidFill>
                  <a:srgbClr val="7A3E6B"/>
                </a:solidFill>
                <a:latin typeface="Georgia"/>
              </a:rPr>
              <a:t>&lt;/&gt;</a:t>
            </a:r>
          </a:p>
        </p:txBody>
      </p:sp>
      <p:sp>
        <p:nvSpPr>
          <p:cNvPr id="1049000" name="TextBox 5"/>
          <p:cNvSpPr txBox="1"/>
          <p:nvPr/>
        </p:nvSpPr>
        <p:spPr>
          <a:xfrm>
            <a:off x="365760" y="804672"/>
            <a:ext cx="1828800" cy="82296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b="1" sz="1200" i="0">
                <a:solidFill>
                  <a:srgbClr val="F4F1EA"/>
                </a:solidFill>
                <a:latin typeface="Segoe UI Semibold"/>
              </a:rPr>
              <a:t>SQL Query Linter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b="0" sz="1200" i="0">
                <a:solidFill>
                  <a:srgbClr val="848074"/>
                </a:solidFill>
                <a:latin typeface="Segoe UI"/>
              </a:rPr>
              <a:t>&amp; Style Fixer</a:t>
            </a:r>
          </a:p>
        </p:txBody>
      </p:sp>
      <p:sp>
        <p:nvSpPr>
          <p:cNvPr id="1049001" name="Rectangle 6"/>
          <p:cNvSpPr/>
          <p:nvPr/>
        </p:nvSpPr>
        <p:spPr>
          <a:xfrm>
            <a:off x="365760" y="1664208"/>
            <a:ext cx="914400" cy="25400"/>
          </a:xfrm>
          <a:prstGeom prst="rect"/>
          <a:solidFill>
            <a:srgbClr val="7A3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9002" name="TextBox 7"/>
          <p:cNvSpPr txBox="1"/>
          <p:nvPr/>
        </p:nvSpPr>
        <p:spPr>
          <a:xfrm>
            <a:off x="365760" y="1920240"/>
            <a:ext cx="365760" cy="27432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0" sz="1000" i="0">
                <a:solidFill>
                  <a:srgbClr val="6B6F78"/>
                </a:solidFill>
                <a:latin typeface="Consolas"/>
              </a:rPr>
              <a:t>01</a:t>
            </a:r>
          </a:p>
        </p:txBody>
      </p:sp>
      <p:sp>
        <p:nvSpPr>
          <p:cNvPr id="1049003" name="TextBox 8"/>
          <p:cNvSpPr txBox="1"/>
          <p:nvPr/>
        </p:nvSpPr>
        <p:spPr>
          <a:xfrm>
            <a:off x="804672" y="1920240"/>
            <a:ext cx="1481328" cy="27432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0" sz="1100" i="0">
                <a:solidFill>
                  <a:srgbClr val="9A9DA4"/>
                </a:solidFill>
                <a:latin typeface="Segoe UI"/>
              </a:rPr>
              <a:t>Objective</a:t>
            </a:r>
          </a:p>
        </p:txBody>
      </p:sp>
      <p:sp>
        <p:nvSpPr>
          <p:cNvPr id="1049004" name="TextBox 9"/>
          <p:cNvSpPr txBox="1"/>
          <p:nvPr/>
        </p:nvSpPr>
        <p:spPr>
          <a:xfrm>
            <a:off x="365760" y="2272284"/>
            <a:ext cx="365760" cy="27432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0" sz="1000" i="0">
                <a:solidFill>
                  <a:srgbClr val="6B6F78"/>
                </a:solidFill>
                <a:latin typeface="Consolas"/>
              </a:rPr>
              <a:t>02</a:t>
            </a:r>
          </a:p>
        </p:txBody>
      </p:sp>
      <p:sp>
        <p:nvSpPr>
          <p:cNvPr id="1049005" name="TextBox 10"/>
          <p:cNvSpPr txBox="1"/>
          <p:nvPr/>
        </p:nvSpPr>
        <p:spPr>
          <a:xfrm>
            <a:off x="804672" y="2272284"/>
            <a:ext cx="1481328" cy="27432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0" sz="1100" i="0">
                <a:solidFill>
                  <a:srgbClr val="9A9DA4"/>
                </a:solidFill>
                <a:latin typeface="Segoe UI"/>
              </a:rPr>
              <a:t>Problem</a:t>
            </a:r>
          </a:p>
        </p:txBody>
      </p:sp>
      <p:sp>
        <p:nvSpPr>
          <p:cNvPr id="1049006" name="TextBox 11"/>
          <p:cNvSpPr txBox="1"/>
          <p:nvPr/>
        </p:nvSpPr>
        <p:spPr>
          <a:xfrm>
            <a:off x="365760" y="2624328"/>
            <a:ext cx="365760" cy="27432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0" sz="1000" i="0">
                <a:solidFill>
                  <a:srgbClr val="6B6F78"/>
                </a:solidFill>
                <a:latin typeface="Consolas"/>
              </a:rPr>
              <a:t>03</a:t>
            </a:r>
          </a:p>
        </p:txBody>
      </p:sp>
      <p:sp>
        <p:nvSpPr>
          <p:cNvPr id="1049007" name="TextBox 12"/>
          <p:cNvSpPr txBox="1"/>
          <p:nvPr/>
        </p:nvSpPr>
        <p:spPr>
          <a:xfrm>
            <a:off x="804672" y="2624328"/>
            <a:ext cx="1481328" cy="27432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0" sz="1100" i="0">
                <a:solidFill>
                  <a:srgbClr val="9A9DA4"/>
                </a:solidFill>
                <a:latin typeface="Segoe UI"/>
              </a:rPr>
              <a:t>Approach</a:t>
            </a:r>
          </a:p>
        </p:txBody>
      </p:sp>
      <p:sp>
        <p:nvSpPr>
          <p:cNvPr id="1049008" name="TextBox 13"/>
          <p:cNvSpPr txBox="1"/>
          <p:nvPr/>
        </p:nvSpPr>
        <p:spPr>
          <a:xfrm>
            <a:off x="365760" y="2976372"/>
            <a:ext cx="365760" cy="27432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0" sz="1000" i="0">
                <a:solidFill>
                  <a:srgbClr val="6B6F78"/>
                </a:solidFill>
                <a:latin typeface="Consolas"/>
              </a:rPr>
              <a:t>04</a:t>
            </a:r>
          </a:p>
        </p:txBody>
      </p:sp>
      <p:sp>
        <p:nvSpPr>
          <p:cNvPr id="1049009" name="TextBox 14"/>
          <p:cNvSpPr txBox="1"/>
          <p:nvPr/>
        </p:nvSpPr>
        <p:spPr>
          <a:xfrm>
            <a:off x="804672" y="2976372"/>
            <a:ext cx="1481328" cy="27432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0" sz="1100" i="0">
                <a:solidFill>
                  <a:srgbClr val="9A9DA4"/>
                </a:solidFill>
                <a:latin typeface="Segoe UI"/>
              </a:rPr>
              <a:t>Tech Stack</a:t>
            </a:r>
          </a:p>
        </p:txBody>
      </p:sp>
      <p:sp>
        <p:nvSpPr>
          <p:cNvPr id="1049010" name="TextBox 15"/>
          <p:cNvSpPr txBox="1"/>
          <p:nvPr/>
        </p:nvSpPr>
        <p:spPr>
          <a:xfrm>
            <a:off x="365760" y="3328415"/>
            <a:ext cx="365760" cy="27432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0" sz="1000" i="0">
                <a:solidFill>
                  <a:srgbClr val="6B6F78"/>
                </a:solidFill>
                <a:latin typeface="Consolas"/>
              </a:rPr>
              <a:t>05</a:t>
            </a:r>
          </a:p>
        </p:txBody>
      </p:sp>
      <p:sp>
        <p:nvSpPr>
          <p:cNvPr id="1049011" name="TextBox 16"/>
          <p:cNvSpPr txBox="1"/>
          <p:nvPr/>
        </p:nvSpPr>
        <p:spPr>
          <a:xfrm>
            <a:off x="804672" y="3328415"/>
            <a:ext cx="1481328" cy="27432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0" sz="1100" i="0">
                <a:solidFill>
                  <a:srgbClr val="9A9DA4"/>
                </a:solidFill>
                <a:latin typeface="Segoe UI"/>
              </a:rPr>
              <a:t>Architecture</a:t>
            </a:r>
          </a:p>
        </p:txBody>
      </p:sp>
      <p:sp>
        <p:nvSpPr>
          <p:cNvPr id="1049012" name="TextBox 17"/>
          <p:cNvSpPr txBox="1"/>
          <p:nvPr/>
        </p:nvSpPr>
        <p:spPr>
          <a:xfrm>
            <a:off x="365760" y="3680459"/>
            <a:ext cx="365760" cy="27432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0" sz="1000" i="0">
                <a:solidFill>
                  <a:srgbClr val="6B6F78"/>
                </a:solidFill>
                <a:latin typeface="Consolas"/>
              </a:rPr>
              <a:t>06</a:t>
            </a:r>
          </a:p>
        </p:txBody>
      </p:sp>
      <p:sp>
        <p:nvSpPr>
          <p:cNvPr id="1049013" name="TextBox 18"/>
          <p:cNvSpPr txBox="1"/>
          <p:nvPr/>
        </p:nvSpPr>
        <p:spPr>
          <a:xfrm>
            <a:off x="804672" y="3680459"/>
            <a:ext cx="1481328" cy="27432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0" sz="1100" i="0">
                <a:solidFill>
                  <a:srgbClr val="9A9DA4"/>
                </a:solidFill>
                <a:latin typeface="Segoe UI"/>
              </a:rPr>
              <a:t>Modules</a:t>
            </a:r>
          </a:p>
        </p:txBody>
      </p:sp>
      <p:sp>
        <p:nvSpPr>
          <p:cNvPr id="1049014" name="TextBox 19"/>
          <p:cNvSpPr txBox="1"/>
          <p:nvPr/>
        </p:nvSpPr>
        <p:spPr>
          <a:xfrm>
            <a:off x="365760" y="4032503"/>
            <a:ext cx="365760" cy="27432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0" sz="1000" i="0">
                <a:solidFill>
                  <a:srgbClr val="6B6F78"/>
                </a:solidFill>
                <a:latin typeface="Consolas"/>
              </a:rPr>
              <a:t>07</a:t>
            </a:r>
          </a:p>
        </p:txBody>
      </p:sp>
      <p:sp>
        <p:nvSpPr>
          <p:cNvPr id="1049015" name="TextBox 20"/>
          <p:cNvSpPr txBox="1"/>
          <p:nvPr/>
        </p:nvSpPr>
        <p:spPr>
          <a:xfrm>
            <a:off x="804672" y="4032503"/>
            <a:ext cx="1481328" cy="27432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0" sz="1100" i="0">
                <a:solidFill>
                  <a:srgbClr val="9A9DA4"/>
                </a:solidFill>
                <a:latin typeface="Segoe UI"/>
              </a:rPr>
              <a:t>Before / After</a:t>
            </a:r>
          </a:p>
        </p:txBody>
      </p:sp>
      <p:sp>
        <p:nvSpPr>
          <p:cNvPr id="1049016" name="Rectangle 21"/>
          <p:cNvSpPr/>
          <p:nvPr/>
        </p:nvSpPr>
        <p:spPr>
          <a:xfrm>
            <a:off x="0" y="4357115"/>
            <a:ext cx="73152" cy="310896"/>
          </a:xfrm>
          <a:prstGeom prst="rect"/>
          <a:solidFill>
            <a:srgbClr val="7A3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9017" name="TextBox 22"/>
          <p:cNvSpPr txBox="1"/>
          <p:nvPr/>
        </p:nvSpPr>
        <p:spPr>
          <a:xfrm>
            <a:off x="365760" y="4384547"/>
            <a:ext cx="365760" cy="27432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1" sz="1000" i="0">
                <a:solidFill>
                  <a:srgbClr val="7A3E6B"/>
                </a:solidFill>
                <a:latin typeface="Consolas"/>
              </a:rPr>
              <a:t>08</a:t>
            </a:r>
          </a:p>
        </p:txBody>
      </p:sp>
      <p:sp>
        <p:nvSpPr>
          <p:cNvPr id="1049018" name="TextBox 23"/>
          <p:cNvSpPr txBox="1"/>
          <p:nvPr/>
        </p:nvSpPr>
        <p:spPr>
          <a:xfrm>
            <a:off x="804672" y="4384547"/>
            <a:ext cx="1481328" cy="27432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1" sz="1100" i="0">
                <a:solidFill>
                  <a:srgbClr val="F4F1EA"/>
                </a:solidFill>
                <a:latin typeface="Segoe UI Semibold"/>
              </a:rPr>
              <a:t>Validation</a:t>
            </a:r>
          </a:p>
        </p:txBody>
      </p:sp>
      <p:sp>
        <p:nvSpPr>
          <p:cNvPr id="1049019" name="TextBox 24"/>
          <p:cNvSpPr txBox="1"/>
          <p:nvPr/>
        </p:nvSpPr>
        <p:spPr>
          <a:xfrm>
            <a:off x="365760" y="4736591"/>
            <a:ext cx="365760" cy="27432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0" sz="1000" i="0">
                <a:solidFill>
                  <a:srgbClr val="6B6F78"/>
                </a:solidFill>
                <a:latin typeface="Consolas"/>
              </a:rPr>
              <a:t>09</a:t>
            </a:r>
          </a:p>
        </p:txBody>
      </p:sp>
      <p:sp>
        <p:nvSpPr>
          <p:cNvPr id="1049020" name="TextBox 25"/>
          <p:cNvSpPr txBox="1"/>
          <p:nvPr/>
        </p:nvSpPr>
        <p:spPr>
          <a:xfrm>
            <a:off x="804672" y="4736591"/>
            <a:ext cx="1481328" cy="27432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0" sz="1100" i="0">
                <a:solidFill>
                  <a:srgbClr val="9A9DA4"/>
                </a:solidFill>
                <a:latin typeface="Segoe UI"/>
              </a:rPr>
              <a:t>Advantages</a:t>
            </a:r>
          </a:p>
        </p:txBody>
      </p:sp>
      <p:sp>
        <p:nvSpPr>
          <p:cNvPr id="1049021" name="TextBox 26"/>
          <p:cNvSpPr txBox="1"/>
          <p:nvPr/>
        </p:nvSpPr>
        <p:spPr>
          <a:xfrm>
            <a:off x="365760" y="5088635"/>
            <a:ext cx="365760" cy="27432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0" sz="1000" i="0">
                <a:solidFill>
                  <a:srgbClr val="6B6F78"/>
                </a:solidFill>
                <a:latin typeface="Consolas"/>
              </a:rPr>
              <a:t>10</a:t>
            </a:r>
          </a:p>
        </p:txBody>
      </p:sp>
      <p:sp>
        <p:nvSpPr>
          <p:cNvPr id="1049022" name="TextBox 27"/>
          <p:cNvSpPr txBox="1"/>
          <p:nvPr/>
        </p:nvSpPr>
        <p:spPr>
          <a:xfrm>
            <a:off x="804672" y="5088635"/>
            <a:ext cx="1481328" cy="27432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0" sz="1100" i="0">
                <a:solidFill>
                  <a:srgbClr val="9A9DA4"/>
                </a:solidFill>
                <a:latin typeface="Segoe UI"/>
              </a:rPr>
              <a:t>Results</a:t>
            </a:r>
          </a:p>
        </p:txBody>
      </p:sp>
      <p:sp>
        <p:nvSpPr>
          <p:cNvPr id="1049023" name="TextBox 28"/>
          <p:cNvSpPr txBox="1"/>
          <p:nvPr/>
        </p:nvSpPr>
        <p:spPr>
          <a:xfrm>
            <a:off x="365760" y="5440679"/>
            <a:ext cx="365760" cy="27432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0" sz="1000" i="0">
                <a:solidFill>
                  <a:srgbClr val="6B6F78"/>
                </a:solidFill>
                <a:latin typeface="Consolas"/>
              </a:rPr>
              <a:t>11</a:t>
            </a:r>
          </a:p>
        </p:txBody>
      </p:sp>
      <p:sp>
        <p:nvSpPr>
          <p:cNvPr id="1049024" name="TextBox 29"/>
          <p:cNvSpPr txBox="1"/>
          <p:nvPr/>
        </p:nvSpPr>
        <p:spPr>
          <a:xfrm>
            <a:off x="804672" y="5440679"/>
            <a:ext cx="1481328" cy="27432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0" sz="1100" i="0">
                <a:solidFill>
                  <a:srgbClr val="9A9DA4"/>
                </a:solidFill>
                <a:latin typeface="Segoe UI"/>
              </a:rPr>
              <a:t>Future Scope</a:t>
            </a:r>
          </a:p>
        </p:txBody>
      </p:sp>
      <p:sp>
        <p:nvSpPr>
          <p:cNvPr id="1049025" name="TextBox 30"/>
          <p:cNvSpPr txBox="1"/>
          <p:nvPr/>
        </p:nvSpPr>
        <p:spPr>
          <a:xfrm>
            <a:off x="365760" y="5792723"/>
            <a:ext cx="365760" cy="27432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0" sz="1000" i="0">
                <a:solidFill>
                  <a:srgbClr val="6B6F78"/>
                </a:solidFill>
                <a:latin typeface="Consolas"/>
              </a:rPr>
              <a:t>12</a:t>
            </a:r>
          </a:p>
        </p:txBody>
      </p:sp>
      <p:sp>
        <p:nvSpPr>
          <p:cNvPr id="1049026" name="TextBox 31"/>
          <p:cNvSpPr txBox="1"/>
          <p:nvPr/>
        </p:nvSpPr>
        <p:spPr>
          <a:xfrm>
            <a:off x="804672" y="5792723"/>
            <a:ext cx="1481328" cy="27432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0" sz="1100" i="0">
                <a:solidFill>
                  <a:srgbClr val="9A9DA4"/>
                </a:solidFill>
                <a:latin typeface="Segoe UI"/>
              </a:rPr>
              <a:t>Conclusion</a:t>
            </a:r>
          </a:p>
        </p:txBody>
      </p:sp>
      <p:sp>
        <p:nvSpPr>
          <p:cNvPr id="1049027" name="TextBox 32"/>
          <p:cNvSpPr txBox="1"/>
          <p:nvPr/>
        </p:nvSpPr>
        <p:spPr>
          <a:xfrm>
            <a:off x="365760" y="6400800"/>
            <a:ext cx="1920240" cy="27432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0" sz="850" i="0">
                <a:solidFill>
                  <a:srgbClr val="848074"/>
                </a:solidFill>
                <a:latin typeface="Segoe UI"/>
              </a:rPr>
              <a:t>DIET · TEAM 20</a:t>
            </a:r>
          </a:p>
        </p:txBody>
      </p:sp>
      <p:sp>
        <p:nvSpPr>
          <p:cNvPr id="1049028" name="TextBox 33"/>
          <p:cNvSpPr txBox="1"/>
          <p:nvPr/>
        </p:nvSpPr>
        <p:spPr>
          <a:xfrm>
            <a:off x="2788920" y="502920"/>
            <a:ext cx="8229600" cy="27432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1" sz="1200" i="0">
                <a:solidFill>
                  <a:srgbClr val="7A3E6B"/>
                </a:solidFill>
                <a:latin typeface="Segoe UI Semibold"/>
              </a:rPr>
              <a:t>SELF-HEALING</a:t>
            </a:r>
          </a:p>
        </p:txBody>
      </p:sp>
      <p:sp>
        <p:nvSpPr>
          <p:cNvPr id="1049029" name="TextBox 34"/>
          <p:cNvSpPr txBox="1"/>
          <p:nvPr/>
        </p:nvSpPr>
        <p:spPr>
          <a:xfrm>
            <a:off x="2788920" y="841248"/>
            <a:ext cx="8961120" cy="86868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1" sz="3400" i="0">
                <a:solidFill>
                  <a:srgbClr val="14181F"/>
                </a:solidFill>
                <a:latin typeface="Georgia"/>
              </a:rPr>
              <a:t>Validation &amp; Critic Loop</a:t>
            </a:r>
          </a:p>
        </p:txBody>
      </p:sp>
      <p:sp>
        <p:nvSpPr>
          <p:cNvPr id="1049030" name="Rectangle 35"/>
          <p:cNvSpPr/>
          <p:nvPr/>
        </p:nvSpPr>
        <p:spPr>
          <a:xfrm>
            <a:off x="2808920" y="1536192"/>
            <a:ext cx="685800" cy="38100"/>
          </a:xfrm>
          <a:prstGeom prst="rect"/>
          <a:solidFill>
            <a:srgbClr val="7A3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9031" name="TextBox 36"/>
          <p:cNvSpPr txBox="1"/>
          <p:nvPr/>
        </p:nvSpPr>
        <p:spPr>
          <a:xfrm>
            <a:off x="2788920" y="1783080"/>
            <a:ext cx="8778240" cy="54864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b="0" sz="1500" i="1">
                <a:solidFill>
                  <a:srgbClr val="3A4049"/>
                </a:solidFill>
                <a:latin typeface="Georgia"/>
              </a:rPr>
              <a:t>Every AI output is verified before it reaches the user — and repaired automatically if it breaks.</a:t>
            </a:r>
          </a:p>
        </p:txBody>
      </p:sp>
      <p:sp>
        <p:nvSpPr>
          <p:cNvPr id="1049032" name="Rounded Rectangle 37"/>
          <p:cNvSpPr/>
          <p:nvPr/>
        </p:nvSpPr>
        <p:spPr>
          <a:xfrm>
            <a:off x="2788920" y="2697480"/>
            <a:ext cx="1572768" cy="2194560"/>
          </a:xfrm>
          <a:prstGeom prst="roundRect">
            <a:avLst>
              <a:gd name="adj" fmla="val 7000"/>
            </a:avLst>
          </a:prstGeom>
          <a:solidFill>
            <a:srgbClr val="FFFEFB"/>
          </a:solidFill>
          <a:ln w="12700">
            <a:solidFill>
              <a:srgbClr val="D3CD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9033" name="Rectangle 38"/>
          <p:cNvSpPr/>
          <p:nvPr/>
        </p:nvSpPr>
        <p:spPr>
          <a:xfrm>
            <a:off x="2788920" y="2697480"/>
            <a:ext cx="1572768" cy="63500"/>
          </a:xfrm>
          <a:prstGeom prst="rect"/>
          <a:solidFill>
            <a:srgbClr val="C89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9034" name="Oval 39"/>
          <p:cNvSpPr/>
          <p:nvPr/>
        </p:nvSpPr>
        <p:spPr>
          <a:xfrm>
            <a:off x="3255264" y="2990088"/>
            <a:ext cx="640080" cy="640080"/>
          </a:xfrm>
          <a:prstGeom prst="ellipse"/>
          <a:solidFill>
            <a:srgbClr val="C89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9035" name="TextBox 40"/>
          <p:cNvSpPr txBox="1"/>
          <p:nvPr/>
        </p:nvSpPr>
        <p:spPr>
          <a:xfrm>
            <a:off x="3255264" y="2971800"/>
            <a:ext cx="640080" cy="640080"/>
          </a:xfrm>
          <a:prstGeom prst="rect"/>
          <a:noFill/>
        </p:spPr>
        <p:txBody>
          <a:bodyPr anchor="ctr" bIns="0" lIns="0" rIns="0" tIns="0" wrap="square">
            <a:spAutoFit/>
          </a:bodyPr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1" sz="2200" i="0">
                <a:solidFill>
                  <a:srgbClr val="F4F1EA"/>
                </a:solidFill>
                <a:latin typeface="Georgia"/>
              </a:rPr>
              <a:t>1</a:t>
            </a:r>
          </a:p>
        </p:txBody>
      </p:sp>
      <p:sp>
        <p:nvSpPr>
          <p:cNvPr id="1049036" name="TextBox 41"/>
          <p:cNvSpPr txBox="1"/>
          <p:nvPr/>
        </p:nvSpPr>
        <p:spPr>
          <a:xfrm>
            <a:off x="2898648" y="3776472"/>
            <a:ext cx="1353312" cy="36576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1" sz="1350" i="0">
                <a:solidFill>
                  <a:srgbClr val="14181F"/>
                </a:solidFill>
                <a:latin typeface="Segoe UI Semibold"/>
              </a:rPr>
              <a:t>Generate</a:t>
            </a:r>
          </a:p>
        </p:txBody>
      </p:sp>
      <p:sp>
        <p:nvSpPr>
          <p:cNvPr id="1049037" name="TextBox 42"/>
          <p:cNvSpPr txBox="1"/>
          <p:nvPr/>
        </p:nvSpPr>
        <p:spPr>
          <a:xfrm>
            <a:off x="2916936" y="4114800"/>
            <a:ext cx="1316736" cy="73152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b="0" sz="1050" i="0">
                <a:solidFill>
                  <a:srgbClr val="3A4049"/>
                </a:solidFill>
                <a:latin typeface="Segoe UI"/>
              </a:rPr>
              <a:t>LLM produces refactored SQL</a:t>
            </a:r>
          </a:p>
        </p:txBody>
      </p:sp>
      <p:sp>
        <p:nvSpPr>
          <p:cNvPr id="1049038" name="Chevron 43"/>
          <p:cNvSpPr/>
          <p:nvPr/>
        </p:nvSpPr>
        <p:spPr>
          <a:xfrm>
            <a:off x="4367688" y="3154680"/>
            <a:ext cx="146304" cy="310896"/>
          </a:xfrm>
          <a:prstGeom prst="chevron"/>
          <a:solidFill>
            <a:srgbClr val="7A3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9039" name="Rounded Rectangle 44"/>
          <p:cNvSpPr/>
          <p:nvPr/>
        </p:nvSpPr>
        <p:spPr>
          <a:xfrm>
            <a:off x="4562856" y="2697480"/>
            <a:ext cx="1572768" cy="2194560"/>
          </a:xfrm>
          <a:prstGeom prst="roundRect">
            <a:avLst>
              <a:gd name="adj" fmla="val 7000"/>
            </a:avLst>
          </a:prstGeom>
          <a:solidFill>
            <a:srgbClr val="FFFEFB"/>
          </a:solidFill>
          <a:ln w="12700">
            <a:solidFill>
              <a:srgbClr val="D3CD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9040" name="Rectangle 45"/>
          <p:cNvSpPr/>
          <p:nvPr/>
        </p:nvSpPr>
        <p:spPr>
          <a:xfrm>
            <a:off x="4562856" y="2697480"/>
            <a:ext cx="1572768" cy="63500"/>
          </a:xfrm>
          <a:prstGeom prst="rect"/>
          <a:solidFill>
            <a:srgbClr val="2D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9041" name="Oval 46"/>
          <p:cNvSpPr/>
          <p:nvPr/>
        </p:nvSpPr>
        <p:spPr>
          <a:xfrm>
            <a:off x="5029200" y="2990088"/>
            <a:ext cx="640080" cy="640080"/>
          </a:xfrm>
          <a:prstGeom prst="ellipse"/>
          <a:solidFill>
            <a:srgbClr val="2D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9042" name="TextBox 47"/>
          <p:cNvSpPr txBox="1"/>
          <p:nvPr/>
        </p:nvSpPr>
        <p:spPr>
          <a:xfrm>
            <a:off x="5029200" y="2971800"/>
            <a:ext cx="640080" cy="640080"/>
          </a:xfrm>
          <a:prstGeom prst="rect"/>
          <a:noFill/>
        </p:spPr>
        <p:txBody>
          <a:bodyPr anchor="ctr" bIns="0" lIns="0" rIns="0" tIns="0" wrap="square">
            <a:spAutoFit/>
          </a:bodyPr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1" sz="2200" i="0">
                <a:solidFill>
                  <a:srgbClr val="F4F1EA"/>
                </a:solidFill>
                <a:latin typeface="Georgia"/>
              </a:rPr>
              <a:t>2</a:t>
            </a:r>
          </a:p>
        </p:txBody>
      </p:sp>
      <p:sp>
        <p:nvSpPr>
          <p:cNvPr id="1049043" name="TextBox 48"/>
          <p:cNvSpPr txBox="1"/>
          <p:nvPr/>
        </p:nvSpPr>
        <p:spPr>
          <a:xfrm>
            <a:off x="4672584" y="3776472"/>
            <a:ext cx="1353312" cy="36576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1" sz="1350" i="0">
                <a:solidFill>
                  <a:srgbClr val="14181F"/>
                </a:solidFill>
                <a:latin typeface="Segoe UI Semibold"/>
              </a:rPr>
              <a:t>Parse</a:t>
            </a:r>
          </a:p>
        </p:txBody>
      </p:sp>
      <p:sp>
        <p:nvSpPr>
          <p:cNvPr id="1049044" name="TextBox 49"/>
          <p:cNvSpPr txBox="1"/>
          <p:nvPr/>
        </p:nvSpPr>
        <p:spPr>
          <a:xfrm>
            <a:off x="4690872" y="4114800"/>
            <a:ext cx="1316736" cy="73152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b="0" sz="1050" i="0">
                <a:solidFill>
                  <a:srgbClr val="3A4049"/>
                </a:solidFill>
                <a:latin typeface="Segoe UI"/>
              </a:rPr>
              <a:t>sqlglot builds the AST</a:t>
            </a:r>
          </a:p>
        </p:txBody>
      </p:sp>
      <p:sp>
        <p:nvSpPr>
          <p:cNvPr id="1049045" name="Chevron 50"/>
          <p:cNvSpPr/>
          <p:nvPr/>
        </p:nvSpPr>
        <p:spPr>
          <a:xfrm>
            <a:off x="6141624" y="3154680"/>
            <a:ext cx="146304" cy="310896"/>
          </a:xfrm>
          <a:prstGeom prst="chevron"/>
          <a:solidFill>
            <a:srgbClr val="7A3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9046" name="Rounded Rectangle 51"/>
          <p:cNvSpPr/>
          <p:nvPr/>
        </p:nvSpPr>
        <p:spPr>
          <a:xfrm>
            <a:off x="6336792" y="2697480"/>
            <a:ext cx="1572768" cy="2194560"/>
          </a:xfrm>
          <a:prstGeom prst="roundRect">
            <a:avLst>
              <a:gd name="adj" fmla="val 7000"/>
            </a:avLst>
          </a:prstGeom>
          <a:solidFill>
            <a:srgbClr val="FFFEFB"/>
          </a:solidFill>
          <a:ln w="12700">
            <a:solidFill>
              <a:srgbClr val="D3CD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9047" name="Rectangle 52"/>
          <p:cNvSpPr/>
          <p:nvPr/>
        </p:nvSpPr>
        <p:spPr>
          <a:xfrm>
            <a:off x="6336792" y="2697480"/>
            <a:ext cx="1572768" cy="63500"/>
          </a:xfrm>
          <a:prstGeom prst="rect"/>
          <a:solidFill>
            <a:srgbClr val="E25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9048" name="Oval 53"/>
          <p:cNvSpPr/>
          <p:nvPr/>
        </p:nvSpPr>
        <p:spPr>
          <a:xfrm>
            <a:off x="6803136" y="2990088"/>
            <a:ext cx="640080" cy="640080"/>
          </a:xfrm>
          <a:prstGeom prst="ellipse"/>
          <a:solidFill>
            <a:srgbClr val="E25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9049" name="TextBox 54"/>
          <p:cNvSpPr txBox="1"/>
          <p:nvPr/>
        </p:nvSpPr>
        <p:spPr>
          <a:xfrm>
            <a:off x="6803136" y="2971800"/>
            <a:ext cx="640080" cy="640080"/>
          </a:xfrm>
          <a:prstGeom prst="rect"/>
          <a:noFill/>
        </p:spPr>
        <p:txBody>
          <a:bodyPr anchor="ctr" bIns="0" lIns="0" rIns="0" tIns="0" wrap="square">
            <a:spAutoFit/>
          </a:bodyPr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1" sz="2200" i="0">
                <a:solidFill>
                  <a:srgbClr val="F4F1EA"/>
                </a:solidFill>
                <a:latin typeface="Georgia"/>
              </a:rPr>
              <a:t>3</a:t>
            </a:r>
          </a:p>
        </p:txBody>
      </p:sp>
      <p:sp>
        <p:nvSpPr>
          <p:cNvPr id="1049050" name="TextBox 55"/>
          <p:cNvSpPr txBox="1"/>
          <p:nvPr/>
        </p:nvSpPr>
        <p:spPr>
          <a:xfrm>
            <a:off x="6446520" y="3776472"/>
            <a:ext cx="1353312" cy="36576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1" sz="1350" i="0">
                <a:solidFill>
                  <a:srgbClr val="14181F"/>
                </a:solidFill>
                <a:latin typeface="Segoe UI Semibold"/>
              </a:rPr>
              <a:t>Detect</a:t>
            </a:r>
          </a:p>
        </p:txBody>
      </p:sp>
      <p:sp>
        <p:nvSpPr>
          <p:cNvPr id="1049051" name="TextBox 56"/>
          <p:cNvSpPr txBox="1"/>
          <p:nvPr/>
        </p:nvSpPr>
        <p:spPr>
          <a:xfrm>
            <a:off x="6464808" y="4114800"/>
            <a:ext cx="1316736" cy="73152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b="0" sz="1050" i="0">
                <a:solidFill>
                  <a:srgbClr val="3A4049"/>
                </a:solidFill>
                <a:latin typeface="Segoe UI"/>
              </a:rPr>
              <a:t>Catch syntax errors / breakage</a:t>
            </a:r>
          </a:p>
        </p:txBody>
      </p:sp>
      <p:sp>
        <p:nvSpPr>
          <p:cNvPr id="1049052" name="Chevron 57"/>
          <p:cNvSpPr/>
          <p:nvPr/>
        </p:nvSpPr>
        <p:spPr>
          <a:xfrm>
            <a:off x="7915560" y="3154680"/>
            <a:ext cx="146304" cy="310896"/>
          </a:xfrm>
          <a:prstGeom prst="chevron"/>
          <a:solidFill>
            <a:srgbClr val="7A3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9053" name="Rounded Rectangle 58"/>
          <p:cNvSpPr/>
          <p:nvPr/>
        </p:nvSpPr>
        <p:spPr>
          <a:xfrm>
            <a:off x="8110728" y="2697480"/>
            <a:ext cx="1572768" cy="2194560"/>
          </a:xfrm>
          <a:prstGeom prst="roundRect">
            <a:avLst>
              <a:gd name="adj" fmla="val 7000"/>
            </a:avLst>
          </a:prstGeom>
          <a:solidFill>
            <a:srgbClr val="FFFEFB"/>
          </a:solidFill>
          <a:ln w="12700">
            <a:solidFill>
              <a:srgbClr val="D3CD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9054" name="Rectangle 59"/>
          <p:cNvSpPr/>
          <p:nvPr/>
        </p:nvSpPr>
        <p:spPr>
          <a:xfrm>
            <a:off x="8110728" y="2697480"/>
            <a:ext cx="1572768" cy="63500"/>
          </a:xfrm>
          <a:prstGeom prst="rect"/>
          <a:solidFill>
            <a:srgbClr val="7A3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9055" name="Oval 60"/>
          <p:cNvSpPr/>
          <p:nvPr/>
        </p:nvSpPr>
        <p:spPr>
          <a:xfrm>
            <a:off x="8577072" y="2990088"/>
            <a:ext cx="640080" cy="640080"/>
          </a:xfrm>
          <a:prstGeom prst="ellipse"/>
          <a:solidFill>
            <a:srgbClr val="7A3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9056" name="TextBox 61"/>
          <p:cNvSpPr txBox="1"/>
          <p:nvPr/>
        </p:nvSpPr>
        <p:spPr>
          <a:xfrm>
            <a:off x="8577072" y="2971800"/>
            <a:ext cx="640080" cy="640080"/>
          </a:xfrm>
          <a:prstGeom prst="rect"/>
          <a:noFill/>
        </p:spPr>
        <p:txBody>
          <a:bodyPr anchor="ctr" bIns="0" lIns="0" rIns="0" tIns="0" wrap="square">
            <a:spAutoFit/>
          </a:bodyPr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1" sz="2200" i="0">
                <a:solidFill>
                  <a:srgbClr val="F4F1EA"/>
                </a:solidFill>
                <a:latin typeface="Georgia"/>
              </a:rPr>
              <a:t>4</a:t>
            </a:r>
          </a:p>
        </p:txBody>
      </p:sp>
      <p:sp>
        <p:nvSpPr>
          <p:cNvPr id="1049057" name="TextBox 62"/>
          <p:cNvSpPr txBox="1"/>
          <p:nvPr/>
        </p:nvSpPr>
        <p:spPr>
          <a:xfrm>
            <a:off x="8220456" y="3776472"/>
            <a:ext cx="1353312" cy="36576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1" sz="1350" i="0">
                <a:solidFill>
                  <a:srgbClr val="14181F"/>
                </a:solidFill>
                <a:latin typeface="Segoe UI Semibold"/>
              </a:rPr>
              <a:t>Heal</a:t>
            </a:r>
          </a:p>
        </p:txBody>
      </p:sp>
      <p:sp>
        <p:nvSpPr>
          <p:cNvPr id="1049058" name="TextBox 63"/>
          <p:cNvSpPr txBox="1"/>
          <p:nvPr/>
        </p:nvSpPr>
        <p:spPr>
          <a:xfrm>
            <a:off x="8238744" y="4114800"/>
            <a:ext cx="1316736" cy="73152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b="0" sz="1050" i="0">
                <a:solidFill>
                  <a:srgbClr val="3A4049"/>
                </a:solidFill>
                <a:latin typeface="Segoe UI"/>
              </a:rPr>
              <a:t>Feed traceback back to the LLM</a:t>
            </a:r>
          </a:p>
        </p:txBody>
      </p:sp>
      <p:sp>
        <p:nvSpPr>
          <p:cNvPr id="1049059" name="Chevron 64"/>
          <p:cNvSpPr/>
          <p:nvPr/>
        </p:nvSpPr>
        <p:spPr>
          <a:xfrm>
            <a:off x="9689496" y="3154680"/>
            <a:ext cx="146304" cy="310896"/>
          </a:xfrm>
          <a:prstGeom prst="chevron"/>
          <a:solidFill>
            <a:srgbClr val="7A3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9060" name="Rounded Rectangle 65"/>
          <p:cNvSpPr/>
          <p:nvPr/>
        </p:nvSpPr>
        <p:spPr>
          <a:xfrm>
            <a:off x="9884664" y="2697480"/>
            <a:ext cx="1572768" cy="2194560"/>
          </a:xfrm>
          <a:prstGeom prst="roundRect">
            <a:avLst>
              <a:gd name="adj" fmla="val 7000"/>
            </a:avLst>
          </a:prstGeom>
          <a:solidFill>
            <a:srgbClr val="FFFEFB"/>
          </a:solidFill>
          <a:ln w="12700">
            <a:solidFill>
              <a:srgbClr val="D3CD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9061" name="Rectangle 66"/>
          <p:cNvSpPr/>
          <p:nvPr/>
        </p:nvSpPr>
        <p:spPr>
          <a:xfrm>
            <a:off x="9884664" y="2697480"/>
            <a:ext cx="1572768" cy="63500"/>
          </a:xfrm>
          <a:prstGeom prst="rect"/>
          <a:solidFill>
            <a:srgbClr val="108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9062" name="Oval 67"/>
          <p:cNvSpPr/>
          <p:nvPr/>
        </p:nvSpPr>
        <p:spPr>
          <a:xfrm>
            <a:off x="10351008" y="2990088"/>
            <a:ext cx="640080" cy="640080"/>
          </a:xfrm>
          <a:prstGeom prst="ellipse"/>
          <a:solidFill>
            <a:srgbClr val="108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9063" name="TextBox 68"/>
          <p:cNvSpPr txBox="1"/>
          <p:nvPr/>
        </p:nvSpPr>
        <p:spPr>
          <a:xfrm>
            <a:off x="10351008" y="2971800"/>
            <a:ext cx="640080" cy="640080"/>
          </a:xfrm>
          <a:prstGeom prst="rect"/>
          <a:noFill/>
        </p:spPr>
        <p:txBody>
          <a:bodyPr anchor="ctr" bIns="0" lIns="0" rIns="0" tIns="0" wrap="square">
            <a:spAutoFit/>
          </a:bodyPr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1" sz="2200" i="0">
                <a:solidFill>
                  <a:srgbClr val="F4F1EA"/>
                </a:solidFill>
                <a:latin typeface="Georgia"/>
              </a:rPr>
              <a:t>5</a:t>
            </a:r>
          </a:p>
        </p:txBody>
      </p:sp>
      <p:sp>
        <p:nvSpPr>
          <p:cNvPr id="1049064" name="TextBox 69"/>
          <p:cNvSpPr txBox="1"/>
          <p:nvPr/>
        </p:nvSpPr>
        <p:spPr>
          <a:xfrm>
            <a:off x="9994392" y="3776472"/>
            <a:ext cx="1353312" cy="36576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1" sz="1350" i="0">
                <a:solidFill>
                  <a:srgbClr val="14181F"/>
                </a:solidFill>
                <a:latin typeface="Segoe UI Semibold"/>
              </a:rPr>
              <a:t>Valid SQL</a:t>
            </a:r>
          </a:p>
        </p:txBody>
      </p:sp>
      <p:sp>
        <p:nvSpPr>
          <p:cNvPr id="1049065" name="TextBox 70"/>
          <p:cNvSpPr txBox="1"/>
          <p:nvPr/>
        </p:nvSpPr>
        <p:spPr>
          <a:xfrm>
            <a:off x="10012680" y="4114800"/>
            <a:ext cx="1316736" cy="73152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b="0" sz="1050" i="0">
                <a:solidFill>
                  <a:srgbClr val="3A4049"/>
                </a:solidFill>
                <a:latin typeface="Segoe UI"/>
              </a:rPr>
              <a:t>Verified output is released</a:t>
            </a:r>
          </a:p>
        </p:txBody>
      </p:sp>
      <p:sp>
        <p:nvSpPr>
          <p:cNvPr id="1049066" name="TextBox 71"/>
          <p:cNvSpPr txBox="1"/>
          <p:nvPr/>
        </p:nvSpPr>
        <p:spPr>
          <a:xfrm>
            <a:off x="2788920" y="5212080"/>
            <a:ext cx="8778240" cy="54864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b="1" sz="1400" i="0">
                <a:solidFill>
                  <a:srgbClr val="7A3E6B"/>
                </a:solidFill>
                <a:latin typeface="Segoe UI"/>
              </a:rPr>
              <a:t>↺  Loop:  </a:t>
            </a:r>
            <a:r>
              <a:rPr b="0" sz="1300" i="0">
                <a:solidFill>
                  <a:srgbClr val="3A4049"/>
                </a:solidFill>
                <a:latin typeface="Segoe UI"/>
              </a:rPr>
              <a:t>steps 1–4 repeat until the parser confirms valid, executable SQL — preventing hallucinated output.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6" name=""/>
        <p:cNvGrpSpPr/>
        <p:nvPr/>
      </p:nvGrpSpPr>
      <p:grpSpPr>
        <a:xfrm/>
      </p:grpSpPr>
      <p:sp>
        <p:nvSpPr>
          <p:cNvPr id="1049067" name="Rectangle 1"/>
          <p:cNvSpPr/>
          <p:nvPr/>
        </p:nvSpPr>
        <p:spPr>
          <a:xfrm>
            <a:off x="0" y="0"/>
            <a:ext cx="12191695" cy="6858000"/>
          </a:xfrm>
          <a:prstGeom prst="rect"/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9068" name="Rectangle 2"/>
          <p:cNvSpPr/>
          <p:nvPr/>
        </p:nvSpPr>
        <p:spPr>
          <a:xfrm>
            <a:off x="0" y="0"/>
            <a:ext cx="2331720" cy="6858000"/>
          </a:xfrm>
          <a:prstGeom prst="rect"/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9069" name="Rectangle 3"/>
          <p:cNvSpPr/>
          <p:nvPr/>
        </p:nvSpPr>
        <p:spPr>
          <a:xfrm>
            <a:off x="2293620" y="0"/>
            <a:ext cx="38100" cy="6858000"/>
          </a:xfrm>
          <a:prstGeom prst="rect"/>
          <a:solidFill>
            <a:srgbClr val="108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9070" name="TextBox 4"/>
          <p:cNvSpPr txBox="1"/>
          <p:nvPr/>
        </p:nvSpPr>
        <p:spPr>
          <a:xfrm>
            <a:off x="365760" y="365760"/>
            <a:ext cx="1828800" cy="36576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1" sz="2000" i="0">
                <a:solidFill>
                  <a:srgbClr val="108A5C"/>
                </a:solidFill>
                <a:latin typeface="Georgia"/>
              </a:rPr>
              <a:t>&lt;/&gt;</a:t>
            </a:r>
          </a:p>
        </p:txBody>
      </p:sp>
      <p:sp>
        <p:nvSpPr>
          <p:cNvPr id="1049071" name="TextBox 5"/>
          <p:cNvSpPr txBox="1"/>
          <p:nvPr/>
        </p:nvSpPr>
        <p:spPr>
          <a:xfrm>
            <a:off x="365760" y="804672"/>
            <a:ext cx="1828800" cy="82296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b="1" sz="1200" i="0">
                <a:solidFill>
                  <a:srgbClr val="F4F1EA"/>
                </a:solidFill>
                <a:latin typeface="Segoe UI Semibold"/>
              </a:rPr>
              <a:t>SQL Query Linter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b="0" sz="1200" i="0">
                <a:solidFill>
                  <a:srgbClr val="848074"/>
                </a:solidFill>
                <a:latin typeface="Segoe UI"/>
              </a:rPr>
              <a:t>&amp; Style Fixer</a:t>
            </a:r>
          </a:p>
        </p:txBody>
      </p:sp>
      <p:sp>
        <p:nvSpPr>
          <p:cNvPr id="1049072" name="Rectangle 6"/>
          <p:cNvSpPr/>
          <p:nvPr/>
        </p:nvSpPr>
        <p:spPr>
          <a:xfrm>
            <a:off x="365760" y="1664208"/>
            <a:ext cx="914400" cy="25400"/>
          </a:xfrm>
          <a:prstGeom prst="rect"/>
          <a:solidFill>
            <a:srgbClr val="108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9073" name="TextBox 7"/>
          <p:cNvSpPr txBox="1"/>
          <p:nvPr/>
        </p:nvSpPr>
        <p:spPr>
          <a:xfrm>
            <a:off x="365760" y="1920240"/>
            <a:ext cx="365760" cy="27432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0" sz="1000" i="0">
                <a:solidFill>
                  <a:srgbClr val="6B6F78"/>
                </a:solidFill>
                <a:latin typeface="Consolas"/>
              </a:rPr>
              <a:t>01</a:t>
            </a:r>
          </a:p>
        </p:txBody>
      </p:sp>
      <p:sp>
        <p:nvSpPr>
          <p:cNvPr id="1049074" name="TextBox 8"/>
          <p:cNvSpPr txBox="1"/>
          <p:nvPr/>
        </p:nvSpPr>
        <p:spPr>
          <a:xfrm>
            <a:off x="804672" y="1920240"/>
            <a:ext cx="1481328" cy="27432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0" sz="1100" i="0">
                <a:solidFill>
                  <a:srgbClr val="9A9DA4"/>
                </a:solidFill>
                <a:latin typeface="Segoe UI"/>
              </a:rPr>
              <a:t>Objective</a:t>
            </a:r>
          </a:p>
        </p:txBody>
      </p:sp>
      <p:sp>
        <p:nvSpPr>
          <p:cNvPr id="1049075" name="TextBox 9"/>
          <p:cNvSpPr txBox="1"/>
          <p:nvPr/>
        </p:nvSpPr>
        <p:spPr>
          <a:xfrm>
            <a:off x="365760" y="2272284"/>
            <a:ext cx="365760" cy="27432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0" sz="1000" i="0">
                <a:solidFill>
                  <a:srgbClr val="6B6F78"/>
                </a:solidFill>
                <a:latin typeface="Consolas"/>
              </a:rPr>
              <a:t>02</a:t>
            </a:r>
          </a:p>
        </p:txBody>
      </p:sp>
      <p:sp>
        <p:nvSpPr>
          <p:cNvPr id="1049076" name="TextBox 10"/>
          <p:cNvSpPr txBox="1"/>
          <p:nvPr/>
        </p:nvSpPr>
        <p:spPr>
          <a:xfrm>
            <a:off x="804672" y="2272284"/>
            <a:ext cx="1481328" cy="27432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0" sz="1100" i="0">
                <a:solidFill>
                  <a:srgbClr val="9A9DA4"/>
                </a:solidFill>
                <a:latin typeface="Segoe UI"/>
              </a:rPr>
              <a:t>Problem</a:t>
            </a:r>
          </a:p>
        </p:txBody>
      </p:sp>
      <p:sp>
        <p:nvSpPr>
          <p:cNvPr id="1049077" name="TextBox 11"/>
          <p:cNvSpPr txBox="1"/>
          <p:nvPr/>
        </p:nvSpPr>
        <p:spPr>
          <a:xfrm>
            <a:off x="365760" y="2624328"/>
            <a:ext cx="365760" cy="27432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0" sz="1000" i="0">
                <a:solidFill>
                  <a:srgbClr val="6B6F78"/>
                </a:solidFill>
                <a:latin typeface="Consolas"/>
              </a:rPr>
              <a:t>03</a:t>
            </a:r>
          </a:p>
        </p:txBody>
      </p:sp>
      <p:sp>
        <p:nvSpPr>
          <p:cNvPr id="1049078" name="TextBox 12"/>
          <p:cNvSpPr txBox="1"/>
          <p:nvPr/>
        </p:nvSpPr>
        <p:spPr>
          <a:xfrm>
            <a:off x="804672" y="2624328"/>
            <a:ext cx="1481328" cy="27432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0" sz="1100" i="0">
                <a:solidFill>
                  <a:srgbClr val="9A9DA4"/>
                </a:solidFill>
                <a:latin typeface="Segoe UI"/>
              </a:rPr>
              <a:t>Approach</a:t>
            </a:r>
          </a:p>
        </p:txBody>
      </p:sp>
      <p:sp>
        <p:nvSpPr>
          <p:cNvPr id="1049079" name="TextBox 13"/>
          <p:cNvSpPr txBox="1"/>
          <p:nvPr/>
        </p:nvSpPr>
        <p:spPr>
          <a:xfrm>
            <a:off x="365760" y="2976372"/>
            <a:ext cx="365760" cy="27432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0" sz="1000" i="0">
                <a:solidFill>
                  <a:srgbClr val="6B6F78"/>
                </a:solidFill>
                <a:latin typeface="Consolas"/>
              </a:rPr>
              <a:t>04</a:t>
            </a:r>
          </a:p>
        </p:txBody>
      </p:sp>
      <p:sp>
        <p:nvSpPr>
          <p:cNvPr id="1049080" name="TextBox 14"/>
          <p:cNvSpPr txBox="1"/>
          <p:nvPr/>
        </p:nvSpPr>
        <p:spPr>
          <a:xfrm>
            <a:off x="804672" y="2976372"/>
            <a:ext cx="1481328" cy="27432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0" sz="1100" i="0">
                <a:solidFill>
                  <a:srgbClr val="9A9DA4"/>
                </a:solidFill>
                <a:latin typeface="Segoe UI"/>
              </a:rPr>
              <a:t>Tech Stack</a:t>
            </a:r>
          </a:p>
        </p:txBody>
      </p:sp>
      <p:sp>
        <p:nvSpPr>
          <p:cNvPr id="1049081" name="TextBox 15"/>
          <p:cNvSpPr txBox="1"/>
          <p:nvPr/>
        </p:nvSpPr>
        <p:spPr>
          <a:xfrm>
            <a:off x="365760" y="3328415"/>
            <a:ext cx="365760" cy="27432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0" sz="1000" i="0">
                <a:solidFill>
                  <a:srgbClr val="6B6F78"/>
                </a:solidFill>
                <a:latin typeface="Consolas"/>
              </a:rPr>
              <a:t>05</a:t>
            </a:r>
          </a:p>
        </p:txBody>
      </p:sp>
      <p:sp>
        <p:nvSpPr>
          <p:cNvPr id="1049082" name="TextBox 16"/>
          <p:cNvSpPr txBox="1"/>
          <p:nvPr/>
        </p:nvSpPr>
        <p:spPr>
          <a:xfrm>
            <a:off x="804672" y="3328415"/>
            <a:ext cx="1481328" cy="27432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0" sz="1100" i="0">
                <a:solidFill>
                  <a:srgbClr val="9A9DA4"/>
                </a:solidFill>
                <a:latin typeface="Segoe UI"/>
              </a:rPr>
              <a:t>Architecture</a:t>
            </a:r>
          </a:p>
        </p:txBody>
      </p:sp>
      <p:sp>
        <p:nvSpPr>
          <p:cNvPr id="1049083" name="TextBox 17"/>
          <p:cNvSpPr txBox="1"/>
          <p:nvPr/>
        </p:nvSpPr>
        <p:spPr>
          <a:xfrm>
            <a:off x="365760" y="3680459"/>
            <a:ext cx="365760" cy="27432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0" sz="1000" i="0">
                <a:solidFill>
                  <a:srgbClr val="6B6F78"/>
                </a:solidFill>
                <a:latin typeface="Consolas"/>
              </a:rPr>
              <a:t>06</a:t>
            </a:r>
          </a:p>
        </p:txBody>
      </p:sp>
      <p:sp>
        <p:nvSpPr>
          <p:cNvPr id="1049084" name="TextBox 18"/>
          <p:cNvSpPr txBox="1"/>
          <p:nvPr/>
        </p:nvSpPr>
        <p:spPr>
          <a:xfrm>
            <a:off x="804672" y="3680459"/>
            <a:ext cx="1481328" cy="27432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0" sz="1100" i="0">
                <a:solidFill>
                  <a:srgbClr val="9A9DA4"/>
                </a:solidFill>
                <a:latin typeface="Segoe UI"/>
              </a:rPr>
              <a:t>Modules</a:t>
            </a:r>
          </a:p>
        </p:txBody>
      </p:sp>
      <p:sp>
        <p:nvSpPr>
          <p:cNvPr id="1049085" name="TextBox 19"/>
          <p:cNvSpPr txBox="1"/>
          <p:nvPr/>
        </p:nvSpPr>
        <p:spPr>
          <a:xfrm>
            <a:off x="365760" y="4032503"/>
            <a:ext cx="365760" cy="27432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0" sz="1000" i="0">
                <a:solidFill>
                  <a:srgbClr val="6B6F78"/>
                </a:solidFill>
                <a:latin typeface="Consolas"/>
              </a:rPr>
              <a:t>07</a:t>
            </a:r>
          </a:p>
        </p:txBody>
      </p:sp>
      <p:sp>
        <p:nvSpPr>
          <p:cNvPr id="1049086" name="TextBox 20"/>
          <p:cNvSpPr txBox="1"/>
          <p:nvPr/>
        </p:nvSpPr>
        <p:spPr>
          <a:xfrm>
            <a:off x="804672" y="4032503"/>
            <a:ext cx="1481328" cy="27432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0" sz="1100" i="0">
                <a:solidFill>
                  <a:srgbClr val="9A9DA4"/>
                </a:solidFill>
                <a:latin typeface="Segoe UI"/>
              </a:rPr>
              <a:t>Before / After</a:t>
            </a:r>
          </a:p>
        </p:txBody>
      </p:sp>
      <p:sp>
        <p:nvSpPr>
          <p:cNvPr id="1049087" name="TextBox 21"/>
          <p:cNvSpPr txBox="1"/>
          <p:nvPr/>
        </p:nvSpPr>
        <p:spPr>
          <a:xfrm>
            <a:off x="365760" y="4384547"/>
            <a:ext cx="365760" cy="27432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0" sz="1000" i="0">
                <a:solidFill>
                  <a:srgbClr val="6B6F78"/>
                </a:solidFill>
                <a:latin typeface="Consolas"/>
              </a:rPr>
              <a:t>08</a:t>
            </a:r>
          </a:p>
        </p:txBody>
      </p:sp>
      <p:sp>
        <p:nvSpPr>
          <p:cNvPr id="1049088" name="TextBox 22"/>
          <p:cNvSpPr txBox="1"/>
          <p:nvPr/>
        </p:nvSpPr>
        <p:spPr>
          <a:xfrm>
            <a:off x="804672" y="4384547"/>
            <a:ext cx="1481328" cy="27432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0" sz="1100" i="0">
                <a:solidFill>
                  <a:srgbClr val="9A9DA4"/>
                </a:solidFill>
                <a:latin typeface="Segoe UI"/>
              </a:rPr>
              <a:t>Validation</a:t>
            </a:r>
          </a:p>
        </p:txBody>
      </p:sp>
      <p:sp>
        <p:nvSpPr>
          <p:cNvPr id="1049089" name="Rectangle 23"/>
          <p:cNvSpPr/>
          <p:nvPr/>
        </p:nvSpPr>
        <p:spPr>
          <a:xfrm>
            <a:off x="0" y="4709159"/>
            <a:ext cx="73152" cy="310896"/>
          </a:xfrm>
          <a:prstGeom prst="rect"/>
          <a:solidFill>
            <a:srgbClr val="108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9090" name="TextBox 24"/>
          <p:cNvSpPr txBox="1"/>
          <p:nvPr/>
        </p:nvSpPr>
        <p:spPr>
          <a:xfrm>
            <a:off x="365760" y="4736591"/>
            <a:ext cx="365760" cy="27432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1" sz="1000" i="0">
                <a:solidFill>
                  <a:srgbClr val="108A5C"/>
                </a:solidFill>
                <a:latin typeface="Consolas"/>
              </a:rPr>
              <a:t>09</a:t>
            </a:r>
          </a:p>
        </p:txBody>
      </p:sp>
      <p:sp>
        <p:nvSpPr>
          <p:cNvPr id="1049091" name="TextBox 25"/>
          <p:cNvSpPr txBox="1"/>
          <p:nvPr/>
        </p:nvSpPr>
        <p:spPr>
          <a:xfrm>
            <a:off x="804672" y="4736591"/>
            <a:ext cx="1481328" cy="27432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1" sz="1100" i="0">
                <a:solidFill>
                  <a:srgbClr val="F4F1EA"/>
                </a:solidFill>
                <a:latin typeface="Segoe UI Semibold"/>
              </a:rPr>
              <a:t>Advantages</a:t>
            </a:r>
          </a:p>
        </p:txBody>
      </p:sp>
      <p:sp>
        <p:nvSpPr>
          <p:cNvPr id="1049092" name="TextBox 26"/>
          <p:cNvSpPr txBox="1"/>
          <p:nvPr/>
        </p:nvSpPr>
        <p:spPr>
          <a:xfrm>
            <a:off x="365760" y="5088635"/>
            <a:ext cx="365760" cy="27432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0" sz="1000" i="0">
                <a:solidFill>
                  <a:srgbClr val="6B6F78"/>
                </a:solidFill>
                <a:latin typeface="Consolas"/>
              </a:rPr>
              <a:t>10</a:t>
            </a:r>
          </a:p>
        </p:txBody>
      </p:sp>
      <p:sp>
        <p:nvSpPr>
          <p:cNvPr id="1049093" name="TextBox 27"/>
          <p:cNvSpPr txBox="1"/>
          <p:nvPr/>
        </p:nvSpPr>
        <p:spPr>
          <a:xfrm>
            <a:off x="804672" y="5088635"/>
            <a:ext cx="1481328" cy="27432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0" sz="1100" i="0">
                <a:solidFill>
                  <a:srgbClr val="9A9DA4"/>
                </a:solidFill>
                <a:latin typeface="Segoe UI"/>
              </a:rPr>
              <a:t>Results</a:t>
            </a:r>
          </a:p>
        </p:txBody>
      </p:sp>
      <p:sp>
        <p:nvSpPr>
          <p:cNvPr id="1049094" name="TextBox 28"/>
          <p:cNvSpPr txBox="1"/>
          <p:nvPr/>
        </p:nvSpPr>
        <p:spPr>
          <a:xfrm>
            <a:off x="365760" y="5440679"/>
            <a:ext cx="365760" cy="27432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0" sz="1000" i="0">
                <a:solidFill>
                  <a:srgbClr val="6B6F78"/>
                </a:solidFill>
                <a:latin typeface="Consolas"/>
              </a:rPr>
              <a:t>11</a:t>
            </a:r>
          </a:p>
        </p:txBody>
      </p:sp>
      <p:sp>
        <p:nvSpPr>
          <p:cNvPr id="1049095" name="TextBox 29"/>
          <p:cNvSpPr txBox="1"/>
          <p:nvPr/>
        </p:nvSpPr>
        <p:spPr>
          <a:xfrm>
            <a:off x="804672" y="5440679"/>
            <a:ext cx="1481328" cy="27432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0" sz="1100" i="0">
                <a:solidFill>
                  <a:srgbClr val="9A9DA4"/>
                </a:solidFill>
                <a:latin typeface="Segoe UI"/>
              </a:rPr>
              <a:t>Future Scope</a:t>
            </a:r>
          </a:p>
        </p:txBody>
      </p:sp>
      <p:sp>
        <p:nvSpPr>
          <p:cNvPr id="1049096" name="TextBox 30"/>
          <p:cNvSpPr txBox="1"/>
          <p:nvPr/>
        </p:nvSpPr>
        <p:spPr>
          <a:xfrm>
            <a:off x="365760" y="5792723"/>
            <a:ext cx="365760" cy="27432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0" sz="1000" i="0">
                <a:solidFill>
                  <a:srgbClr val="6B6F78"/>
                </a:solidFill>
                <a:latin typeface="Consolas"/>
              </a:rPr>
              <a:t>12</a:t>
            </a:r>
          </a:p>
        </p:txBody>
      </p:sp>
      <p:sp>
        <p:nvSpPr>
          <p:cNvPr id="1049097" name="TextBox 31"/>
          <p:cNvSpPr txBox="1"/>
          <p:nvPr/>
        </p:nvSpPr>
        <p:spPr>
          <a:xfrm>
            <a:off x="804672" y="5792723"/>
            <a:ext cx="1481328" cy="27432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0" sz="1100" i="0">
                <a:solidFill>
                  <a:srgbClr val="9A9DA4"/>
                </a:solidFill>
                <a:latin typeface="Segoe UI"/>
              </a:rPr>
              <a:t>Conclusion</a:t>
            </a:r>
          </a:p>
        </p:txBody>
      </p:sp>
      <p:sp>
        <p:nvSpPr>
          <p:cNvPr id="1049098" name="TextBox 32"/>
          <p:cNvSpPr txBox="1"/>
          <p:nvPr/>
        </p:nvSpPr>
        <p:spPr>
          <a:xfrm>
            <a:off x="365760" y="6400800"/>
            <a:ext cx="1920240" cy="27432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0" sz="850" i="0">
                <a:solidFill>
                  <a:srgbClr val="848074"/>
                </a:solidFill>
                <a:latin typeface="Segoe UI"/>
              </a:rPr>
              <a:t>DIET · TEAM 20</a:t>
            </a:r>
          </a:p>
        </p:txBody>
      </p:sp>
      <p:sp>
        <p:nvSpPr>
          <p:cNvPr id="1049099" name="TextBox 33"/>
          <p:cNvSpPr txBox="1"/>
          <p:nvPr/>
        </p:nvSpPr>
        <p:spPr>
          <a:xfrm>
            <a:off x="2788920" y="502920"/>
            <a:ext cx="8229600" cy="27432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1" sz="1200" i="0">
                <a:solidFill>
                  <a:srgbClr val="108A5C"/>
                </a:solidFill>
                <a:latin typeface="Segoe UI Semibold"/>
              </a:rPr>
              <a:t>WHY IT MATTERS</a:t>
            </a:r>
          </a:p>
        </p:txBody>
      </p:sp>
      <p:sp>
        <p:nvSpPr>
          <p:cNvPr id="1049100" name="TextBox 34"/>
          <p:cNvSpPr txBox="1"/>
          <p:nvPr/>
        </p:nvSpPr>
        <p:spPr>
          <a:xfrm>
            <a:off x="2788920" y="841248"/>
            <a:ext cx="8961120" cy="86868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1" sz="3400" i="0">
                <a:solidFill>
                  <a:srgbClr val="14181F"/>
                </a:solidFill>
                <a:latin typeface="Georgia"/>
              </a:rPr>
              <a:t>Project Advantages</a:t>
            </a:r>
          </a:p>
        </p:txBody>
      </p:sp>
      <p:sp>
        <p:nvSpPr>
          <p:cNvPr id="1049101" name="Rectangle 35"/>
          <p:cNvSpPr/>
          <p:nvPr/>
        </p:nvSpPr>
        <p:spPr>
          <a:xfrm>
            <a:off x="2808920" y="1536192"/>
            <a:ext cx="685800" cy="38100"/>
          </a:xfrm>
          <a:prstGeom prst="rect"/>
          <a:solidFill>
            <a:srgbClr val="108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9102" name="Rounded Rectangle 36"/>
          <p:cNvSpPr/>
          <p:nvPr/>
        </p:nvSpPr>
        <p:spPr>
          <a:xfrm>
            <a:off x="2788920" y="1965960"/>
            <a:ext cx="2121408" cy="3657600"/>
          </a:xfrm>
          <a:prstGeom prst="roundRect">
            <a:avLst>
              <a:gd name="adj" fmla="val 5000"/>
            </a:avLst>
          </a:prstGeom>
          <a:solidFill>
            <a:srgbClr val="FFFEFB"/>
          </a:solidFill>
          <a:ln w="12700">
            <a:solidFill>
              <a:srgbClr val="D3CD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9103" name="Rectangle 37"/>
          <p:cNvSpPr/>
          <p:nvPr/>
        </p:nvSpPr>
        <p:spPr>
          <a:xfrm>
            <a:off x="2788920" y="1965960"/>
            <a:ext cx="2121408" cy="63500"/>
          </a:xfrm>
          <a:prstGeom prst="rect"/>
          <a:solidFill>
            <a:srgbClr val="108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9104" name="Oval 38"/>
          <p:cNvSpPr/>
          <p:nvPr/>
        </p:nvSpPr>
        <p:spPr>
          <a:xfrm>
            <a:off x="3429000" y="2331720"/>
            <a:ext cx="822960" cy="822960"/>
          </a:xfrm>
          <a:prstGeom prst="ellipse"/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9105" name="TextBox 39"/>
          <p:cNvSpPr txBox="1"/>
          <p:nvPr/>
        </p:nvSpPr>
        <p:spPr>
          <a:xfrm>
            <a:off x="3429000" y="2331720"/>
            <a:ext cx="822960" cy="822960"/>
          </a:xfrm>
          <a:prstGeom prst="rect"/>
          <a:noFill/>
        </p:spPr>
        <p:txBody>
          <a:bodyPr anchor="ctr" bIns="0" lIns="0" rIns="0" tIns="0" wrap="square">
            <a:spAutoFit/>
          </a:bodyPr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1" sz="2600" i="0">
                <a:solidFill>
                  <a:srgbClr val="108A5C"/>
                </a:solidFill>
                <a:latin typeface="Segoe UI Semibold"/>
              </a:rPr>
              <a:t>$</a:t>
            </a:r>
          </a:p>
        </p:txBody>
      </p:sp>
      <p:sp>
        <p:nvSpPr>
          <p:cNvPr id="1049106" name="TextBox 40"/>
          <p:cNvSpPr txBox="1"/>
          <p:nvPr/>
        </p:nvSpPr>
        <p:spPr>
          <a:xfrm>
            <a:off x="3017520" y="3337560"/>
            <a:ext cx="1664208" cy="64008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1" sz="1700" i="0">
                <a:solidFill>
                  <a:srgbClr val="14181F"/>
                </a:solidFill>
                <a:latin typeface="Georgia"/>
              </a:rPr>
              <a:t>Cost-Efficiency</a:t>
            </a:r>
          </a:p>
        </p:txBody>
      </p:sp>
      <p:sp>
        <p:nvSpPr>
          <p:cNvPr id="1049107" name="Rectangle 41"/>
          <p:cNvSpPr/>
          <p:nvPr/>
        </p:nvSpPr>
        <p:spPr>
          <a:xfrm>
            <a:off x="3575304" y="4069080"/>
            <a:ext cx="548640" cy="25400"/>
          </a:xfrm>
          <a:prstGeom prst="rect"/>
          <a:solidFill>
            <a:srgbClr val="108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9108" name="TextBox 42"/>
          <p:cNvSpPr txBox="1"/>
          <p:nvPr/>
        </p:nvSpPr>
        <p:spPr>
          <a:xfrm>
            <a:off x="3063240" y="4297680"/>
            <a:ext cx="1572768" cy="128016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b="0" sz="1200" i="0">
                <a:solidFill>
                  <a:srgbClr val="3A4049"/>
                </a:solidFill>
                <a:latin typeface="Segoe UI"/>
              </a:rPr>
              <a:t>Casing rules run locally at zero token cost, saving LLM bandwidth for semantic work.</a:t>
            </a:r>
          </a:p>
        </p:txBody>
      </p:sp>
      <p:sp>
        <p:nvSpPr>
          <p:cNvPr id="1049109" name="Rounded Rectangle 43"/>
          <p:cNvSpPr/>
          <p:nvPr/>
        </p:nvSpPr>
        <p:spPr>
          <a:xfrm>
            <a:off x="5020056" y="1965960"/>
            <a:ext cx="2121408" cy="3657600"/>
          </a:xfrm>
          <a:prstGeom prst="roundRect">
            <a:avLst>
              <a:gd name="adj" fmla="val 5000"/>
            </a:avLst>
          </a:prstGeom>
          <a:solidFill>
            <a:srgbClr val="FFFEFB"/>
          </a:solidFill>
          <a:ln w="12700">
            <a:solidFill>
              <a:srgbClr val="D3CD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9110" name="Rectangle 44"/>
          <p:cNvSpPr/>
          <p:nvPr/>
        </p:nvSpPr>
        <p:spPr>
          <a:xfrm>
            <a:off x="5020056" y="1965960"/>
            <a:ext cx="2121408" cy="63500"/>
          </a:xfrm>
          <a:prstGeom prst="rect"/>
          <a:solidFill>
            <a:srgbClr val="E25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9111" name="Oval 45"/>
          <p:cNvSpPr/>
          <p:nvPr/>
        </p:nvSpPr>
        <p:spPr>
          <a:xfrm>
            <a:off x="5660136" y="2331720"/>
            <a:ext cx="822960" cy="822960"/>
          </a:xfrm>
          <a:prstGeom prst="ellipse"/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9112" name="TextBox 46"/>
          <p:cNvSpPr txBox="1"/>
          <p:nvPr/>
        </p:nvSpPr>
        <p:spPr>
          <a:xfrm>
            <a:off x="5660136" y="2331720"/>
            <a:ext cx="822960" cy="822960"/>
          </a:xfrm>
          <a:prstGeom prst="rect"/>
          <a:noFill/>
        </p:spPr>
        <p:txBody>
          <a:bodyPr anchor="ctr" bIns="0" lIns="0" rIns="0" tIns="0" wrap="square">
            <a:spAutoFit/>
          </a:bodyPr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1" sz="2600" i="0">
                <a:solidFill>
                  <a:srgbClr val="E2563B"/>
                </a:solidFill>
                <a:latin typeface="Segoe UI Semibold"/>
              </a:rPr>
              <a:t>✓</a:t>
            </a:r>
          </a:p>
        </p:txBody>
      </p:sp>
      <p:sp>
        <p:nvSpPr>
          <p:cNvPr id="1049113" name="TextBox 47"/>
          <p:cNvSpPr txBox="1"/>
          <p:nvPr/>
        </p:nvSpPr>
        <p:spPr>
          <a:xfrm>
            <a:off x="5248656" y="3337560"/>
            <a:ext cx="1664208" cy="64008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1" sz="1700" i="0">
                <a:solidFill>
                  <a:srgbClr val="14181F"/>
                </a:solidFill>
                <a:latin typeface="Georgia"/>
              </a:rPr>
              <a:t>Syntax Security</a:t>
            </a:r>
          </a:p>
        </p:txBody>
      </p:sp>
      <p:sp>
        <p:nvSpPr>
          <p:cNvPr id="1049114" name="Rectangle 48"/>
          <p:cNvSpPr/>
          <p:nvPr/>
        </p:nvSpPr>
        <p:spPr>
          <a:xfrm>
            <a:off x="5806440" y="4069080"/>
            <a:ext cx="548640" cy="25400"/>
          </a:xfrm>
          <a:prstGeom prst="rect"/>
          <a:solidFill>
            <a:srgbClr val="E25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9115" name="TextBox 49"/>
          <p:cNvSpPr txBox="1"/>
          <p:nvPr/>
        </p:nvSpPr>
        <p:spPr>
          <a:xfrm>
            <a:off x="5294376" y="4297680"/>
            <a:ext cx="1572768" cy="128016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b="0" sz="1200" i="0">
                <a:solidFill>
                  <a:srgbClr val="3A4049"/>
                </a:solidFill>
                <a:latin typeface="Segoe UI"/>
              </a:rPr>
              <a:t>A self-correcting loop guards the compiler — only valid SQL ships.</a:t>
            </a:r>
          </a:p>
        </p:txBody>
      </p:sp>
      <p:sp>
        <p:nvSpPr>
          <p:cNvPr id="1049116" name="Rounded Rectangle 50"/>
          <p:cNvSpPr/>
          <p:nvPr/>
        </p:nvSpPr>
        <p:spPr>
          <a:xfrm>
            <a:off x="7251192" y="1965960"/>
            <a:ext cx="2121408" cy="3657600"/>
          </a:xfrm>
          <a:prstGeom prst="roundRect">
            <a:avLst>
              <a:gd name="adj" fmla="val 5000"/>
            </a:avLst>
          </a:prstGeom>
          <a:solidFill>
            <a:srgbClr val="FFFEFB"/>
          </a:solidFill>
          <a:ln w="12700">
            <a:solidFill>
              <a:srgbClr val="D3CD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9117" name="Rectangle 51"/>
          <p:cNvSpPr/>
          <p:nvPr/>
        </p:nvSpPr>
        <p:spPr>
          <a:xfrm>
            <a:off x="7251192" y="1965960"/>
            <a:ext cx="2121408" cy="63500"/>
          </a:xfrm>
          <a:prstGeom prst="rect"/>
          <a:solidFill>
            <a:srgbClr val="2D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9118" name="Oval 52"/>
          <p:cNvSpPr/>
          <p:nvPr/>
        </p:nvSpPr>
        <p:spPr>
          <a:xfrm>
            <a:off x="7891272" y="2331720"/>
            <a:ext cx="822960" cy="822960"/>
          </a:xfrm>
          <a:prstGeom prst="ellipse"/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9119" name="TextBox 53"/>
          <p:cNvSpPr txBox="1"/>
          <p:nvPr/>
        </p:nvSpPr>
        <p:spPr>
          <a:xfrm>
            <a:off x="7891272" y="2331720"/>
            <a:ext cx="822960" cy="822960"/>
          </a:xfrm>
          <a:prstGeom prst="rect"/>
          <a:noFill/>
        </p:spPr>
        <p:txBody>
          <a:bodyPr anchor="ctr" bIns="0" lIns="0" rIns="0" tIns="0" wrap="square">
            <a:spAutoFit/>
          </a:bodyPr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1" sz="2600" i="0">
                <a:solidFill>
                  <a:srgbClr val="2D5D8A"/>
                </a:solidFill>
                <a:latin typeface="Segoe UI Semibold"/>
              </a:rPr>
              <a:t>☁</a:t>
            </a:r>
          </a:p>
        </p:txBody>
      </p:sp>
      <p:sp>
        <p:nvSpPr>
          <p:cNvPr id="1049120" name="TextBox 54"/>
          <p:cNvSpPr txBox="1"/>
          <p:nvPr/>
        </p:nvSpPr>
        <p:spPr>
          <a:xfrm>
            <a:off x="7479792" y="3337560"/>
            <a:ext cx="1664208" cy="64008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1" sz="1700" i="0">
                <a:solidFill>
                  <a:srgbClr val="14181F"/>
                </a:solidFill>
                <a:latin typeface="Georgia"/>
              </a:rPr>
              <a:t>Cloud Ready</a:t>
            </a:r>
          </a:p>
        </p:txBody>
      </p:sp>
      <p:sp>
        <p:nvSpPr>
          <p:cNvPr id="1049121" name="Rectangle 55"/>
          <p:cNvSpPr/>
          <p:nvPr/>
        </p:nvSpPr>
        <p:spPr>
          <a:xfrm>
            <a:off x="8037576" y="4069080"/>
            <a:ext cx="548640" cy="25400"/>
          </a:xfrm>
          <a:prstGeom prst="rect"/>
          <a:solidFill>
            <a:srgbClr val="2D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9122" name="TextBox 56"/>
          <p:cNvSpPr txBox="1"/>
          <p:nvPr/>
        </p:nvSpPr>
        <p:spPr>
          <a:xfrm>
            <a:off x="7525512" y="4297680"/>
            <a:ext cx="1572768" cy="128016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b="0" sz="1200" i="0">
                <a:solidFill>
                  <a:srgbClr val="3A4049"/>
                </a:solidFill>
                <a:latin typeface="Segoe UI"/>
              </a:rPr>
              <a:t>In-memory batch uploads run smoothly on isolated servers like Streamlit Cloud.</a:t>
            </a:r>
          </a:p>
        </p:txBody>
      </p:sp>
      <p:sp>
        <p:nvSpPr>
          <p:cNvPr id="1049123" name="Rounded Rectangle 57"/>
          <p:cNvSpPr/>
          <p:nvPr/>
        </p:nvSpPr>
        <p:spPr>
          <a:xfrm>
            <a:off x="9482328" y="1965960"/>
            <a:ext cx="2121408" cy="3657600"/>
          </a:xfrm>
          <a:prstGeom prst="roundRect">
            <a:avLst>
              <a:gd name="adj" fmla="val 5000"/>
            </a:avLst>
          </a:prstGeom>
          <a:solidFill>
            <a:srgbClr val="FFFEFB"/>
          </a:solidFill>
          <a:ln w="12700">
            <a:solidFill>
              <a:srgbClr val="D3CD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9124" name="Rectangle 58"/>
          <p:cNvSpPr/>
          <p:nvPr/>
        </p:nvSpPr>
        <p:spPr>
          <a:xfrm>
            <a:off x="9482328" y="1965960"/>
            <a:ext cx="2121408" cy="63500"/>
          </a:xfrm>
          <a:prstGeom prst="rect"/>
          <a:solidFill>
            <a:srgbClr val="7A3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9125" name="Oval 59"/>
          <p:cNvSpPr/>
          <p:nvPr/>
        </p:nvSpPr>
        <p:spPr>
          <a:xfrm>
            <a:off x="10122408" y="2331720"/>
            <a:ext cx="822960" cy="822960"/>
          </a:xfrm>
          <a:prstGeom prst="ellipse"/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9126" name="TextBox 60"/>
          <p:cNvSpPr txBox="1"/>
          <p:nvPr/>
        </p:nvSpPr>
        <p:spPr>
          <a:xfrm>
            <a:off x="10122408" y="2331720"/>
            <a:ext cx="822960" cy="822960"/>
          </a:xfrm>
          <a:prstGeom prst="rect"/>
          <a:noFill/>
        </p:spPr>
        <p:txBody>
          <a:bodyPr anchor="ctr" bIns="0" lIns="0" rIns="0" tIns="0" wrap="square">
            <a:spAutoFit/>
          </a:bodyPr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1" sz="2600" i="0">
                <a:solidFill>
                  <a:srgbClr val="7A3E6B"/>
                </a:solidFill>
                <a:latin typeface="Segoe UI Semibold"/>
              </a:rPr>
              <a:t>⚙</a:t>
            </a:r>
          </a:p>
        </p:txBody>
      </p:sp>
      <p:sp>
        <p:nvSpPr>
          <p:cNvPr id="1049127" name="TextBox 61"/>
          <p:cNvSpPr txBox="1"/>
          <p:nvPr/>
        </p:nvSpPr>
        <p:spPr>
          <a:xfrm>
            <a:off x="9710928" y="3337560"/>
            <a:ext cx="1664208" cy="64008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1" sz="1700" i="0">
                <a:solidFill>
                  <a:srgbClr val="14181F"/>
                </a:solidFill>
                <a:latin typeface="Georgia"/>
              </a:rPr>
              <a:t>Pipeline Fit</a:t>
            </a:r>
          </a:p>
        </p:txBody>
      </p:sp>
      <p:sp>
        <p:nvSpPr>
          <p:cNvPr id="1049128" name="Rectangle 62"/>
          <p:cNvSpPr/>
          <p:nvPr/>
        </p:nvSpPr>
        <p:spPr>
          <a:xfrm>
            <a:off x="10268712" y="4069080"/>
            <a:ext cx="548640" cy="25400"/>
          </a:xfrm>
          <a:prstGeom prst="rect"/>
          <a:solidFill>
            <a:srgbClr val="7A3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9129" name="TextBox 63"/>
          <p:cNvSpPr txBox="1"/>
          <p:nvPr/>
        </p:nvSpPr>
        <p:spPr>
          <a:xfrm>
            <a:off x="9756648" y="4297680"/>
            <a:ext cx="1572768" cy="128016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b="0" sz="1200" i="0">
                <a:solidFill>
                  <a:srgbClr val="3A4049"/>
                </a:solidFill>
                <a:latin typeface="Segoe UI"/>
              </a:rPr>
              <a:t>Dual CLI + dashboard slots into debugging or Git pre-commit hooks.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7" name=""/>
        <p:cNvGrpSpPr/>
        <p:nvPr/>
      </p:nvGrpSpPr>
      <p:grpSpPr>
        <a:xfrm/>
      </p:grpSpPr>
      <p:sp>
        <p:nvSpPr>
          <p:cNvPr id="1049130" name="Rectangle 1"/>
          <p:cNvSpPr/>
          <p:nvPr/>
        </p:nvSpPr>
        <p:spPr>
          <a:xfrm>
            <a:off x="0" y="0"/>
            <a:ext cx="12191695" cy="6858000"/>
          </a:xfrm>
          <a:prstGeom prst="rect"/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9131" name="Rectangle 2"/>
          <p:cNvSpPr/>
          <p:nvPr/>
        </p:nvSpPr>
        <p:spPr>
          <a:xfrm>
            <a:off x="0" y="0"/>
            <a:ext cx="2331720" cy="6858000"/>
          </a:xfrm>
          <a:prstGeom prst="rect"/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9132" name="Rectangle 3"/>
          <p:cNvSpPr/>
          <p:nvPr/>
        </p:nvSpPr>
        <p:spPr>
          <a:xfrm>
            <a:off x="2293620" y="0"/>
            <a:ext cx="38100" cy="6858000"/>
          </a:xfrm>
          <a:prstGeom prst="rect"/>
          <a:solidFill>
            <a:srgbClr val="2D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9133" name="TextBox 4"/>
          <p:cNvSpPr txBox="1"/>
          <p:nvPr/>
        </p:nvSpPr>
        <p:spPr>
          <a:xfrm>
            <a:off x="365760" y="365760"/>
            <a:ext cx="1828800" cy="36576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1" sz="2000" i="0">
                <a:solidFill>
                  <a:srgbClr val="2D5D8A"/>
                </a:solidFill>
                <a:latin typeface="Georgia"/>
              </a:rPr>
              <a:t>&lt;/&gt;</a:t>
            </a:r>
          </a:p>
        </p:txBody>
      </p:sp>
      <p:sp>
        <p:nvSpPr>
          <p:cNvPr id="1049134" name="TextBox 5"/>
          <p:cNvSpPr txBox="1"/>
          <p:nvPr/>
        </p:nvSpPr>
        <p:spPr>
          <a:xfrm>
            <a:off x="365760" y="804672"/>
            <a:ext cx="1828800" cy="82296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b="1" sz="1200" i="0">
                <a:solidFill>
                  <a:srgbClr val="F4F1EA"/>
                </a:solidFill>
                <a:latin typeface="Segoe UI Semibold"/>
              </a:rPr>
              <a:t>SQL Query Linter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b="0" sz="1200" i="0">
                <a:solidFill>
                  <a:srgbClr val="848074"/>
                </a:solidFill>
                <a:latin typeface="Segoe UI"/>
              </a:rPr>
              <a:t>&amp; Style Fixer</a:t>
            </a:r>
          </a:p>
        </p:txBody>
      </p:sp>
      <p:sp>
        <p:nvSpPr>
          <p:cNvPr id="1049135" name="Rectangle 6"/>
          <p:cNvSpPr/>
          <p:nvPr/>
        </p:nvSpPr>
        <p:spPr>
          <a:xfrm>
            <a:off x="365760" y="1664208"/>
            <a:ext cx="914400" cy="25400"/>
          </a:xfrm>
          <a:prstGeom prst="rect"/>
          <a:solidFill>
            <a:srgbClr val="2D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9136" name="TextBox 7"/>
          <p:cNvSpPr txBox="1"/>
          <p:nvPr/>
        </p:nvSpPr>
        <p:spPr>
          <a:xfrm>
            <a:off x="365760" y="1920240"/>
            <a:ext cx="365760" cy="27432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0" sz="1000" i="0">
                <a:solidFill>
                  <a:srgbClr val="6B6F78"/>
                </a:solidFill>
                <a:latin typeface="Consolas"/>
              </a:rPr>
              <a:t>01</a:t>
            </a:r>
          </a:p>
        </p:txBody>
      </p:sp>
      <p:sp>
        <p:nvSpPr>
          <p:cNvPr id="1049137" name="TextBox 8"/>
          <p:cNvSpPr txBox="1"/>
          <p:nvPr/>
        </p:nvSpPr>
        <p:spPr>
          <a:xfrm>
            <a:off x="804672" y="1920240"/>
            <a:ext cx="1481328" cy="27432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0" sz="1100" i="0">
                <a:solidFill>
                  <a:srgbClr val="9A9DA4"/>
                </a:solidFill>
                <a:latin typeface="Segoe UI"/>
              </a:rPr>
              <a:t>Objective</a:t>
            </a:r>
          </a:p>
        </p:txBody>
      </p:sp>
      <p:sp>
        <p:nvSpPr>
          <p:cNvPr id="1049138" name="TextBox 9"/>
          <p:cNvSpPr txBox="1"/>
          <p:nvPr/>
        </p:nvSpPr>
        <p:spPr>
          <a:xfrm>
            <a:off x="365760" y="2272284"/>
            <a:ext cx="365760" cy="27432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0" sz="1000" i="0">
                <a:solidFill>
                  <a:srgbClr val="6B6F78"/>
                </a:solidFill>
                <a:latin typeface="Consolas"/>
              </a:rPr>
              <a:t>02</a:t>
            </a:r>
          </a:p>
        </p:txBody>
      </p:sp>
      <p:sp>
        <p:nvSpPr>
          <p:cNvPr id="1049139" name="TextBox 10"/>
          <p:cNvSpPr txBox="1"/>
          <p:nvPr/>
        </p:nvSpPr>
        <p:spPr>
          <a:xfrm>
            <a:off x="804672" y="2272284"/>
            <a:ext cx="1481328" cy="27432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0" sz="1100" i="0">
                <a:solidFill>
                  <a:srgbClr val="9A9DA4"/>
                </a:solidFill>
                <a:latin typeface="Segoe UI"/>
              </a:rPr>
              <a:t>Problem</a:t>
            </a:r>
          </a:p>
        </p:txBody>
      </p:sp>
      <p:sp>
        <p:nvSpPr>
          <p:cNvPr id="1049140" name="TextBox 11"/>
          <p:cNvSpPr txBox="1"/>
          <p:nvPr/>
        </p:nvSpPr>
        <p:spPr>
          <a:xfrm>
            <a:off x="365760" y="2624328"/>
            <a:ext cx="365760" cy="27432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0" sz="1000" i="0">
                <a:solidFill>
                  <a:srgbClr val="6B6F78"/>
                </a:solidFill>
                <a:latin typeface="Consolas"/>
              </a:rPr>
              <a:t>03</a:t>
            </a:r>
          </a:p>
        </p:txBody>
      </p:sp>
      <p:sp>
        <p:nvSpPr>
          <p:cNvPr id="1049141" name="TextBox 12"/>
          <p:cNvSpPr txBox="1"/>
          <p:nvPr/>
        </p:nvSpPr>
        <p:spPr>
          <a:xfrm>
            <a:off x="804672" y="2624328"/>
            <a:ext cx="1481328" cy="27432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0" sz="1100" i="0">
                <a:solidFill>
                  <a:srgbClr val="9A9DA4"/>
                </a:solidFill>
                <a:latin typeface="Segoe UI"/>
              </a:rPr>
              <a:t>Approach</a:t>
            </a:r>
          </a:p>
        </p:txBody>
      </p:sp>
      <p:sp>
        <p:nvSpPr>
          <p:cNvPr id="1049142" name="TextBox 13"/>
          <p:cNvSpPr txBox="1"/>
          <p:nvPr/>
        </p:nvSpPr>
        <p:spPr>
          <a:xfrm>
            <a:off x="365760" y="2976372"/>
            <a:ext cx="365760" cy="27432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0" sz="1000" i="0">
                <a:solidFill>
                  <a:srgbClr val="6B6F78"/>
                </a:solidFill>
                <a:latin typeface="Consolas"/>
              </a:rPr>
              <a:t>04</a:t>
            </a:r>
          </a:p>
        </p:txBody>
      </p:sp>
      <p:sp>
        <p:nvSpPr>
          <p:cNvPr id="1049143" name="TextBox 14"/>
          <p:cNvSpPr txBox="1"/>
          <p:nvPr/>
        </p:nvSpPr>
        <p:spPr>
          <a:xfrm>
            <a:off x="804672" y="2976372"/>
            <a:ext cx="1481328" cy="27432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0" sz="1100" i="0">
                <a:solidFill>
                  <a:srgbClr val="9A9DA4"/>
                </a:solidFill>
                <a:latin typeface="Segoe UI"/>
              </a:rPr>
              <a:t>Tech Stack</a:t>
            </a:r>
          </a:p>
        </p:txBody>
      </p:sp>
      <p:sp>
        <p:nvSpPr>
          <p:cNvPr id="1049144" name="TextBox 15"/>
          <p:cNvSpPr txBox="1"/>
          <p:nvPr/>
        </p:nvSpPr>
        <p:spPr>
          <a:xfrm>
            <a:off x="365760" y="3328415"/>
            <a:ext cx="365760" cy="27432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0" sz="1000" i="0">
                <a:solidFill>
                  <a:srgbClr val="6B6F78"/>
                </a:solidFill>
                <a:latin typeface="Consolas"/>
              </a:rPr>
              <a:t>05</a:t>
            </a:r>
          </a:p>
        </p:txBody>
      </p:sp>
      <p:sp>
        <p:nvSpPr>
          <p:cNvPr id="1049145" name="TextBox 16"/>
          <p:cNvSpPr txBox="1"/>
          <p:nvPr/>
        </p:nvSpPr>
        <p:spPr>
          <a:xfrm>
            <a:off x="804672" y="3328415"/>
            <a:ext cx="1481328" cy="27432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0" sz="1100" i="0">
                <a:solidFill>
                  <a:srgbClr val="9A9DA4"/>
                </a:solidFill>
                <a:latin typeface="Segoe UI"/>
              </a:rPr>
              <a:t>Architecture</a:t>
            </a:r>
          </a:p>
        </p:txBody>
      </p:sp>
      <p:sp>
        <p:nvSpPr>
          <p:cNvPr id="1049146" name="TextBox 17"/>
          <p:cNvSpPr txBox="1"/>
          <p:nvPr/>
        </p:nvSpPr>
        <p:spPr>
          <a:xfrm>
            <a:off x="365760" y="3680459"/>
            <a:ext cx="365760" cy="27432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0" sz="1000" i="0">
                <a:solidFill>
                  <a:srgbClr val="6B6F78"/>
                </a:solidFill>
                <a:latin typeface="Consolas"/>
              </a:rPr>
              <a:t>06</a:t>
            </a:r>
          </a:p>
        </p:txBody>
      </p:sp>
      <p:sp>
        <p:nvSpPr>
          <p:cNvPr id="1049147" name="TextBox 18"/>
          <p:cNvSpPr txBox="1"/>
          <p:nvPr/>
        </p:nvSpPr>
        <p:spPr>
          <a:xfrm>
            <a:off x="804672" y="3680459"/>
            <a:ext cx="1481328" cy="27432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0" sz="1100" i="0">
                <a:solidFill>
                  <a:srgbClr val="9A9DA4"/>
                </a:solidFill>
                <a:latin typeface="Segoe UI"/>
              </a:rPr>
              <a:t>Modules</a:t>
            </a:r>
          </a:p>
        </p:txBody>
      </p:sp>
      <p:sp>
        <p:nvSpPr>
          <p:cNvPr id="1049148" name="TextBox 19"/>
          <p:cNvSpPr txBox="1"/>
          <p:nvPr/>
        </p:nvSpPr>
        <p:spPr>
          <a:xfrm>
            <a:off x="365760" y="4032503"/>
            <a:ext cx="365760" cy="27432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0" sz="1000" i="0">
                <a:solidFill>
                  <a:srgbClr val="6B6F78"/>
                </a:solidFill>
                <a:latin typeface="Consolas"/>
              </a:rPr>
              <a:t>07</a:t>
            </a:r>
          </a:p>
        </p:txBody>
      </p:sp>
      <p:sp>
        <p:nvSpPr>
          <p:cNvPr id="1049149" name="TextBox 20"/>
          <p:cNvSpPr txBox="1"/>
          <p:nvPr/>
        </p:nvSpPr>
        <p:spPr>
          <a:xfrm>
            <a:off x="804672" y="4032503"/>
            <a:ext cx="1481328" cy="27432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0" sz="1100" i="0">
                <a:solidFill>
                  <a:srgbClr val="9A9DA4"/>
                </a:solidFill>
                <a:latin typeface="Segoe UI"/>
              </a:rPr>
              <a:t>Before / After</a:t>
            </a:r>
          </a:p>
        </p:txBody>
      </p:sp>
      <p:sp>
        <p:nvSpPr>
          <p:cNvPr id="1049150" name="TextBox 21"/>
          <p:cNvSpPr txBox="1"/>
          <p:nvPr/>
        </p:nvSpPr>
        <p:spPr>
          <a:xfrm>
            <a:off x="365760" y="4384547"/>
            <a:ext cx="365760" cy="27432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0" sz="1000" i="0">
                <a:solidFill>
                  <a:srgbClr val="6B6F78"/>
                </a:solidFill>
                <a:latin typeface="Consolas"/>
              </a:rPr>
              <a:t>08</a:t>
            </a:r>
          </a:p>
        </p:txBody>
      </p:sp>
      <p:sp>
        <p:nvSpPr>
          <p:cNvPr id="1049151" name="TextBox 22"/>
          <p:cNvSpPr txBox="1"/>
          <p:nvPr/>
        </p:nvSpPr>
        <p:spPr>
          <a:xfrm>
            <a:off x="804672" y="4384547"/>
            <a:ext cx="1481328" cy="27432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0" sz="1100" i="0">
                <a:solidFill>
                  <a:srgbClr val="9A9DA4"/>
                </a:solidFill>
                <a:latin typeface="Segoe UI"/>
              </a:rPr>
              <a:t>Validation</a:t>
            </a:r>
          </a:p>
        </p:txBody>
      </p:sp>
      <p:sp>
        <p:nvSpPr>
          <p:cNvPr id="1049152" name="TextBox 23"/>
          <p:cNvSpPr txBox="1"/>
          <p:nvPr/>
        </p:nvSpPr>
        <p:spPr>
          <a:xfrm>
            <a:off x="365760" y="4736591"/>
            <a:ext cx="365760" cy="27432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0" sz="1000" i="0">
                <a:solidFill>
                  <a:srgbClr val="6B6F78"/>
                </a:solidFill>
                <a:latin typeface="Consolas"/>
              </a:rPr>
              <a:t>09</a:t>
            </a:r>
          </a:p>
        </p:txBody>
      </p:sp>
      <p:sp>
        <p:nvSpPr>
          <p:cNvPr id="1049153" name="TextBox 24"/>
          <p:cNvSpPr txBox="1"/>
          <p:nvPr/>
        </p:nvSpPr>
        <p:spPr>
          <a:xfrm>
            <a:off x="804672" y="4736591"/>
            <a:ext cx="1481328" cy="27432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0" sz="1100" i="0">
                <a:solidFill>
                  <a:srgbClr val="9A9DA4"/>
                </a:solidFill>
                <a:latin typeface="Segoe UI"/>
              </a:rPr>
              <a:t>Advantages</a:t>
            </a:r>
          </a:p>
        </p:txBody>
      </p:sp>
      <p:sp>
        <p:nvSpPr>
          <p:cNvPr id="1049154" name="Rectangle 25"/>
          <p:cNvSpPr/>
          <p:nvPr/>
        </p:nvSpPr>
        <p:spPr>
          <a:xfrm>
            <a:off x="0" y="5061203"/>
            <a:ext cx="73152" cy="310896"/>
          </a:xfrm>
          <a:prstGeom prst="rect"/>
          <a:solidFill>
            <a:srgbClr val="2D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9155" name="TextBox 26"/>
          <p:cNvSpPr txBox="1"/>
          <p:nvPr/>
        </p:nvSpPr>
        <p:spPr>
          <a:xfrm>
            <a:off x="365760" y="5088635"/>
            <a:ext cx="365760" cy="27432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1" sz="1000" i="0">
                <a:solidFill>
                  <a:srgbClr val="2D5D8A"/>
                </a:solidFill>
                <a:latin typeface="Consolas"/>
              </a:rPr>
              <a:t>10</a:t>
            </a:r>
          </a:p>
        </p:txBody>
      </p:sp>
      <p:sp>
        <p:nvSpPr>
          <p:cNvPr id="1049156" name="TextBox 27"/>
          <p:cNvSpPr txBox="1"/>
          <p:nvPr/>
        </p:nvSpPr>
        <p:spPr>
          <a:xfrm>
            <a:off x="804672" y="5088635"/>
            <a:ext cx="1481328" cy="27432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1" sz="1100" i="0">
                <a:solidFill>
                  <a:srgbClr val="F4F1EA"/>
                </a:solidFill>
                <a:latin typeface="Segoe UI Semibold"/>
              </a:rPr>
              <a:t>Results</a:t>
            </a:r>
          </a:p>
        </p:txBody>
      </p:sp>
      <p:sp>
        <p:nvSpPr>
          <p:cNvPr id="1049157" name="TextBox 28"/>
          <p:cNvSpPr txBox="1"/>
          <p:nvPr/>
        </p:nvSpPr>
        <p:spPr>
          <a:xfrm>
            <a:off x="365760" y="5440679"/>
            <a:ext cx="365760" cy="27432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0" sz="1000" i="0">
                <a:solidFill>
                  <a:srgbClr val="6B6F78"/>
                </a:solidFill>
                <a:latin typeface="Consolas"/>
              </a:rPr>
              <a:t>11</a:t>
            </a:r>
          </a:p>
        </p:txBody>
      </p:sp>
      <p:sp>
        <p:nvSpPr>
          <p:cNvPr id="1049158" name="TextBox 29"/>
          <p:cNvSpPr txBox="1"/>
          <p:nvPr/>
        </p:nvSpPr>
        <p:spPr>
          <a:xfrm>
            <a:off x="804672" y="5440679"/>
            <a:ext cx="1481328" cy="27432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0" sz="1100" i="0">
                <a:solidFill>
                  <a:srgbClr val="9A9DA4"/>
                </a:solidFill>
                <a:latin typeface="Segoe UI"/>
              </a:rPr>
              <a:t>Future Scope</a:t>
            </a:r>
          </a:p>
        </p:txBody>
      </p:sp>
      <p:sp>
        <p:nvSpPr>
          <p:cNvPr id="1049159" name="TextBox 30"/>
          <p:cNvSpPr txBox="1"/>
          <p:nvPr/>
        </p:nvSpPr>
        <p:spPr>
          <a:xfrm>
            <a:off x="365760" y="5792723"/>
            <a:ext cx="365760" cy="27432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0" sz="1000" i="0">
                <a:solidFill>
                  <a:srgbClr val="6B6F78"/>
                </a:solidFill>
                <a:latin typeface="Consolas"/>
              </a:rPr>
              <a:t>12</a:t>
            </a:r>
          </a:p>
        </p:txBody>
      </p:sp>
      <p:sp>
        <p:nvSpPr>
          <p:cNvPr id="1049160" name="TextBox 31"/>
          <p:cNvSpPr txBox="1"/>
          <p:nvPr/>
        </p:nvSpPr>
        <p:spPr>
          <a:xfrm>
            <a:off x="804672" y="5792723"/>
            <a:ext cx="1481328" cy="27432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0" sz="1100" i="0">
                <a:solidFill>
                  <a:srgbClr val="9A9DA4"/>
                </a:solidFill>
                <a:latin typeface="Segoe UI"/>
              </a:rPr>
              <a:t>Conclusion</a:t>
            </a:r>
          </a:p>
        </p:txBody>
      </p:sp>
      <p:sp>
        <p:nvSpPr>
          <p:cNvPr id="1049161" name="TextBox 32"/>
          <p:cNvSpPr txBox="1"/>
          <p:nvPr/>
        </p:nvSpPr>
        <p:spPr>
          <a:xfrm>
            <a:off x="365760" y="6400800"/>
            <a:ext cx="1920240" cy="27432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0" sz="850" i="0">
                <a:solidFill>
                  <a:srgbClr val="848074"/>
                </a:solidFill>
                <a:latin typeface="Segoe UI"/>
              </a:rPr>
              <a:t>DIET · TEAM 20</a:t>
            </a:r>
          </a:p>
        </p:txBody>
      </p:sp>
      <p:sp>
        <p:nvSpPr>
          <p:cNvPr id="1049162" name="TextBox 33"/>
          <p:cNvSpPr txBox="1"/>
          <p:nvPr/>
        </p:nvSpPr>
        <p:spPr>
          <a:xfrm>
            <a:off x="2788920" y="502920"/>
            <a:ext cx="8229600" cy="27432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1" sz="1200" i="0">
                <a:solidFill>
                  <a:srgbClr val="2D5D8A"/>
                </a:solidFill>
                <a:latin typeface="Segoe UI Semibold"/>
              </a:rPr>
              <a:t>OUTCOMES</a:t>
            </a:r>
          </a:p>
        </p:txBody>
      </p:sp>
      <p:sp>
        <p:nvSpPr>
          <p:cNvPr id="1049163" name="TextBox 34"/>
          <p:cNvSpPr txBox="1"/>
          <p:nvPr/>
        </p:nvSpPr>
        <p:spPr>
          <a:xfrm>
            <a:off x="2788920" y="841248"/>
            <a:ext cx="8961120" cy="86868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1" sz="3400" i="0">
                <a:solidFill>
                  <a:srgbClr val="14181F"/>
                </a:solidFill>
                <a:latin typeface="Georgia"/>
              </a:rPr>
              <a:t>Results &amp; Impact</a:t>
            </a:r>
          </a:p>
        </p:txBody>
      </p:sp>
      <p:sp>
        <p:nvSpPr>
          <p:cNvPr id="1049164" name="Rectangle 35"/>
          <p:cNvSpPr/>
          <p:nvPr/>
        </p:nvSpPr>
        <p:spPr>
          <a:xfrm>
            <a:off x="2808920" y="1536192"/>
            <a:ext cx="685800" cy="38100"/>
          </a:xfrm>
          <a:prstGeom prst="rect"/>
          <a:solidFill>
            <a:srgbClr val="2D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9165" name="Rounded Rectangle 36"/>
          <p:cNvSpPr/>
          <p:nvPr/>
        </p:nvSpPr>
        <p:spPr>
          <a:xfrm>
            <a:off x="2788920" y="1965960"/>
            <a:ext cx="2121408" cy="2286000"/>
          </a:xfrm>
          <a:prstGeom prst="roundRect">
            <a:avLst>
              <a:gd name="adj" fmla="val 6000"/>
            </a:avLst>
          </a:prstGeom>
          <a:solidFill>
            <a:srgbClr val="FFFEFB"/>
          </a:solidFill>
          <a:ln w="12700">
            <a:solidFill>
              <a:srgbClr val="D3CD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9166" name="Rectangle 37"/>
          <p:cNvSpPr/>
          <p:nvPr/>
        </p:nvSpPr>
        <p:spPr>
          <a:xfrm>
            <a:off x="2788920" y="1965960"/>
            <a:ext cx="2121408" cy="63500"/>
          </a:xfrm>
          <a:prstGeom prst="rect"/>
          <a:solidFill>
            <a:srgbClr val="108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9167" name="TextBox 38"/>
          <p:cNvSpPr txBox="1"/>
          <p:nvPr/>
        </p:nvSpPr>
        <p:spPr>
          <a:xfrm>
            <a:off x="2926080" y="2286000"/>
            <a:ext cx="1847088" cy="822960"/>
          </a:xfrm>
          <a:prstGeom prst="rect"/>
          <a:noFill/>
        </p:spPr>
        <p:txBody>
          <a:bodyPr anchor="ctr" bIns="0" lIns="0" rIns="0" tIns="0" wrap="square">
            <a:spAutoFit/>
          </a:bodyPr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1" sz="4800" i="0">
                <a:solidFill>
                  <a:srgbClr val="108A5C"/>
                </a:solidFill>
                <a:latin typeface="Georgia"/>
              </a:rPr>
              <a:t>0</a:t>
            </a:r>
          </a:p>
        </p:txBody>
      </p:sp>
      <p:sp>
        <p:nvSpPr>
          <p:cNvPr id="1049168" name="TextBox 39"/>
          <p:cNvSpPr txBox="1"/>
          <p:nvPr/>
        </p:nvSpPr>
        <p:spPr>
          <a:xfrm>
            <a:off x="2971800" y="3154680"/>
            <a:ext cx="1755648" cy="27432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1" sz="1100" i="0">
                <a:solidFill>
                  <a:srgbClr val="14181F"/>
                </a:solidFill>
                <a:latin typeface="Segoe UI Semibold"/>
              </a:rPr>
              <a:t>TOKEN COST</a:t>
            </a:r>
          </a:p>
        </p:txBody>
      </p:sp>
      <p:sp>
        <p:nvSpPr>
          <p:cNvPr id="1049169" name="TextBox 40"/>
          <p:cNvSpPr txBox="1"/>
          <p:nvPr/>
        </p:nvSpPr>
        <p:spPr>
          <a:xfrm>
            <a:off x="3017520" y="3493008"/>
            <a:ext cx="1664208" cy="64008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b="0" sz="1100" i="0">
                <a:solidFill>
                  <a:srgbClr val="3A4049"/>
                </a:solidFill>
                <a:latin typeface="Segoe UI"/>
              </a:rPr>
              <a:t>Casing &amp; formatting handled locally</a:t>
            </a:r>
          </a:p>
        </p:txBody>
      </p:sp>
      <p:sp>
        <p:nvSpPr>
          <p:cNvPr id="1049170" name="Rounded Rectangle 41"/>
          <p:cNvSpPr/>
          <p:nvPr/>
        </p:nvSpPr>
        <p:spPr>
          <a:xfrm>
            <a:off x="5020056" y="1965960"/>
            <a:ext cx="2121408" cy="2286000"/>
          </a:xfrm>
          <a:prstGeom prst="roundRect">
            <a:avLst>
              <a:gd name="adj" fmla="val 6000"/>
            </a:avLst>
          </a:prstGeom>
          <a:solidFill>
            <a:srgbClr val="FFFEFB"/>
          </a:solidFill>
          <a:ln w="12700">
            <a:solidFill>
              <a:srgbClr val="D3CD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9171" name="Rectangle 42"/>
          <p:cNvSpPr/>
          <p:nvPr/>
        </p:nvSpPr>
        <p:spPr>
          <a:xfrm>
            <a:off x="5020056" y="1965960"/>
            <a:ext cx="2121408" cy="63500"/>
          </a:xfrm>
          <a:prstGeom prst="rect"/>
          <a:solidFill>
            <a:srgbClr val="C89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9172" name="TextBox 43"/>
          <p:cNvSpPr txBox="1"/>
          <p:nvPr/>
        </p:nvSpPr>
        <p:spPr>
          <a:xfrm>
            <a:off x="5157216" y="2286000"/>
            <a:ext cx="1847088" cy="822960"/>
          </a:xfrm>
          <a:prstGeom prst="rect"/>
          <a:noFill/>
        </p:spPr>
        <p:txBody>
          <a:bodyPr anchor="ctr" bIns="0" lIns="0" rIns="0" tIns="0" wrap="square">
            <a:spAutoFit/>
          </a:bodyPr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1" sz="4800" i="0">
                <a:solidFill>
                  <a:srgbClr val="C8962E"/>
                </a:solidFill>
                <a:latin typeface="Georgia"/>
              </a:rPr>
              <a:t>2</a:t>
            </a:r>
          </a:p>
        </p:txBody>
      </p:sp>
      <p:sp>
        <p:nvSpPr>
          <p:cNvPr id="1049173" name="TextBox 44"/>
          <p:cNvSpPr txBox="1"/>
          <p:nvPr/>
        </p:nvSpPr>
        <p:spPr>
          <a:xfrm>
            <a:off x="5202936" y="3154680"/>
            <a:ext cx="1755648" cy="27432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1" sz="1100" i="0">
                <a:solidFill>
                  <a:srgbClr val="14181F"/>
                </a:solidFill>
                <a:latin typeface="Segoe UI Semibold"/>
              </a:rPr>
              <a:t>PHASE PIPELINE</a:t>
            </a:r>
          </a:p>
        </p:txBody>
      </p:sp>
      <p:sp>
        <p:nvSpPr>
          <p:cNvPr id="1049174" name="TextBox 45"/>
          <p:cNvSpPr txBox="1"/>
          <p:nvPr/>
        </p:nvSpPr>
        <p:spPr>
          <a:xfrm>
            <a:off x="5248656" y="3493008"/>
            <a:ext cx="1664208" cy="64008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b="0" sz="1100" i="0">
                <a:solidFill>
                  <a:srgbClr val="3A4049"/>
                </a:solidFill>
                <a:latin typeface="Segoe UI"/>
              </a:rPr>
              <a:t>Local linter + AI semantic refactor</a:t>
            </a:r>
          </a:p>
        </p:txBody>
      </p:sp>
      <p:sp>
        <p:nvSpPr>
          <p:cNvPr id="1049175" name="Rounded Rectangle 46"/>
          <p:cNvSpPr/>
          <p:nvPr/>
        </p:nvSpPr>
        <p:spPr>
          <a:xfrm>
            <a:off x="7251192" y="1965960"/>
            <a:ext cx="2121408" cy="2286000"/>
          </a:xfrm>
          <a:prstGeom prst="roundRect">
            <a:avLst>
              <a:gd name="adj" fmla="val 6000"/>
            </a:avLst>
          </a:prstGeom>
          <a:solidFill>
            <a:srgbClr val="FFFEFB"/>
          </a:solidFill>
          <a:ln w="12700">
            <a:solidFill>
              <a:srgbClr val="D3CD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9176" name="Rectangle 47"/>
          <p:cNvSpPr/>
          <p:nvPr/>
        </p:nvSpPr>
        <p:spPr>
          <a:xfrm>
            <a:off x="7251192" y="1965960"/>
            <a:ext cx="2121408" cy="63500"/>
          </a:xfrm>
          <a:prstGeom prst="rect"/>
          <a:solidFill>
            <a:srgbClr val="2D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9177" name="TextBox 48"/>
          <p:cNvSpPr txBox="1"/>
          <p:nvPr/>
        </p:nvSpPr>
        <p:spPr>
          <a:xfrm>
            <a:off x="7388352" y="2286000"/>
            <a:ext cx="1847088" cy="822960"/>
          </a:xfrm>
          <a:prstGeom prst="rect"/>
          <a:noFill/>
        </p:spPr>
        <p:txBody>
          <a:bodyPr anchor="ctr" bIns="0" lIns="0" rIns="0" tIns="0" wrap="square">
            <a:spAutoFit/>
          </a:bodyPr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1" sz="3400" i="0">
                <a:solidFill>
                  <a:srgbClr val="2D5D8A"/>
                </a:solidFill>
                <a:latin typeface="Georgia"/>
              </a:rPr>
              <a:t>100%</a:t>
            </a:r>
          </a:p>
        </p:txBody>
      </p:sp>
      <p:sp>
        <p:nvSpPr>
          <p:cNvPr id="1049178" name="TextBox 49"/>
          <p:cNvSpPr txBox="1"/>
          <p:nvPr/>
        </p:nvSpPr>
        <p:spPr>
          <a:xfrm>
            <a:off x="7434072" y="3154680"/>
            <a:ext cx="1755648" cy="27432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1" sz="1100" i="0">
                <a:solidFill>
                  <a:srgbClr val="14181F"/>
                </a:solidFill>
                <a:latin typeface="Segoe UI Semibold"/>
              </a:rPr>
              <a:t>AST-VERIFIED</a:t>
            </a:r>
          </a:p>
        </p:txBody>
      </p:sp>
      <p:sp>
        <p:nvSpPr>
          <p:cNvPr id="1049179" name="TextBox 50"/>
          <p:cNvSpPr txBox="1"/>
          <p:nvPr/>
        </p:nvSpPr>
        <p:spPr>
          <a:xfrm>
            <a:off x="7479792" y="3493008"/>
            <a:ext cx="1664208" cy="64008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b="0" sz="1100" i="0">
                <a:solidFill>
                  <a:srgbClr val="3A4049"/>
                </a:solidFill>
                <a:latin typeface="Segoe UI"/>
              </a:rPr>
              <a:t>Only parser-valid SQL is released</a:t>
            </a:r>
          </a:p>
        </p:txBody>
      </p:sp>
      <p:sp>
        <p:nvSpPr>
          <p:cNvPr id="1049180" name="Rounded Rectangle 51"/>
          <p:cNvSpPr/>
          <p:nvPr/>
        </p:nvSpPr>
        <p:spPr>
          <a:xfrm>
            <a:off x="9482328" y="1965960"/>
            <a:ext cx="2121408" cy="2286000"/>
          </a:xfrm>
          <a:prstGeom prst="roundRect">
            <a:avLst>
              <a:gd name="adj" fmla="val 6000"/>
            </a:avLst>
          </a:prstGeom>
          <a:solidFill>
            <a:srgbClr val="FFFEFB"/>
          </a:solidFill>
          <a:ln w="12700">
            <a:solidFill>
              <a:srgbClr val="D3CD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9181" name="Rectangle 52"/>
          <p:cNvSpPr/>
          <p:nvPr/>
        </p:nvSpPr>
        <p:spPr>
          <a:xfrm>
            <a:off x="9482328" y="1965960"/>
            <a:ext cx="2121408" cy="63500"/>
          </a:xfrm>
          <a:prstGeom prst="rect"/>
          <a:solidFill>
            <a:srgbClr val="7A3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9182" name="TextBox 53"/>
          <p:cNvSpPr txBox="1"/>
          <p:nvPr/>
        </p:nvSpPr>
        <p:spPr>
          <a:xfrm>
            <a:off x="9619488" y="2286000"/>
            <a:ext cx="1847088" cy="822960"/>
          </a:xfrm>
          <a:prstGeom prst="rect"/>
          <a:noFill/>
        </p:spPr>
        <p:txBody>
          <a:bodyPr anchor="ctr" bIns="0" lIns="0" rIns="0" tIns="0" wrap="square">
            <a:spAutoFit/>
          </a:bodyPr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1" sz="4800" i="0">
                <a:solidFill>
                  <a:srgbClr val="7A3E6B"/>
                </a:solidFill>
                <a:latin typeface="Georgia"/>
              </a:rPr>
              <a:t>2</a:t>
            </a:r>
          </a:p>
        </p:txBody>
      </p:sp>
      <p:sp>
        <p:nvSpPr>
          <p:cNvPr id="1049183" name="TextBox 54"/>
          <p:cNvSpPr txBox="1"/>
          <p:nvPr/>
        </p:nvSpPr>
        <p:spPr>
          <a:xfrm>
            <a:off x="9665208" y="3154680"/>
            <a:ext cx="1755648" cy="27432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1" sz="1100" i="0">
                <a:solidFill>
                  <a:srgbClr val="14181F"/>
                </a:solidFill>
                <a:latin typeface="Segoe UI Semibold"/>
              </a:rPr>
              <a:t>INTERFACES</a:t>
            </a:r>
          </a:p>
        </p:txBody>
      </p:sp>
      <p:sp>
        <p:nvSpPr>
          <p:cNvPr id="1049184" name="TextBox 55"/>
          <p:cNvSpPr txBox="1"/>
          <p:nvPr/>
        </p:nvSpPr>
        <p:spPr>
          <a:xfrm>
            <a:off x="9710928" y="3493008"/>
            <a:ext cx="1664208" cy="64008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b="0" sz="1100" i="0">
                <a:solidFill>
                  <a:srgbClr val="3A4049"/>
                </a:solidFill>
                <a:latin typeface="Segoe UI"/>
              </a:rPr>
              <a:t>Web dashboard + automated CLI</a:t>
            </a:r>
          </a:p>
        </p:txBody>
      </p:sp>
      <p:sp>
        <p:nvSpPr>
          <p:cNvPr id="1049185" name="Rounded Rectangle 56"/>
          <p:cNvSpPr/>
          <p:nvPr/>
        </p:nvSpPr>
        <p:spPr>
          <a:xfrm>
            <a:off x="2788920" y="4572000"/>
            <a:ext cx="8778240" cy="1371600"/>
          </a:xfrm>
          <a:prstGeom prst="roundRect">
            <a:avLst>
              <a:gd name="adj" fmla="val 5000"/>
            </a:avLst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9186" name="Rectangle 57"/>
          <p:cNvSpPr/>
          <p:nvPr/>
        </p:nvSpPr>
        <p:spPr>
          <a:xfrm>
            <a:off x="2788920" y="4572000"/>
            <a:ext cx="76200" cy="1371600"/>
          </a:xfrm>
          <a:prstGeom prst="rect"/>
          <a:solidFill>
            <a:srgbClr val="108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9187" name="TextBox 58"/>
          <p:cNvSpPr txBox="1"/>
          <p:nvPr/>
        </p:nvSpPr>
        <p:spPr>
          <a:xfrm>
            <a:off x="3154680" y="4800600"/>
            <a:ext cx="8229600" cy="1005840"/>
          </a:xfrm>
          <a:prstGeom prst="rect"/>
          <a:noFill/>
        </p:spPr>
        <p:txBody>
          <a:bodyPr anchor="ctr" bIns="0" lIns="0" rIns="0" tIns="0" wrap="square">
            <a:spAutoFit/>
          </a:bodyPr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b="1" sz="1500" i="0">
                <a:solidFill>
                  <a:srgbClr val="108A5C"/>
                </a:solidFill>
                <a:latin typeface="Segoe UI Semibold"/>
              </a:rPr>
              <a:t>Net impact:  </a:t>
            </a:r>
            <a:r>
              <a:rPr b="0" sz="1500" i="0">
                <a:solidFill>
                  <a:srgbClr val="F4F1EA"/>
                </a:solidFill>
                <a:latin typeface="Georgia"/>
              </a:rPr>
              <a:t>cleaner, cheaper and verifiably correct SQL — improving developer workflow speed and audit readiness for legacy codebases while preventing AI hallucinations.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8" name=""/>
        <p:cNvGrpSpPr/>
        <p:nvPr/>
      </p:nvGrpSpPr>
      <p:grpSpPr>
        <a:xfrm/>
      </p:grpSpPr>
      <p:sp>
        <p:nvSpPr>
          <p:cNvPr id="1049188" name="Rectangle 1"/>
          <p:cNvSpPr/>
          <p:nvPr/>
        </p:nvSpPr>
        <p:spPr>
          <a:xfrm>
            <a:off x="0" y="0"/>
            <a:ext cx="12191695" cy="6858000"/>
          </a:xfrm>
          <a:prstGeom prst="rect"/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9189" name="Rectangle 2"/>
          <p:cNvSpPr/>
          <p:nvPr/>
        </p:nvSpPr>
        <p:spPr>
          <a:xfrm>
            <a:off x="0" y="0"/>
            <a:ext cx="2331720" cy="6858000"/>
          </a:xfrm>
          <a:prstGeom prst="rect"/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9190" name="Rectangle 3"/>
          <p:cNvSpPr/>
          <p:nvPr/>
        </p:nvSpPr>
        <p:spPr>
          <a:xfrm>
            <a:off x="2293620" y="0"/>
            <a:ext cx="38100" cy="6858000"/>
          </a:xfrm>
          <a:prstGeom prst="rect"/>
          <a:solidFill>
            <a:srgbClr val="C89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9191" name="TextBox 4"/>
          <p:cNvSpPr txBox="1"/>
          <p:nvPr/>
        </p:nvSpPr>
        <p:spPr>
          <a:xfrm>
            <a:off x="365760" y="365760"/>
            <a:ext cx="1828800" cy="36576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1" sz="2000" i="0">
                <a:solidFill>
                  <a:srgbClr val="C8962E"/>
                </a:solidFill>
                <a:latin typeface="Georgia"/>
              </a:rPr>
              <a:t>&lt;/&gt;</a:t>
            </a:r>
          </a:p>
        </p:txBody>
      </p:sp>
      <p:sp>
        <p:nvSpPr>
          <p:cNvPr id="1049192" name="TextBox 5"/>
          <p:cNvSpPr txBox="1"/>
          <p:nvPr/>
        </p:nvSpPr>
        <p:spPr>
          <a:xfrm>
            <a:off x="365760" y="804672"/>
            <a:ext cx="1828800" cy="82296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b="1" sz="1200" i="0">
                <a:solidFill>
                  <a:srgbClr val="F4F1EA"/>
                </a:solidFill>
                <a:latin typeface="Segoe UI Semibold"/>
              </a:rPr>
              <a:t>SQL Query Linter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b="0" sz="1200" i="0">
                <a:solidFill>
                  <a:srgbClr val="848074"/>
                </a:solidFill>
                <a:latin typeface="Segoe UI"/>
              </a:rPr>
              <a:t>&amp; Style Fixer</a:t>
            </a:r>
          </a:p>
        </p:txBody>
      </p:sp>
      <p:sp>
        <p:nvSpPr>
          <p:cNvPr id="1049193" name="Rectangle 6"/>
          <p:cNvSpPr/>
          <p:nvPr/>
        </p:nvSpPr>
        <p:spPr>
          <a:xfrm>
            <a:off x="365760" y="1664208"/>
            <a:ext cx="914400" cy="25400"/>
          </a:xfrm>
          <a:prstGeom prst="rect"/>
          <a:solidFill>
            <a:srgbClr val="C89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9194" name="TextBox 7"/>
          <p:cNvSpPr txBox="1"/>
          <p:nvPr/>
        </p:nvSpPr>
        <p:spPr>
          <a:xfrm>
            <a:off x="365760" y="1920240"/>
            <a:ext cx="365760" cy="27432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0" sz="1000" i="0">
                <a:solidFill>
                  <a:srgbClr val="6B6F78"/>
                </a:solidFill>
                <a:latin typeface="Consolas"/>
              </a:rPr>
              <a:t>01</a:t>
            </a:r>
          </a:p>
        </p:txBody>
      </p:sp>
      <p:sp>
        <p:nvSpPr>
          <p:cNvPr id="1049195" name="TextBox 8"/>
          <p:cNvSpPr txBox="1"/>
          <p:nvPr/>
        </p:nvSpPr>
        <p:spPr>
          <a:xfrm>
            <a:off x="804672" y="1920240"/>
            <a:ext cx="1481328" cy="27432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0" sz="1100" i="0">
                <a:solidFill>
                  <a:srgbClr val="9A9DA4"/>
                </a:solidFill>
                <a:latin typeface="Segoe UI"/>
              </a:rPr>
              <a:t>Objective</a:t>
            </a:r>
          </a:p>
        </p:txBody>
      </p:sp>
      <p:sp>
        <p:nvSpPr>
          <p:cNvPr id="1049196" name="TextBox 9"/>
          <p:cNvSpPr txBox="1"/>
          <p:nvPr/>
        </p:nvSpPr>
        <p:spPr>
          <a:xfrm>
            <a:off x="365760" y="2272284"/>
            <a:ext cx="365760" cy="27432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0" sz="1000" i="0">
                <a:solidFill>
                  <a:srgbClr val="6B6F78"/>
                </a:solidFill>
                <a:latin typeface="Consolas"/>
              </a:rPr>
              <a:t>02</a:t>
            </a:r>
          </a:p>
        </p:txBody>
      </p:sp>
      <p:sp>
        <p:nvSpPr>
          <p:cNvPr id="1049197" name="TextBox 10"/>
          <p:cNvSpPr txBox="1"/>
          <p:nvPr/>
        </p:nvSpPr>
        <p:spPr>
          <a:xfrm>
            <a:off x="804672" y="2272284"/>
            <a:ext cx="1481328" cy="27432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0" sz="1100" i="0">
                <a:solidFill>
                  <a:srgbClr val="9A9DA4"/>
                </a:solidFill>
                <a:latin typeface="Segoe UI"/>
              </a:rPr>
              <a:t>Problem</a:t>
            </a:r>
          </a:p>
        </p:txBody>
      </p:sp>
      <p:sp>
        <p:nvSpPr>
          <p:cNvPr id="1049198" name="TextBox 11"/>
          <p:cNvSpPr txBox="1"/>
          <p:nvPr/>
        </p:nvSpPr>
        <p:spPr>
          <a:xfrm>
            <a:off x="365760" y="2624328"/>
            <a:ext cx="365760" cy="27432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0" sz="1000" i="0">
                <a:solidFill>
                  <a:srgbClr val="6B6F78"/>
                </a:solidFill>
                <a:latin typeface="Consolas"/>
              </a:rPr>
              <a:t>03</a:t>
            </a:r>
          </a:p>
        </p:txBody>
      </p:sp>
      <p:sp>
        <p:nvSpPr>
          <p:cNvPr id="1049199" name="TextBox 12"/>
          <p:cNvSpPr txBox="1"/>
          <p:nvPr/>
        </p:nvSpPr>
        <p:spPr>
          <a:xfrm>
            <a:off x="804672" y="2624328"/>
            <a:ext cx="1481328" cy="27432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0" sz="1100" i="0">
                <a:solidFill>
                  <a:srgbClr val="9A9DA4"/>
                </a:solidFill>
                <a:latin typeface="Segoe UI"/>
              </a:rPr>
              <a:t>Approach</a:t>
            </a:r>
          </a:p>
        </p:txBody>
      </p:sp>
      <p:sp>
        <p:nvSpPr>
          <p:cNvPr id="1049200" name="TextBox 13"/>
          <p:cNvSpPr txBox="1"/>
          <p:nvPr/>
        </p:nvSpPr>
        <p:spPr>
          <a:xfrm>
            <a:off x="365760" y="2976372"/>
            <a:ext cx="365760" cy="27432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0" sz="1000" i="0">
                <a:solidFill>
                  <a:srgbClr val="6B6F78"/>
                </a:solidFill>
                <a:latin typeface="Consolas"/>
              </a:rPr>
              <a:t>04</a:t>
            </a:r>
          </a:p>
        </p:txBody>
      </p:sp>
      <p:sp>
        <p:nvSpPr>
          <p:cNvPr id="1049201" name="TextBox 14"/>
          <p:cNvSpPr txBox="1"/>
          <p:nvPr/>
        </p:nvSpPr>
        <p:spPr>
          <a:xfrm>
            <a:off x="804672" y="2976372"/>
            <a:ext cx="1481328" cy="27432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0" sz="1100" i="0">
                <a:solidFill>
                  <a:srgbClr val="9A9DA4"/>
                </a:solidFill>
                <a:latin typeface="Segoe UI"/>
              </a:rPr>
              <a:t>Tech Stack</a:t>
            </a:r>
          </a:p>
        </p:txBody>
      </p:sp>
      <p:sp>
        <p:nvSpPr>
          <p:cNvPr id="1049202" name="TextBox 15"/>
          <p:cNvSpPr txBox="1"/>
          <p:nvPr/>
        </p:nvSpPr>
        <p:spPr>
          <a:xfrm>
            <a:off x="365760" y="3328415"/>
            <a:ext cx="365760" cy="27432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0" sz="1000" i="0">
                <a:solidFill>
                  <a:srgbClr val="6B6F78"/>
                </a:solidFill>
                <a:latin typeface="Consolas"/>
              </a:rPr>
              <a:t>05</a:t>
            </a:r>
          </a:p>
        </p:txBody>
      </p:sp>
      <p:sp>
        <p:nvSpPr>
          <p:cNvPr id="1049203" name="TextBox 16"/>
          <p:cNvSpPr txBox="1"/>
          <p:nvPr/>
        </p:nvSpPr>
        <p:spPr>
          <a:xfrm>
            <a:off x="804672" y="3328415"/>
            <a:ext cx="1481328" cy="27432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0" sz="1100" i="0">
                <a:solidFill>
                  <a:srgbClr val="9A9DA4"/>
                </a:solidFill>
                <a:latin typeface="Segoe UI"/>
              </a:rPr>
              <a:t>Architecture</a:t>
            </a:r>
          </a:p>
        </p:txBody>
      </p:sp>
      <p:sp>
        <p:nvSpPr>
          <p:cNvPr id="1049204" name="TextBox 17"/>
          <p:cNvSpPr txBox="1"/>
          <p:nvPr/>
        </p:nvSpPr>
        <p:spPr>
          <a:xfrm>
            <a:off x="365760" y="3680459"/>
            <a:ext cx="365760" cy="27432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0" sz="1000" i="0">
                <a:solidFill>
                  <a:srgbClr val="6B6F78"/>
                </a:solidFill>
                <a:latin typeface="Consolas"/>
              </a:rPr>
              <a:t>06</a:t>
            </a:r>
          </a:p>
        </p:txBody>
      </p:sp>
      <p:sp>
        <p:nvSpPr>
          <p:cNvPr id="1049205" name="TextBox 18"/>
          <p:cNvSpPr txBox="1"/>
          <p:nvPr/>
        </p:nvSpPr>
        <p:spPr>
          <a:xfrm>
            <a:off x="804672" y="3680459"/>
            <a:ext cx="1481328" cy="27432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0" sz="1100" i="0">
                <a:solidFill>
                  <a:srgbClr val="9A9DA4"/>
                </a:solidFill>
                <a:latin typeface="Segoe UI"/>
              </a:rPr>
              <a:t>Modules</a:t>
            </a:r>
          </a:p>
        </p:txBody>
      </p:sp>
      <p:sp>
        <p:nvSpPr>
          <p:cNvPr id="1049206" name="TextBox 19"/>
          <p:cNvSpPr txBox="1"/>
          <p:nvPr/>
        </p:nvSpPr>
        <p:spPr>
          <a:xfrm>
            <a:off x="365760" y="4032503"/>
            <a:ext cx="365760" cy="27432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0" sz="1000" i="0">
                <a:solidFill>
                  <a:srgbClr val="6B6F78"/>
                </a:solidFill>
                <a:latin typeface="Consolas"/>
              </a:rPr>
              <a:t>07</a:t>
            </a:r>
          </a:p>
        </p:txBody>
      </p:sp>
      <p:sp>
        <p:nvSpPr>
          <p:cNvPr id="1049207" name="TextBox 20"/>
          <p:cNvSpPr txBox="1"/>
          <p:nvPr/>
        </p:nvSpPr>
        <p:spPr>
          <a:xfrm>
            <a:off x="804672" y="4032503"/>
            <a:ext cx="1481328" cy="27432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0" sz="1100" i="0">
                <a:solidFill>
                  <a:srgbClr val="9A9DA4"/>
                </a:solidFill>
                <a:latin typeface="Segoe UI"/>
              </a:rPr>
              <a:t>Before / After</a:t>
            </a:r>
          </a:p>
        </p:txBody>
      </p:sp>
      <p:sp>
        <p:nvSpPr>
          <p:cNvPr id="1049208" name="TextBox 21"/>
          <p:cNvSpPr txBox="1"/>
          <p:nvPr/>
        </p:nvSpPr>
        <p:spPr>
          <a:xfrm>
            <a:off x="365760" y="4384547"/>
            <a:ext cx="365760" cy="27432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0" sz="1000" i="0">
                <a:solidFill>
                  <a:srgbClr val="6B6F78"/>
                </a:solidFill>
                <a:latin typeface="Consolas"/>
              </a:rPr>
              <a:t>08</a:t>
            </a:r>
          </a:p>
        </p:txBody>
      </p:sp>
      <p:sp>
        <p:nvSpPr>
          <p:cNvPr id="1049209" name="TextBox 22"/>
          <p:cNvSpPr txBox="1"/>
          <p:nvPr/>
        </p:nvSpPr>
        <p:spPr>
          <a:xfrm>
            <a:off x="804672" y="4384547"/>
            <a:ext cx="1481328" cy="27432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0" sz="1100" i="0">
                <a:solidFill>
                  <a:srgbClr val="9A9DA4"/>
                </a:solidFill>
                <a:latin typeface="Segoe UI"/>
              </a:rPr>
              <a:t>Validation</a:t>
            </a:r>
          </a:p>
        </p:txBody>
      </p:sp>
      <p:sp>
        <p:nvSpPr>
          <p:cNvPr id="1049210" name="TextBox 23"/>
          <p:cNvSpPr txBox="1"/>
          <p:nvPr/>
        </p:nvSpPr>
        <p:spPr>
          <a:xfrm>
            <a:off x="365760" y="4736591"/>
            <a:ext cx="365760" cy="27432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0" sz="1000" i="0">
                <a:solidFill>
                  <a:srgbClr val="6B6F78"/>
                </a:solidFill>
                <a:latin typeface="Consolas"/>
              </a:rPr>
              <a:t>09</a:t>
            </a:r>
          </a:p>
        </p:txBody>
      </p:sp>
      <p:sp>
        <p:nvSpPr>
          <p:cNvPr id="1049211" name="TextBox 24"/>
          <p:cNvSpPr txBox="1"/>
          <p:nvPr/>
        </p:nvSpPr>
        <p:spPr>
          <a:xfrm>
            <a:off x="804672" y="4736591"/>
            <a:ext cx="1481328" cy="27432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0" sz="1100" i="0">
                <a:solidFill>
                  <a:srgbClr val="9A9DA4"/>
                </a:solidFill>
                <a:latin typeface="Segoe UI"/>
              </a:rPr>
              <a:t>Advantages</a:t>
            </a:r>
          </a:p>
        </p:txBody>
      </p:sp>
      <p:sp>
        <p:nvSpPr>
          <p:cNvPr id="1049212" name="TextBox 25"/>
          <p:cNvSpPr txBox="1"/>
          <p:nvPr/>
        </p:nvSpPr>
        <p:spPr>
          <a:xfrm>
            <a:off x="365760" y="5088635"/>
            <a:ext cx="365760" cy="27432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0" sz="1000" i="0">
                <a:solidFill>
                  <a:srgbClr val="6B6F78"/>
                </a:solidFill>
                <a:latin typeface="Consolas"/>
              </a:rPr>
              <a:t>10</a:t>
            </a:r>
          </a:p>
        </p:txBody>
      </p:sp>
      <p:sp>
        <p:nvSpPr>
          <p:cNvPr id="1049213" name="TextBox 26"/>
          <p:cNvSpPr txBox="1"/>
          <p:nvPr/>
        </p:nvSpPr>
        <p:spPr>
          <a:xfrm>
            <a:off x="804672" y="5088635"/>
            <a:ext cx="1481328" cy="27432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0" sz="1100" i="0">
                <a:solidFill>
                  <a:srgbClr val="9A9DA4"/>
                </a:solidFill>
                <a:latin typeface="Segoe UI"/>
              </a:rPr>
              <a:t>Results</a:t>
            </a:r>
          </a:p>
        </p:txBody>
      </p:sp>
      <p:sp>
        <p:nvSpPr>
          <p:cNvPr id="1049214" name="Rectangle 27"/>
          <p:cNvSpPr/>
          <p:nvPr/>
        </p:nvSpPr>
        <p:spPr>
          <a:xfrm>
            <a:off x="0" y="5413247"/>
            <a:ext cx="73152" cy="310896"/>
          </a:xfrm>
          <a:prstGeom prst="rect"/>
          <a:solidFill>
            <a:srgbClr val="C89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9215" name="TextBox 28"/>
          <p:cNvSpPr txBox="1"/>
          <p:nvPr/>
        </p:nvSpPr>
        <p:spPr>
          <a:xfrm>
            <a:off x="365760" y="5440679"/>
            <a:ext cx="365760" cy="27432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1" sz="1000" i="0">
                <a:solidFill>
                  <a:srgbClr val="C8962E"/>
                </a:solidFill>
                <a:latin typeface="Consolas"/>
              </a:rPr>
              <a:t>11</a:t>
            </a:r>
          </a:p>
        </p:txBody>
      </p:sp>
      <p:sp>
        <p:nvSpPr>
          <p:cNvPr id="1049216" name="TextBox 29"/>
          <p:cNvSpPr txBox="1"/>
          <p:nvPr/>
        </p:nvSpPr>
        <p:spPr>
          <a:xfrm>
            <a:off x="804672" y="5440679"/>
            <a:ext cx="1481328" cy="27432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1" sz="1100" i="0">
                <a:solidFill>
                  <a:srgbClr val="F4F1EA"/>
                </a:solidFill>
                <a:latin typeface="Segoe UI Semibold"/>
              </a:rPr>
              <a:t>Future Scope</a:t>
            </a:r>
          </a:p>
        </p:txBody>
      </p:sp>
      <p:sp>
        <p:nvSpPr>
          <p:cNvPr id="1049217" name="TextBox 30"/>
          <p:cNvSpPr txBox="1"/>
          <p:nvPr/>
        </p:nvSpPr>
        <p:spPr>
          <a:xfrm>
            <a:off x="365760" y="5792723"/>
            <a:ext cx="365760" cy="27432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0" sz="1000" i="0">
                <a:solidFill>
                  <a:srgbClr val="6B6F78"/>
                </a:solidFill>
                <a:latin typeface="Consolas"/>
              </a:rPr>
              <a:t>12</a:t>
            </a:r>
          </a:p>
        </p:txBody>
      </p:sp>
      <p:sp>
        <p:nvSpPr>
          <p:cNvPr id="1049218" name="TextBox 31"/>
          <p:cNvSpPr txBox="1"/>
          <p:nvPr/>
        </p:nvSpPr>
        <p:spPr>
          <a:xfrm>
            <a:off x="804672" y="5792723"/>
            <a:ext cx="1481328" cy="27432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0" sz="1100" i="0">
                <a:solidFill>
                  <a:srgbClr val="9A9DA4"/>
                </a:solidFill>
                <a:latin typeface="Segoe UI"/>
              </a:rPr>
              <a:t>Conclusion</a:t>
            </a:r>
          </a:p>
        </p:txBody>
      </p:sp>
      <p:sp>
        <p:nvSpPr>
          <p:cNvPr id="1049219" name="TextBox 32"/>
          <p:cNvSpPr txBox="1"/>
          <p:nvPr/>
        </p:nvSpPr>
        <p:spPr>
          <a:xfrm>
            <a:off x="365760" y="6400800"/>
            <a:ext cx="1920240" cy="27432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0" sz="850" i="0">
                <a:solidFill>
                  <a:srgbClr val="848074"/>
                </a:solidFill>
                <a:latin typeface="Segoe UI"/>
              </a:rPr>
              <a:t>DIET · TEAM 20</a:t>
            </a:r>
          </a:p>
        </p:txBody>
      </p:sp>
      <p:sp>
        <p:nvSpPr>
          <p:cNvPr id="1049220" name="TextBox 33"/>
          <p:cNvSpPr txBox="1"/>
          <p:nvPr/>
        </p:nvSpPr>
        <p:spPr>
          <a:xfrm>
            <a:off x="2788920" y="502920"/>
            <a:ext cx="8229600" cy="27432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1" sz="1200" i="0">
                <a:solidFill>
                  <a:srgbClr val="C8962E"/>
                </a:solidFill>
                <a:latin typeface="Segoe UI Semibold"/>
              </a:rPr>
              <a:t>WHAT'S NEXT</a:t>
            </a:r>
          </a:p>
        </p:txBody>
      </p:sp>
      <p:sp>
        <p:nvSpPr>
          <p:cNvPr id="1049221" name="TextBox 34"/>
          <p:cNvSpPr txBox="1"/>
          <p:nvPr/>
        </p:nvSpPr>
        <p:spPr>
          <a:xfrm>
            <a:off x="2788920" y="841248"/>
            <a:ext cx="8961120" cy="86868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1" sz="3400" i="0">
                <a:solidFill>
                  <a:srgbClr val="14181F"/>
                </a:solidFill>
                <a:latin typeface="Georgia"/>
              </a:rPr>
              <a:t>Future Scope</a:t>
            </a:r>
          </a:p>
        </p:txBody>
      </p:sp>
      <p:sp>
        <p:nvSpPr>
          <p:cNvPr id="1049222" name="Rectangle 35"/>
          <p:cNvSpPr/>
          <p:nvPr/>
        </p:nvSpPr>
        <p:spPr>
          <a:xfrm>
            <a:off x="2808920" y="1536192"/>
            <a:ext cx="685800" cy="38100"/>
          </a:xfrm>
          <a:prstGeom prst="rect"/>
          <a:solidFill>
            <a:srgbClr val="C89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9223" name="Rounded Rectangle 36"/>
          <p:cNvSpPr/>
          <p:nvPr/>
        </p:nvSpPr>
        <p:spPr>
          <a:xfrm>
            <a:off x="2788920" y="1828800"/>
            <a:ext cx="868680" cy="713232"/>
          </a:xfrm>
          <a:prstGeom prst="roundRect">
            <a:avLst>
              <a:gd name="adj" fmla="val 10000"/>
            </a:avLst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9224" name="Rectangle 37"/>
          <p:cNvSpPr/>
          <p:nvPr/>
        </p:nvSpPr>
        <p:spPr>
          <a:xfrm>
            <a:off x="2788920" y="1828800"/>
            <a:ext cx="63500" cy="713232"/>
          </a:xfrm>
          <a:prstGeom prst="rect"/>
          <a:solidFill>
            <a:srgbClr val="108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9225" name="TextBox 38"/>
          <p:cNvSpPr txBox="1"/>
          <p:nvPr/>
        </p:nvSpPr>
        <p:spPr>
          <a:xfrm>
            <a:off x="2788920" y="1828800"/>
            <a:ext cx="868680" cy="713232"/>
          </a:xfrm>
          <a:prstGeom prst="rect"/>
          <a:noFill/>
        </p:spPr>
        <p:txBody>
          <a:bodyPr anchor="ctr" bIns="0" lIns="0" rIns="0" tIns="0" wrap="square">
            <a:spAutoFit/>
          </a:bodyPr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1" sz="2000" i="0">
                <a:solidFill>
                  <a:srgbClr val="108A5C"/>
                </a:solidFill>
                <a:latin typeface="Georgia"/>
              </a:rPr>
              <a:t>01</a:t>
            </a:r>
          </a:p>
        </p:txBody>
      </p:sp>
      <p:sp>
        <p:nvSpPr>
          <p:cNvPr id="1049226" name="TextBox 39"/>
          <p:cNvSpPr txBox="1"/>
          <p:nvPr/>
        </p:nvSpPr>
        <p:spPr>
          <a:xfrm>
            <a:off x="3886200" y="1865376"/>
            <a:ext cx="7589520" cy="32004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1" sz="1500" i="0">
                <a:solidFill>
                  <a:srgbClr val="14181F"/>
                </a:solidFill>
                <a:latin typeface="Segoe UI Semibold"/>
              </a:rPr>
              <a:t>Multi-Dialect Support</a:t>
            </a:r>
          </a:p>
        </p:txBody>
      </p:sp>
      <p:sp>
        <p:nvSpPr>
          <p:cNvPr id="1049227" name="TextBox 40"/>
          <p:cNvSpPr txBox="1"/>
          <p:nvPr/>
        </p:nvSpPr>
        <p:spPr>
          <a:xfrm>
            <a:off x="3886200" y="2194560"/>
            <a:ext cx="7589520" cy="36576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b="0" sz="1200" i="0">
                <a:solidFill>
                  <a:srgbClr val="3A4049"/>
                </a:solidFill>
                <a:latin typeface="Segoe UI"/>
              </a:rPr>
              <a:t>Extend beyond ANSI SQL to PostgreSQL, MySQL, BigQuery &amp; Snowflake dialects.</a:t>
            </a:r>
          </a:p>
        </p:txBody>
      </p:sp>
      <p:sp>
        <p:nvSpPr>
          <p:cNvPr id="1049228" name="Rounded Rectangle 41"/>
          <p:cNvSpPr/>
          <p:nvPr/>
        </p:nvSpPr>
        <p:spPr>
          <a:xfrm>
            <a:off x="2788920" y="2670048"/>
            <a:ext cx="868680" cy="713232"/>
          </a:xfrm>
          <a:prstGeom prst="roundRect">
            <a:avLst>
              <a:gd name="adj" fmla="val 10000"/>
            </a:avLst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9229" name="Rectangle 42"/>
          <p:cNvSpPr/>
          <p:nvPr/>
        </p:nvSpPr>
        <p:spPr>
          <a:xfrm>
            <a:off x="2788920" y="2670048"/>
            <a:ext cx="63500" cy="713232"/>
          </a:xfrm>
          <a:prstGeom prst="rect"/>
          <a:solidFill>
            <a:srgbClr val="2D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9230" name="TextBox 43"/>
          <p:cNvSpPr txBox="1"/>
          <p:nvPr/>
        </p:nvSpPr>
        <p:spPr>
          <a:xfrm>
            <a:off x="2788920" y="2670048"/>
            <a:ext cx="868680" cy="713232"/>
          </a:xfrm>
          <a:prstGeom prst="rect"/>
          <a:noFill/>
        </p:spPr>
        <p:txBody>
          <a:bodyPr anchor="ctr" bIns="0" lIns="0" rIns="0" tIns="0" wrap="square">
            <a:spAutoFit/>
          </a:bodyPr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1" sz="2000" i="0">
                <a:solidFill>
                  <a:srgbClr val="2D5D8A"/>
                </a:solidFill>
                <a:latin typeface="Georgia"/>
              </a:rPr>
              <a:t>02</a:t>
            </a:r>
          </a:p>
        </p:txBody>
      </p:sp>
      <p:sp>
        <p:nvSpPr>
          <p:cNvPr id="1049231" name="TextBox 44"/>
          <p:cNvSpPr txBox="1"/>
          <p:nvPr/>
        </p:nvSpPr>
        <p:spPr>
          <a:xfrm>
            <a:off x="3886200" y="2706624"/>
            <a:ext cx="7589520" cy="32004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1" sz="1500" i="0">
                <a:solidFill>
                  <a:srgbClr val="14181F"/>
                </a:solidFill>
                <a:latin typeface="Segoe UI Semibold"/>
              </a:rPr>
              <a:t>IDE / VS Code Plugin</a:t>
            </a:r>
          </a:p>
        </p:txBody>
      </p:sp>
      <p:sp>
        <p:nvSpPr>
          <p:cNvPr id="1049232" name="TextBox 45"/>
          <p:cNvSpPr txBox="1"/>
          <p:nvPr/>
        </p:nvSpPr>
        <p:spPr>
          <a:xfrm>
            <a:off x="3886200" y="3035808"/>
            <a:ext cx="7589520" cy="36576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b="0" sz="1200" i="0">
                <a:solidFill>
                  <a:srgbClr val="3A4049"/>
                </a:solidFill>
                <a:latin typeface="Segoe UI"/>
              </a:rPr>
              <a:t>Lint and refactor inline while writing queries, with on-save formatting.</a:t>
            </a:r>
          </a:p>
        </p:txBody>
      </p:sp>
      <p:sp>
        <p:nvSpPr>
          <p:cNvPr id="1049233" name="Rounded Rectangle 46"/>
          <p:cNvSpPr/>
          <p:nvPr/>
        </p:nvSpPr>
        <p:spPr>
          <a:xfrm>
            <a:off x="2788920" y="3511296"/>
            <a:ext cx="868680" cy="713232"/>
          </a:xfrm>
          <a:prstGeom prst="roundRect">
            <a:avLst>
              <a:gd name="adj" fmla="val 10000"/>
            </a:avLst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9234" name="Rectangle 47"/>
          <p:cNvSpPr/>
          <p:nvPr/>
        </p:nvSpPr>
        <p:spPr>
          <a:xfrm>
            <a:off x="2788920" y="3511296"/>
            <a:ext cx="63500" cy="713232"/>
          </a:xfrm>
          <a:prstGeom prst="rect"/>
          <a:solidFill>
            <a:srgbClr val="7A3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9235" name="TextBox 48"/>
          <p:cNvSpPr txBox="1"/>
          <p:nvPr/>
        </p:nvSpPr>
        <p:spPr>
          <a:xfrm>
            <a:off x="2788920" y="3511296"/>
            <a:ext cx="868680" cy="713232"/>
          </a:xfrm>
          <a:prstGeom prst="rect"/>
          <a:noFill/>
        </p:spPr>
        <p:txBody>
          <a:bodyPr anchor="ctr" bIns="0" lIns="0" rIns="0" tIns="0" wrap="square">
            <a:spAutoFit/>
          </a:bodyPr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1" sz="2000" i="0">
                <a:solidFill>
                  <a:srgbClr val="7A3E6B"/>
                </a:solidFill>
                <a:latin typeface="Georgia"/>
              </a:rPr>
              <a:t>03</a:t>
            </a:r>
          </a:p>
        </p:txBody>
      </p:sp>
      <p:sp>
        <p:nvSpPr>
          <p:cNvPr id="1049236" name="TextBox 49"/>
          <p:cNvSpPr txBox="1"/>
          <p:nvPr/>
        </p:nvSpPr>
        <p:spPr>
          <a:xfrm>
            <a:off x="3886200" y="3547872"/>
            <a:ext cx="7589520" cy="32004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1" sz="1500" i="0">
                <a:solidFill>
                  <a:srgbClr val="14181F"/>
                </a:solidFill>
                <a:latin typeface="Segoe UI Semibold"/>
              </a:rPr>
              <a:t>CI/CD Batch Linting</a:t>
            </a:r>
          </a:p>
        </p:txBody>
      </p:sp>
      <p:sp>
        <p:nvSpPr>
          <p:cNvPr id="1049237" name="TextBox 50"/>
          <p:cNvSpPr txBox="1"/>
          <p:nvPr/>
        </p:nvSpPr>
        <p:spPr>
          <a:xfrm>
            <a:off x="3886200" y="3877056"/>
            <a:ext cx="7589520" cy="36576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b="0" sz="1200" i="0">
                <a:solidFill>
                  <a:srgbClr val="3A4049"/>
                </a:solidFill>
                <a:latin typeface="Segoe UI"/>
              </a:rPr>
              <a:t>Scale to repository-wide scans inside pipelines and pre-merge checks.</a:t>
            </a:r>
          </a:p>
        </p:txBody>
      </p:sp>
      <p:sp>
        <p:nvSpPr>
          <p:cNvPr id="1049238" name="Rounded Rectangle 51"/>
          <p:cNvSpPr/>
          <p:nvPr/>
        </p:nvSpPr>
        <p:spPr>
          <a:xfrm>
            <a:off x="2788920" y="4352544"/>
            <a:ext cx="868680" cy="713232"/>
          </a:xfrm>
          <a:prstGeom prst="roundRect">
            <a:avLst>
              <a:gd name="adj" fmla="val 10000"/>
            </a:avLst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9239" name="Rectangle 52"/>
          <p:cNvSpPr/>
          <p:nvPr/>
        </p:nvSpPr>
        <p:spPr>
          <a:xfrm>
            <a:off x="2788920" y="4352544"/>
            <a:ext cx="63500" cy="713232"/>
          </a:xfrm>
          <a:prstGeom prst="rect"/>
          <a:solidFill>
            <a:srgbClr val="E25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9240" name="TextBox 53"/>
          <p:cNvSpPr txBox="1"/>
          <p:nvPr/>
        </p:nvSpPr>
        <p:spPr>
          <a:xfrm>
            <a:off x="2788920" y="4352544"/>
            <a:ext cx="868680" cy="713232"/>
          </a:xfrm>
          <a:prstGeom prst="rect"/>
          <a:noFill/>
        </p:spPr>
        <p:txBody>
          <a:bodyPr anchor="ctr" bIns="0" lIns="0" rIns="0" tIns="0" wrap="square">
            <a:spAutoFit/>
          </a:bodyPr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1" sz="2000" i="0">
                <a:solidFill>
                  <a:srgbClr val="E2563B"/>
                </a:solidFill>
                <a:latin typeface="Georgia"/>
              </a:rPr>
              <a:t>04</a:t>
            </a:r>
          </a:p>
        </p:txBody>
      </p:sp>
      <p:sp>
        <p:nvSpPr>
          <p:cNvPr id="1049241" name="TextBox 54"/>
          <p:cNvSpPr txBox="1"/>
          <p:nvPr/>
        </p:nvSpPr>
        <p:spPr>
          <a:xfrm>
            <a:off x="3886200" y="4389120"/>
            <a:ext cx="7589520" cy="32004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1" sz="1500" i="0">
                <a:solidFill>
                  <a:srgbClr val="14181F"/>
                </a:solidFill>
                <a:latin typeface="Segoe UI Semibold"/>
              </a:rPr>
              <a:t>Configurable Rule Sets</a:t>
            </a:r>
          </a:p>
        </p:txBody>
      </p:sp>
      <p:sp>
        <p:nvSpPr>
          <p:cNvPr id="1049242" name="TextBox 55"/>
          <p:cNvSpPr txBox="1"/>
          <p:nvPr/>
        </p:nvSpPr>
        <p:spPr>
          <a:xfrm>
            <a:off x="3886200" y="4718304"/>
            <a:ext cx="7589520" cy="36576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b="0" sz="1200" i="0">
                <a:solidFill>
                  <a:srgbClr val="3A4049"/>
                </a:solidFill>
                <a:latin typeface="Segoe UI"/>
              </a:rPr>
              <a:t>Team-specific style profiles, severity levels &amp; opt-in rules.</a:t>
            </a:r>
          </a:p>
        </p:txBody>
      </p:sp>
      <p:sp>
        <p:nvSpPr>
          <p:cNvPr id="1049243" name="Rounded Rectangle 56"/>
          <p:cNvSpPr/>
          <p:nvPr/>
        </p:nvSpPr>
        <p:spPr>
          <a:xfrm>
            <a:off x="2788920" y="5193792"/>
            <a:ext cx="868680" cy="713232"/>
          </a:xfrm>
          <a:prstGeom prst="roundRect">
            <a:avLst>
              <a:gd name="adj" fmla="val 10000"/>
            </a:avLst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9244" name="Rectangle 57"/>
          <p:cNvSpPr/>
          <p:nvPr/>
        </p:nvSpPr>
        <p:spPr>
          <a:xfrm>
            <a:off x="2788920" y="5193792"/>
            <a:ext cx="63500" cy="713232"/>
          </a:xfrm>
          <a:prstGeom prst="rect"/>
          <a:solidFill>
            <a:srgbClr val="C89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9245" name="TextBox 58"/>
          <p:cNvSpPr txBox="1"/>
          <p:nvPr/>
        </p:nvSpPr>
        <p:spPr>
          <a:xfrm>
            <a:off x="2788920" y="5193792"/>
            <a:ext cx="868680" cy="713232"/>
          </a:xfrm>
          <a:prstGeom prst="rect"/>
          <a:noFill/>
        </p:spPr>
        <p:txBody>
          <a:bodyPr anchor="ctr" bIns="0" lIns="0" rIns="0" tIns="0" wrap="square">
            <a:spAutoFit/>
          </a:bodyPr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1" sz="2000" i="0">
                <a:solidFill>
                  <a:srgbClr val="C8962E"/>
                </a:solidFill>
                <a:latin typeface="Georgia"/>
              </a:rPr>
              <a:t>05</a:t>
            </a:r>
          </a:p>
        </p:txBody>
      </p:sp>
      <p:sp>
        <p:nvSpPr>
          <p:cNvPr id="1049246" name="TextBox 59"/>
          <p:cNvSpPr txBox="1"/>
          <p:nvPr/>
        </p:nvSpPr>
        <p:spPr>
          <a:xfrm>
            <a:off x="3886200" y="5230368"/>
            <a:ext cx="7589520" cy="32004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1" sz="1500" i="0">
                <a:solidFill>
                  <a:srgbClr val="14181F"/>
                </a:solidFill>
                <a:latin typeface="Segoe UI Semibold"/>
              </a:rPr>
              <a:t>Performance Hints</a:t>
            </a:r>
          </a:p>
        </p:txBody>
      </p:sp>
      <p:sp>
        <p:nvSpPr>
          <p:cNvPr id="1049247" name="TextBox 60"/>
          <p:cNvSpPr txBox="1"/>
          <p:nvPr/>
        </p:nvSpPr>
        <p:spPr>
          <a:xfrm>
            <a:off x="3886200" y="5559552"/>
            <a:ext cx="7589520" cy="36576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b="0" sz="1200" i="0">
                <a:solidFill>
                  <a:srgbClr val="3A4049"/>
                </a:solidFill>
                <a:latin typeface="Segoe UI"/>
              </a:rPr>
              <a:t>Suggest indexes and rewrites flagged by the optimizer cost model.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9" name=""/>
        <p:cNvGrpSpPr/>
        <p:nvPr/>
      </p:nvGrpSpPr>
      <p:grpSpPr>
        <a:xfrm/>
      </p:grpSpPr>
      <p:sp>
        <p:nvSpPr>
          <p:cNvPr id="1049248" name="Rectangle 1"/>
          <p:cNvSpPr/>
          <p:nvPr/>
        </p:nvSpPr>
        <p:spPr>
          <a:xfrm>
            <a:off x="0" y="0"/>
            <a:ext cx="12191695" cy="6858000"/>
          </a:xfrm>
          <a:prstGeom prst="rect"/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9249" name="Rectangle 2"/>
          <p:cNvSpPr/>
          <p:nvPr/>
        </p:nvSpPr>
        <p:spPr>
          <a:xfrm>
            <a:off x="0" y="0"/>
            <a:ext cx="320040" cy="6858000"/>
          </a:xfrm>
          <a:prstGeom prst="rect"/>
          <a:solidFill>
            <a:srgbClr val="108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9250" name="TextBox 3"/>
          <p:cNvSpPr txBox="1"/>
          <p:nvPr/>
        </p:nvSpPr>
        <p:spPr>
          <a:xfrm>
            <a:off x="822960" y="640080"/>
            <a:ext cx="10058400" cy="27432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1" sz="1200" i="0">
                <a:solidFill>
                  <a:srgbClr val="108A5C"/>
                </a:solidFill>
                <a:latin typeface="Segoe UI Semibold"/>
              </a:rPr>
              <a:t>SUMMARY  ·  DADI INSTITUTE OF ENGINEERING AND TECHNOLOGY</a:t>
            </a:r>
          </a:p>
        </p:txBody>
      </p:sp>
      <p:sp>
        <p:nvSpPr>
          <p:cNvPr id="1049251" name="TextBox 4"/>
          <p:cNvSpPr txBox="1"/>
          <p:nvPr/>
        </p:nvSpPr>
        <p:spPr>
          <a:xfrm>
            <a:off x="777240" y="1143000"/>
            <a:ext cx="10515600" cy="82296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1" sz="4200" i="0">
                <a:solidFill>
                  <a:srgbClr val="F4F1EA"/>
                </a:solidFill>
                <a:latin typeface="Georgia"/>
              </a:rPr>
              <a:t>Conclusion</a:t>
            </a:r>
          </a:p>
        </p:txBody>
      </p:sp>
      <p:sp>
        <p:nvSpPr>
          <p:cNvPr id="1049252" name="Rectangle 5"/>
          <p:cNvSpPr/>
          <p:nvPr/>
        </p:nvSpPr>
        <p:spPr>
          <a:xfrm>
            <a:off x="822960" y="1965960"/>
            <a:ext cx="731520" cy="38100"/>
          </a:xfrm>
          <a:prstGeom prst="rect"/>
          <a:solidFill>
            <a:srgbClr val="108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9253" name="TextBox 6"/>
          <p:cNvSpPr txBox="1"/>
          <p:nvPr/>
        </p:nvSpPr>
        <p:spPr>
          <a:xfrm>
            <a:off x="822960" y="2286000"/>
            <a:ext cx="10332720" cy="118872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b="0" sz="2200" i="0">
                <a:solidFill>
                  <a:srgbClr val="F4F1EA"/>
                </a:solidFill>
                <a:latin typeface="Georgia"/>
              </a:rPr>
              <a:t>The SQL Query Linter &amp; Style Fixer bridges the gap between </a:t>
            </a:r>
            <a:r>
              <a:rPr b="1" sz="2200" i="0">
                <a:solidFill>
                  <a:srgbClr val="108A5C"/>
                </a:solidFill>
                <a:latin typeface="Georgia"/>
              </a:rPr>
              <a:t>rule-based cleaners</a:t>
            </a:r>
            <a:r>
              <a:rPr b="0" sz="2200" i="0">
                <a:solidFill>
                  <a:srgbClr val="F4F1EA"/>
                </a:solidFill>
                <a:latin typeface="Georgia"/>
              </a:rPr>
              <a:t> and </a:t>
            </a:r>
            <a:r>
              <a:rPr b="1" sz="2200" i="0">
                <a:solidFill>
                  <a:srgbClr val="108A5C"/>
                </a:solidFill>
                <a:latin typeface="Georgia"/>
              </a:rPr>
              <a:t>AI-driven refactoring</a:t>
            </a:r>
            <a:r>
              <a:rPr b="0" sz="2200" i="0">
                <a:solidFill>
                  <a:srgbClr val="F4F1EA"/>
                </a:solidFill>
                <a:latin typeface="Georgia"/>
              </a:rPr>
              <a:t> — delivering clean, optimized and verifiably correct SQL.</a:t>
            </a:r>
          </a:p>
        </p:txBody>
      </p:sp>
      <p:sp>
        <p:nvSpPr>
          <p:cNvPr id="1049254" name="TextBox 7"/>
          <p:cNvSpPr txBox="1"/>
          <p:nvPr/>
        </p:nvSpPr>
        <p:spPr>
          <a:xfrm>
            <a:off x="822960" y="4206240"/>
            <a:ext cx="365760" cy="36576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1" sz="2000" i="0">
                <a:solidFill>
                  <a:srgbClr val="108A5C"/>
                </a:solidFill>
                <a:latin typeface="Segoe UI Semibold"/>
              </a:rPr>
              <a:t>✓</a:t>
            </a:r>
          </a:p>
        </p:txBody>
      </p:sp>
      <p:sp>
        <p:nvSpPr>
          <p:cNvPr id="1049255" name="TextBox 8"/>
          <p:cNvSpPr txBox="1"/>
          <p:nvPr/>
        </p:nvSpPr>
        <p:spPr>
          <a:xfrm>
            <a:off x="1234440" y="4224528"/>
            <a:ext cx="2606040" cy="36576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1" sz="1450" i="0">
                <a:solidFill>
                  <a:srgbClr val="F4F1EA"/>
                </a:solidFill>
                <a:latin typeface="Segoe UI Semibold"/>
              </a:rPr>
              <a:t>Faster workflow</a:t>
            </a:r>
          </a:p>
        </p:txBody>
      </p:sp>
      <p:sp>
        <p:nvSpPr>
          <p:cNvPr id="1049256" name="TextBox 9"/>
          <p:cNvSpPr txBox="1"/>
          <p:nvPr/>
        </p:nvSpPr>
        <p:spPr>
          <a:xfrm>
            <a:off x="1234440" y="4572000"/>
            <a:ext cx="2606040" cy="82296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b="0" sz="1150" i="0">
                <a:solidFill>
                  <a:srgbClr val="B7BBC2"/>
                </a:solidFill>
                <a:latin typeface="Segoe UI"/>
              </a:rPr>
              <a:t>Speed &amp; audit readiness for legacy SQL.</a:t>
            </a:r>
          </a:p>
        </p:txBody>
      </p:sp>
      <p:sp>
        <p:nvSpPr>
          <p:cNvPr id="1049257" name="TextBox 10"/>
          <p:cNvSpPr txBox="1"/>
          <p:nvPr/>
        </p:nvSpPr>
        <p:spPr>
          <a:xfrm>
            <a:off x="3566160" y="4206240"/>
            <a:ext cx="365760" cy="36576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1" sz="2000" i="0">
                <a:solidFill>
                  <a:srgbClr val="E2563B"/>
                </a:solidFill>
                <a:latin typeface="Segoe UI Semibold"/>
              </a:rPr>
              <a:t>✓</a:t>
            </a:r>
          </a:p>
        </p:txBody>
      </p:sp>
      <p:sp>
        <p:nvSpPr>
          <p:cNvPr id="1049258" name="TextBox 11"/>
          <p:cNvSpPr txBox="1"/>
          <p:nvPr/>
        </p:nvSpPr>
        <p:spPr>
          <a:xfrm>
            <a:off x="3977640" y="4224528"/>
            <a:ext cx="2606040" cy="36576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1" sz="1450" i="0">
                <a:solidFill>
                  <a:srgbClr val="F4F1EA"/>
                </a:solidFill>
                <a:latin typeface="Segoe UI Semibold"/>
              </a:rPr>
              <a:t>Guaranteed integrity</a:t>
            </a:r>
          </a:p>
        </p:txBody>
      </p:sp>
      <p:sp>
        <p:nvSpPr>
          <p:cNvPr id="1049259" name="TextBox 12"/>
          <p:cNvSpPr txBox="1"/>
          <p:nvPr/>
        </p:nvSpPr>
        <p:spPr>
          <a:xfrm>
            <a:off x="3977640" y="4572000"/>
            <a:ext cx="2606040" cy="82296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b="0" sz="1150" i="0">
                <a:solidFill>
                  <a:srgbClr val="B7BBC2"/>
                </a:solidFill>
                <a:latin typeface="Segoe UI"/>
              </a:rPr>
              <a:t>AST validation loop ensures compilation.</a:t>
            </a:r>
          </a:p>
        </p:txBody>
      </p:sp>
      <p:sp>
        <p:nvSpPr>
          <p:cNvPr id="1049260" name="TextBox 13"/>
          <p:cNvSpPr txBox="1"/>
          <p:nvPr/>
        </p:nvSpPr>
        <p:spPr>
          <a:xfrm>
            <a:off x="6309360" y="4206240"/>
            <a:ext cx="365760" cy="36576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1" sz="2000" i="0">
                <a:solidFill>
                  <a:srgbClr val="C8962E"/>
                </a:solidFill>
                <a:latin typeface="Segoe UI Semibold"/>
              </a:rPr>
              <a:t>✓</a:t>
            </a:r>
          </a:p>
        </p:txBody>
      </p:sp>
      <p:sp>
        <p:nvSpPr>
          <p:cNvPr id="1049261" name="TextBox 14"/>
          <p:cNvSpPr txBox="1"/>
          <p:nvPr/>
        </p:nvSpPr>
        <p:spPr>
          <a:xfrm>
            <a:off x="6720840" y="4224528"/>
            <a:ext cx="2606040" cy="36576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1" sz="1450" i="0">
                <a:solidFill>
                  <a:srgbClr val="F4F1EA"/>
                </a:solidFill>
                <a:latin typeface="Segoe UI Semibold"/>
              </a:rPr>
              <a:t>Lower complexity</a:t>
            </a:r>
          </a:p>
        </p:txBody>
      </p:sp>
      <p:sp>
        <p:nvSpPr>
          <p:cNvPr id="1049262" name="TextBox 15"/>
          <p:cNvSpPr txBox="1"/>
          <p:nvPr/>
        </p:nvSpPr>
        <p:spPr>
          <a:xfrm>
            <a:off x="6720840" y="4572000"/>
            <a:ext cx="2606040" cy="82296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b="0" sz="1150" i="0">
                <a:solidFill>
                  <a:srgbClr val="B7BBC2"/>
                </a:solidFill>
                <a:latin typeface="Segoe UI"/>
              </a:rPr>
              <a:t>Subqueries→CTEs, implicit→explicit joins.</a:t>
            </a:r>
          </a:p>
        </p:txBody>
      </p:sp>
      <p:sp>
        <p:nvSpPr>
          <p:cNvPr id="1049263" name="TextBox 16"/>
          <p:cNvSpPr txBox="1"/>
          <p:nvPr/>
        </p:nvSpPr>
        <p:spPr>
          <a:xfrm>
            <a:off x="9052560" y="4206240"/>
            <a:ext cx="365760" cy="36576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1" sz="2000" i="0">
                <a:solidFill>
                  <a:srgbClr val="2D5D8A"/>
                </a:solidFill>
                <a:latin typeface="Segoe UI Semibold"/>
              </a:rPr>
              <a:t>✓</a:t>
            </a:r>
          </a:p>
        </p:txBody>
      </p:sp>
      <p:sp>
        <p:nvSpPr>
          <p:cNvPr id="1049264" name="TextBox 17"/>
          <p:cNvSpPr txBox="1"/>
          <p:nvPr/>
        </p:nvSpPr>
        <p:spPr>
          <a:xfrm>
            <a:off x="9464040" y="4224528"/>
            <a:ext cx="2606040" cy="36576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1" sz="1450" i="0">
                <a:solidFill>
                  <a:srgbClr val="F4F1EA"/>
                </a:solidFill>
                <a:latin typeface="Segoe UI Semibold"/>
              </a:rPr>
              <a:t>Flexible integration</a:t>
            </a:r>
          </a:p>
        </p:txBody>
      </p:sp>
      <p:sp>
        <p:nvSpPr>
          <p:cNvPr id="1049265" name="TextBox 18"/>
          <p:cNvSpPr txBox="1"/>
          <p:nvPr/>
        </p:nvSpPr>
        <p:spPr>
          <a:xfrm>
            <a:off x="9464040" y="4572000"/>
            <a:ext cx="2606040" cy="82296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b="0" sz="1150" i="0">
                <a:solidFill>
                  <a:srgbClr val="B7BBC2"/>
                </a:solidFill>
                <a:latin typeface="Segoe UI"/>
              </a:rPr>
              <a:t>Cloud dashboard + automated CLI.</a:t>
            </a:r>
          </a:p>
        </p:txBody>
      </p:sp>
      <p:sp>
        <p:nvSpPr>
          <p:cNvPr id="1049266" name="Rectangle 19"/>
          <p:cNvSpPr/>
          <p:nvPr/>
        </p:nvSpPr>
        <p:spPr>
          <a:xfrm>
            <a:off x="822960" y="5760720"/>
            <a:ext cx="10515600" cy="12700"/>
          </a:xfrm>
          <a:prstGeom prst="rect"/>
          <a:solidFill>
            <a:srgbClr val="333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9267" name="TextBox 20"/>
          <p:cNvSpPr txBox="1"/>
          <p:nvPr/>
        </p:nvSpPr>
        <p:spPr>
          <a:xfrm>
            <a:off x="822960" y="5989320"/>
            <a:ext cx="10058400" cy="36576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1" sz="1200" i="0">
                <a:solidFill>
                  <a:srgbClr val="108A5C"/>
                </a:solidFill>
                <a:latin typeface="Segoe UI Semibold"/>
              </a:rPr>
              <a:t>Team 20</a:t>
            </a:r>
            <a:r>
              <a:rPr b="0" sz="1200" i="0">
                <a:solidFill>
                  <a:srgbClr val="848074"/>
                </a:solidFill>
                <a:latin typeface="Segoe UI"/>
              </a:rPr>
              <a:t>   ·   Penta Satwika · Bharath Pyla · Aythi Eswar · Dadi James</a:t>
            </a:r>
          </a:p>
        </p:txBody>
      </p:sp>
      <p:sp>
        <p:nvSpPr>
          <p:cNvPr id="1049268" name="TextBox 21"/>
          <p:cNvSpPr txBox="1"/>
          <p:nvPr/>
        </p:nvSpPr>
        <p:spPr>
          <a:xfrm>
            <a:off x="822960" y="6309360"/>
            <a:ext cx="10058400" cy="36576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1" sz="1600" i="1">
                <a:solidFill>
                  <a:srgbClr val="F4F1EA"/>
                </a:solidFill>
                <a:latin typeface="Georgia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ppt/theme/theme2.xml><?xml version="1.0" encoding="utf-8"?>
<a:theme xmlns:a="http://schemas.openxmlformats.org/drawingml/2006/main" name="Office 主题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Macintosh PowerPoint</Application>
  <ScaleCrop>0</ScaleCrop>
  <LinksUpToDate>0</LinksUpToDate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Infinix X6731</dc:creator>
  <cp:lastModifiedBy>Steve Canny</cp:lastModifiedBy>
  <dcterms:created xsi:type="dcterms:W3CDTF">2013-01-26T22:14:16Z</dcterms:created>
  <dcterms:modified xsi:type="dcterms:W3CDTF">2026-06-17T05:46:58Z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2734dedf4a05447fac866ed421f006fc_23</vt:lpwstr>
  </property>
</Properties>
</file>